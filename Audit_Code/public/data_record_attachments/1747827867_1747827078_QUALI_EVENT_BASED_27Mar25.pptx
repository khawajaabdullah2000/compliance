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56" r:id="rId4"/>
    <p:sldId id="263" r:id="rId5"/>
    <p:sldId id="280" r:id="rId6"/>
    <p:sldId id="281" r:id="rId7"/>
    <p:sldId id="264" r:id="rId8"/>
    <p:sldId id="265" r:id="rId9"/>
    <p:sldId id="277" r:id="rId10"/>
    <p:sldId id="275" r:id="rId11"/>
    <p:sldId id="278" r:id="rId12"/>
    <p:sldId id="276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3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35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2981-5DAF-C878-5D7D-DE4AB8F93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9FB68-D5F0-74A4-B463-B497DC45B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5F764-6DB0-CB4C-53A1-B8D4A918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347D9-C147-DBE8-29AF-D52BE861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0699D-CBB6-666A-6970-6A6950F4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7102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52B9-7D22-D8C4-C0FF-B3F77967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32DB-06DE-84A1-D67D-812BE8285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FF389-86F3-3ABB-D288-C57BF680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D0F5A-F47C-9354-51FF-10D92816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233C1-1751-6342-60BD-A176435D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6436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B324-9473-1FAC-2705-941398DA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CC3FD-7276-4D57-5CB6-26557E162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3552E-2BC4-88EE-394C-A38433F1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DEDDA-82C4-F2B7-191C-37E6DF8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496D1-E9F1-A73D-CA95-D7ADFAC2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387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C9D7-77F0-D7E5-C0C8-C6305DFD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8DF49-2A72-2863-E205-225915EB1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812AB-F256-124F-E270-D55F72110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F5E6B-5FB8-63D8-AF43-3004FAAF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6AF8E-07F6-3AD0-9F14-A75902D2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0C4DB-F42F-83DE-3B36-0AB1C4B5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2255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DD93-24B5-3826-1366-0C3AD3D9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75075-DB0F-BD27-4C19-2962606A6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45F42-4D69-06A5-A491-0178C04C8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B49E70-02FC-D443-9291-9C911943B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FEE4F-9D6C-01A9-05EF-452A6AFD3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A8CC7-0030-66A0-7CCB-BC2C82DE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EC378-8FAB-89C9-DE91-43B32ADC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260EF-DF73-FEE1-9598-980AAB34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6550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E4F9-D043-9FCD-441F-2C3F3E31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BF712-B4ED-1516-0574-AC9BF892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4BC26-7CC3-683F-ADC1-9341A47B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D81BF-AD1E-9991-3AF7-AA78BA9D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25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66E3E-D688-28D8-A2F7-1BDB99C9A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3BB35-49E3-E4E2-56D2-0477ED11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5C19B-A41E-8404-5DAD-F7A4A461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8472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FAA6-77BB-B35F-27A7-4EC67A44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2335-3A0E-DFB8-F20F-DE2B17273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F8E2B-943D-C770-01EA-806126A53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30FA2-1CAB-3E6B-6EC3-1E9BA1CD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6CA07-B632-354C-87B3-B5AE00CC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9EA5F-6384-E3C2-545F-B075C86C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281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F6BB-9309-597A-50FA-3DCC31E4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26DE5-EA02-52DD-8D2E-55F1D8254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DEE95-DA61-A41C-2780-4E2FA0376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DE7F0-019C-97B9-95AB-0E2A08BB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1B735-018C-B370-0612-4677D2B5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14931-47D1-597B-EC64-CD9ACEB2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8091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D6A6-B94F-F9C8-F476-65266B9E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26A62-CB9A-9DBE-AB15-68704CD86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1E803-2A77-F2F7-7533-8E60316B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05F39-F9E2-C183-23F3-B3149F00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445C3-E7E8-C3AF-322C-B765CC92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627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DCD61A-6624-4DAF-F596-BA338325E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5E91F-1224-4D7A-54B3-5AA5F39A6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CF6C-A8EA-0272-F3FE-50BB0EAF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EEAE-27CB-0C9B-694C-CE37D550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2DFCB-BDB8-EF03-8594-FAF60AAA4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253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92A07-0C7E-332A-31DE-46AAB69AA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36006-2F7A-3027-7770-0DA533C1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E44C-6228-99D4-8B0E-160D3E150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19E69-4493-40A1-B293-E673702F7D36}" type="datetimeFigureOut">
              <a:rPr lang="en-AE" smtClean="0"/>
              <a:t>27/03/2025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EB70-86AE-3B05-2008-C0F759D7D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AC0A0-EE5D-0AF4-AB00-5E339D273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7805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3452-ED23-4A39-9EBA-3F84143C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94301A-482F-549B-616C-2864FE751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127"/>
            <a:ext cx="12192000" cy="43979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9F781F-3566-5827-1D6C-70FE89E46D92}"/>
              </a:ext>
            </a:extLst>
          </p:cNvPr>
          <p:cNvCxnSpPr>
            <a:cxnSpLocks/>
          </p:cNvCxnSpPr>
          <p:nvPr/>
        </p:nvCxnSpPr>
        <p:spPr>
          <a:xfrm>
            <a:off x="9638270" y="2619632"/>
            <a:ext cx="988541" cy="308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9ECD1A5-37D7-A9D4-403E-66741AB77238}"/>
              </a:ext>
            </a:extLst>
          </p:cNvPr>
          <p:cNvSpPr txBox="1"/>
          <p:nvPr/>
        </p:nvSpPr>
        <p:spPr>
          <a:xfrm>
            <a:off x="7080421" y="5705543"/>
            <a:ext cx="493346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Enter, upload or view services and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Conduct compliance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Assess and treat information security risks</a:t>
            </a:r>
            <a:endParaRPr lang="en-A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5ADCE-8523-1AD1-BE5D-5C9C6E418754}"/>
              </a:ext>
            </a:extLst>
          </p:cNvPr>
          <p:cNvSpPr txBox="1"/>
          <p:nvPr/>
        </p:nvSpPr>
        <p:spPr>
          <a:xfrm>
            <a:off x="7080421" y="5336211"/>
            <a:ext cx="2505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Change button text to:</a:t>
            </a:r>
            <a:endParaRPr lang="en-AE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A7AA334-C0C2-7BE1-5FF8-81E07FEB0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252221"/>
              </p:ext>
            </p:extLst>
          </p:nvPr>
        </p:nvGraphicFramePr>
        <p:xfrm>
          <a:off x="282008" y="169630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Qualitative-Event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577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3EDB-D416-B7F0-F18B-D207EF1E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87C40FE8-00BA-557B-9171-4A2F80A6C7F9}"/>
              </a:ext>
            </a:extLst>
          </p:cNvPr>
          <p:cNvSpPr txBox="1"/>
          <p:nvPr/>
        </p:nvSpPr>
        <p:spPr>
          <a:xfrm>
            <a:off x="10836860" y="6474419"/>
            <a:ext cx="11238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go page 3</a:t>
            </a:r>
            <a:endParaRPr lang="en-AE" dirty="0">
              <a:highlight>
                <a:srgbClr val="FFFF00"/>
              </a:highligh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8B22B3-6832-2D65-9CE3-89B39F665EA7}"/>
              </a:ext>
            </a:extLst>
          </p:cNvPr>
          <p:cNvSpPr/>
          <p:nvPr/>
        </p:nvSpPr>
        <p:spPr>
          <a:xfrm>
            <a:off x="7962399" y="6392148"/>
            <a:ext cx="2899175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Initiate Risk Assessment</a:t>
            </a:r>
            <a:endParaRPr lang="en-A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6C275C-17D4-0F8B-8340-231E1A602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3" y="3348646"/>
            <a:ext cx="11537092" cy="29930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B96F9B-A7DD-999A-90B2-BAD51D0C9814}"/>
              </a:ext>
            </a:extLst>
          </p:cNvPr>
          <p:cNvSpPr/>
          <p:nvPr/>
        </p:nvSpPr>
        <p:spPr>
          <a:xfrm>
            <a:off x="7261641" y="3786724"/>
            <a:ext cx="1754659" cy="255493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FB7AB0-D636-3A70-C9A0-32C2FEBFA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05" y="91934"/>
            <a:ext cx="11909990" cy="9050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92551A-1422-EDB1-333E-E65C8EDBD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313" y="1610907"/>
            <a:ext cx="3029373" cy="4096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B1C471D-7A1A-5C1F-7582-96D061AE1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20539"/>
            <a:ext cx="12192000" cy="132810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F9DC04C-64DA-43DE-CCEB-3BA74D9CD66E}"/>
              </a:ext>
            </a:extLst>
          </p:cNvPr>
          <p:cNvCxnSpPr>
            <a:cxnSpLocks/>
          </p:cNvCxnSpPr>
          <p:nvPr/>
        </p:nvCxnSpPr>
        <p:spPr>
          <a:xfrm flipH="1">
            <a:off x="7610686" y="4160446"/>
            <a:ext cx="1029974" cy="2042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09A295B-D394-FC82-6BA0-2F0CE0E02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645985"/>
              </p:ext>
            </p:extLst>
          </p:nvPr>
        </p:nvGraphicFramePr>
        <p:xfrm>
          <a:off x="133724" y="979607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Qualitative-Event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6E202D-DB77-2B74-9379-DB41C5998A78}"/>
              </a:ext>
            </a:extLst>
          </p:cNvPr>
          <p:cNvCxnSpPr>
            <a:cxnSpLocks/>
          </p:cNvCxnSpPr>
          <p:nvPr/>
        </p:nvCxnSpPr>
        <p:spPr>
          <a:xfrm>
            <a:off x="7610686" y="4160446"/>
            <a:ext cx="1224395" cy="1955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50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74B3D1A-DA0F-B5D6-F196-D8AEDCD2AB2E}"/>
              </a:ext>
            </a:extLst>
          </p:cNvPr>
          <p:cNvSpPr txBox="1"/>
          <p:nvPr/>
        </p:nvSpPr>
        <p:spPr>
          <a:xfrm>
            <a:off x="133724" y="1971414"/>
            <a:ext cx="11491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Identify parties and the adverse impacts they can have on the organization’s information assets</a:t>
            </a:r>
            <a:endParaRPr lang="en-AE" sz="2000" b="1" dirty="0">
              <a:solidFill>
                <a:srgbClr val="0070C0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8A1DA2E-6F74-4B64-126D-B6039BD87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125347"/>
              </p:ext>
            </p:extLst>
          </p:nvPr>
        </p:nvGraphicFramePr>
        <p:xfrm>
          <a:off x="67274" y="2811024"/>
          <a:ext cx="1137574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957">
                  <a:extLst>
                    <a:ext uri="{9D8B030D-6E8A-4147-A177-3AD203B41FA5}">
                      <a16:colId xmlns:a16="http://schemas.microsoft.com/office/drawing/2014/main" val="891679822"/>
                    </a:ext>
                  </a:extLst>
                </a:gridCol>
                <a:gridCol w="1895957">
                  <a:extLst>
                    <a:ext uri="{9D8B030D-6E8A-4147-A177-3AD203B41FA5}">
                      <a16:colId xmlns:a16="http://schemas.microsoft.com/office/drawing/2014/main" val="3396720704"/>
                    </a:ext>
                  </a:extLst>
                </a:gridCol>
                <a:gridCol w="1895957">
                  <a:extLst>
                    <a:ext uri="{9D8B030D-6E8A-4147-A177-3AD203B41FA5}">
                      <a16:colId xmlns:a16="http://schemas.microsoft.com/office/drawing/2014/main" val="3183163734"/>
                    </a:ext>
                  </a:extLst>
                </a:gridCol>
                <a:gridCol w="1895957">
                  <a:extLst>
                    <a:ext uri="{9D8B030D-6E8A-4147-A177-3AD203B41FA5}">
                      <a16:colId xmlns:a16="http://schemas.microsoft.com/office/drawing/2014/main" val="1528272904"/>
                    </a:ext>
                  </a:extLst>
                </a:gridCol>
                <a:gridCol w="1895957">
                  <a:extLst>
                    <a:ext uri="{9D8B030D-6E8A-4147-A177-3AD203B41FA5}">
                      <a16:colId xmlns:a16="http://schemas.microsoft.com/office/drawing/2014/main" val="3414648211"/>
                    </a:ext>
                  </a:extLst>
                </a:gridCol>
                <a:gridCol w="1895957">
                  <a:extLst>
                    <a:ext uri="{9D8B030D-6E8A-4147-A177-3AD203B41FA5}">
                      <a16:colId xmlns:a16="http://schemas.microsoft.com/office/drawing/2014/main" val="223406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Party Name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Party Type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Party Category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Confidentiality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Integrity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Availability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6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59785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4EC3D0D-EDCA-6901-544A-B3484C74B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588276"/>
              </p:ext>
            </p:extLst>
          </p:nvPr>
        </p:nvGraphicFramePr>
        <p:xfrm>
          <a:off x="3834547" y="3476056"/>
          <a:ext cx="1909366" cy="3060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9366">
                  <a:extLst>
                    <a:ext uri="{9D8B030D-6E8A-4147-A177-3AD203B41FA5}">
                      <a16:colId xmlns:a16="http://schemas.microsoft.com/office/drawing/2014/main" val="1417428632"/>
                    </a:ext>
                  </a:extLst>
                </a:gridCol>
              </a:tblGrid>
              <a:tr h="423675">
                <a:tc>
                  <a:txBody>
                    <a:bodyPr/>
                    <a:lstStyle/>
                    <a:p>
                      <a:r>
                        <a:rPr lang="en-US" sz="1400" b="1" dirty="0"/>
                        <a:t>Customer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548575"/>
                  </a:ext>
                </a:extLst>
              </a:tr>
              <a:tr h="423675">
                <a:tc>
                  <a:txBody>
                    <a:bodyPr/>
                    <a:lstStyle/>
                    <a:p>
                      <a:r>
                        <a:rPr lang="en-US" sz="1400" b="1" dirty="0"/>
                        <a:t>Partner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78807"/>
                  </a:ext>
                </a:extLst>
              </a:tr>
              <a:tr h="423675">
                <a:tc>
                  <a:txBody>
                    <a:bodyPr/>
                    <a:lstStyle/>
                    <a:p>
                      <a:r>
                        <a:rPr lang="en-US" sz="1400" b="1" dirty="0"/>
                        <a:t>Contractor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487485"/>
                  </a:ext>
                </a:extLst>
              </a:tr>
              <a:tr h="423675">
                <a:tc>
                  <a:txBody>
                    <a:bodyPr/>
                    <a:lstStyle/>
                    <a:p>
                      <a:r>
                        <a:rPr lang="en-US" sz="1400" b="1" dirty="0"/>
                        <a:t>IT Service Provider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315201"/>
                  </a:ext>
                </a:extLst>
              </a:tr>
              <a:tr h="423675">
                <a:tc>
                  <a:txBody>
                    <a:bodyPr/>
                    <a:lstStyle/>
                    <a:p>
                      <a:pPr rtl="0"/>
                      <a:r>
                        <a:rPr lang="en-US" sz="1400" b="1" dirty="0"/>
                        <a:t>Business Service Provider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958005"/>
                  </a:ext>
                </a:extLst>
              </a:tr>
              <a:tr h="423675">
                <a:tc>
                  <a:txBody>
                    <a:bodyPr/>
                    <a:lstStyle/>
                    <a:p>
                      <a:r>
                        <a:rPr lang="en-US" sz="1400" b="1" dirty="0"/>
                        <a:t>End User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361206"/>
                  </a:ext>
                </a:extLst>
              </a:tr>
              <a:tr h="423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Other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104127"/>
                  </a:ext>
                </a:extLst>
              </a:tr>
            </a:tbl>
          </a:graphicData>
        </a:graphic>
      </p:graphicFrame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8808F4BC-BEAF-5448-689E-6214A6FA08C3}"/>
              </a:ext>
            </a:extLst>
          </p:cNvPr>
          <p:cNvSpPr/>
          <p:nvPr/>
        </p:nvSpPr>
        <p:spPr>
          <a:xfrm rot="10800000">
            <a:off x="3435174" y="3525486"/>
            <a:ext cx="383060" cy="271848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26" name="Picture 2" descr="Form - Free interface icons">
            <a:extLst>
              <a:ext uri="{FF2B5EF4-FFF2-40B4-BE49-F238E27FC236}">
                <a16:creationId xmlns:a16="http://schemas.microsoft.com/office/drawing/2014/main" id="{5A7EF579-E08B-1212-7643-800DE9B79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5599" y="3449572"/>
            <a:ext cx="654908" cy="65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Form - Free interface icons">
            <a:extLst>
              <a:ext uri="{FF2B5EF4-FFF2-40B4-BE49-F238E27FC236}">
                <a16:creationId xmlns:a16="http://schemas.microsoft.com/office/drawing/2014/main" id="{6332D5FD-8DB8-F6FF-92C7-8A6818AD7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724" y="3494490"/>
            <a:ext cx="654908" cy="65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Form - Free interface icons">
            <a:extLst>
              <a:ext uri="{FF2B5EF4-FFF2-40B4-BE49-F238E27FC236}">
                <a16:creationId xmlns:a16="http://schemas.microsoft.com/office/drawing/2014/main" id="{2219F8F3-851C-8E6B-1BAA-736D3DD6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5242" y="3417767"/>
            <a:ext cx="654908" cy="65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17FF153-F3FE-C9B0-E3DD-CD5658198A3B}"/>
              </a:ext>
            </a:extLst>
          </p:cNvPr>
          <p:cNvSpPr/>
          <p:nvPr/>
        </p:nvSpPr>
        <p:spPr>
          <a:xfrm>
            <a:off x="5734190" y="2277798"/>
            <a:ext cx="5708824" cy="4627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Strategic scenarios of adverse impacts</a:t>
            </a:r>
          </a:p>
          <a:p>
            <a:pPr algn="ctr"/>
            <a:r>
              <a:rPr lang="en-US" b="1" dirty="0"/>
              <a:t>(Optional)</a:t>
            </a:r>
            <a:endParaRPr lang="en-AE" b="1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E732EB5-C622-F346-B744-FC6875E05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196143"/>
              </p:ext>
            </p:extLst>
          </p:nvPr>
        </p:nvGraphicFramePr>
        <p:xfrm>
          <a:off x="1976640" y="3476056"/>
          <a:ext cx="1857907" cy="847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7907">
                  <a:extLst>
                    <a:ext uri="{9D8B030D-6E8A-4147-A177-3AD203B41FA5}">
                      <a16:colId xmlns:a16="http://schemas.microsoft.com/office/drawing/2014/main" val="1417428632"/>
                    </a:ext>
                  </a:extLst>
                </a:gridCol>
              </a:tblGrid>
              <a:tr h="423675">
                <a:tc>
                  <a:txBody>
                    <a:bodyPr/>
                    <a:lstStyle/>
                    <a:p>
                      <a:r>
                        <a:rPr lang="en-US" sz="1400" b="1" dirty="0"/>
                        <a:t>External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548575"/>
                  </a:ext>
                </a:extLst>
              </a:tr>
              <a:tr h="423675">
                <a:tc>
                  <a:txBody>
                    <a:bodyPr/>
                    <a:lstStyle/>
                    <a:p>
                      <a:r>
                        <a:rPr lang="en-US" sz="1400" b="1" dirty="0"/>
                        <a:t>Internal</a:t>
                      </a:r>
                      <a:endParaRPr lang="en-AE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78807"/>
                  </a:ext>
                </a:extLst>
              </a:tr>
            </a:tbl>
          </a:graphicData>
        </a:graphic>
      </p:graphicFrame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D20E581B-DE31-17D5-461A-1C48DE9C5234}"/>
              </a:ext>
            </a:extLst>
          </p:cNvPr>
          <p:cNvSpPr/>
          <p:nvPr/>
        </p:nvSpPr>
        <p:spPr>
          <a:xfrm rot="10800000">
            <a:off x="5351130" y="3521120"/>
            <a:ext cx="383060" cy="271848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BFCADB-1BB5-C66F-267E-28B5F4A5D910}"/>
              </a:ext>
            </a:extLst>
          </p:cNvPr>
          <p:cNvSpPr/>
          <p:nvPr/>
        </p:nvSpPr>
        <p:spPr>
          <a:xfrm>
            <a:off x="121837" y="5501655"/>
            <a:ext cx="1383956" cy="543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AE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8453D-2CCB-E301-7987-219D2F351673}"/>
              </a:ext>
            </a:extLst>
          </p:cNvPr>
          <p:cNvSpPr/>
          <p:nvPr/>
        </p:nvSpPr>
        <p:spPr>
          <a:xfrm>
            <a:off x="82201" y="6234941"/>
            <a:ext cx="1383956" cy="543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1429FB-8F28-627F-F70E-64CEF261E633}"/>
              </a:ext>
            </a:extLst>
          </p:cNvPr>
          <p:cNvSpPr/>
          <p:nvPr/>
        </p:nvSpPr>
        <p:spPr>
          <a:xfrm>
            <a:off x="1606201" y="6234941"/>
            <a:ext cx="1383956" cy="543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&amp; go to next step</a:t>
            </a:r>
            <a:endParaRPr lang="en-AE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460C3F-4EC1-91B1-F759-1C95385E94B4}"/>
              </a:ext>
            </a:extLst>
          </p:cNvPr>
          <p:cNvCxnSpPr/>
          <p:nvPr/>
        </p:nvCxnSpPr>
        <p:spPr>
          <a:xfrm>
            <a:off x="6909842" y="4149398"/>
            <a:ext cx="179790" cy="28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9CCDAA-94C7-61E3-5EF3-BEC30CFE8C41}"/>
              </a:ext>
            </a:extLst>
          </p:cNvPr>
          <p:cNvCxnSpPr/>
          <p:nvPr/>
        </p:nvCxnSpPr>
        <p:spPr>
          <a:xfrm>
            <a:off x="8583158" y="4174949"/>
            <a:ext cx="179790" cy="28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D3CD43-A95F-7DFB-4DF6-20B6C4C3B4ED}"/>
              </a:ext>
            </a:extLst>
          </p:cNvPr>
          <p:cNvCxnSpPr/>
          <p:nvPr/>
        </p:nvCxnSpPr>
        <p:spPr>
          <a:xfrm>
            <a:off x="10482801" y="4142010"/>
            <a:ext cx="179790" cy="28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430A988-2EED-BD7F-8442-0739ABA86FD2}"/>
              </a:ext>
            </a:extLst>
          </p:cNvPr>
          <p:cNvSpPr txBox="1"/>
          <p:nvPr/>
        </p:nvSpPr>
        <p:spPr>
          <a:xfrm>
            <a:off x="5940016" y="4485762"/>
            <a:ext cx="610369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Party Name</a:t>
            </a:r>
            <a:r>
              <a:rPr lang="en-AE" dirty="0"/>
              <a:t>: </a:t>
            </a:r>
            <a:r>
              <a:rPr lang="en-AE" dirty="0" err="1"/>
              <a:t>xxxxxxxxxx</a:t>
            </a:r>
            <a:endParaRPr lang="en-AE" dirty="0"/>
          </a:p>
          <a:p>
            <a:r>
              <a:rPr lang="en-AE" dirty="0"/>
              <a:t>Party Type:  </a:t>
            </a:r>
            <a:r>
              <a:rPr lang="en-AE" dirty="0" err="1"/>
              <a:t>xxxxxxxxxxx</a:t>
            </a:r>
            <a:endParaRPr lang="en-AE" dirty="0"/>
          </a:p>
          <a:p>
            <a:r>
              <a:rPr lang="en-AE" dirty="0"/>
              <a:t>Party Category: </a:t>
            </a:r>
            <a:r>
              <a:rPr lang="en-AE" dirty="0" err="1"/>
              <a:t>xxxxxxxxxx</a:t>
            </a:r>
            <a:endParaRPr lang="en-AE" dirty="0"/>
          </a:p>
          <a:p>
            <a:r>
              <a:rPr lang="en-AE" dirty="0"/>
              <a:t>Possible adverse impacts on data confidentiality/integrity/availability:</a:t>
            </a:r>
          </a:p>
          <a:p>
            <a:r>
              <a:rPr lang="en-AE" dirty="0"/>
              <a:t>Strategic scenario 1:</a:t>
            </a:r>
          </a:p>
          <a:p>
            <a:endParaRPr lang="en-AE" dirty="0"/>
          </a:p>
          <a:p>
            <a:r>
              <a:rPr lang="en-AE" dirty="0"/>
              <a:t> 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9983FF-40E4-3509-88B9-FCA9F508A1CC}"/>
              </a:ext>
            </a:extLst>
          </p:cNvPr>
          <p:cNvSpPr/>
          <p:nvPr/>
        </p:nvSpPr>
        <p:spPr>
          <a:xfrm>
            <a:off x="6017790" y="6202865"/>
            <a:ext cx="5810838" cy="3036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891AB0-0202-1E5B-F0DD-B73A9AD50C99}"/>
              </a:ext>
            </a:extLst>
          </p:cNvPr>
          <p:cNvSpPr/>
          <p:nvPr/>
        </p:nvSpPr>
        <p:spPr>
          <a:xfrm>
            <a:off x="11229663" y="6326364"/>
            <a:ext cx="814051" cy="303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BD3C59-2F65-F826-45D8-EB874ED42E7F}"/>
              </a:ext>
            </a:extLst>
          </p:cNvPr>
          <p:cNvSpPr/>
          <p:nvPr/>
        </p:nvSpPr>
        <p:spPr>
          <a:xfrm>
            <a:off x="9335231" y="6337975"/>
            <a:ext cx="1820022" cy="303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Scenario</a:t>
            </a:r>
            <a:endParaRPr lang="en-AE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DD8AD25-FA6A-BE60-C3A0-DB471440C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7" y="1577532"/>
            <a:ext cx="6630325" cy="514422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A10132E-0AB3-CC4D-0972-E83EB770C83E}"/>
              </a:ext>
            </a:extLst>
          </p:cNvPr>
          <p:cNvSpPr/>
          <p:nvPr/>
        </p:nvSpPr>
        <p:spPr>
          <a:xfrm>
            <a:off x="6458575" y="1692392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ED3E07-0490-CA79-9306-2E3ED0E39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05" y="91934"/>
            <a:ext cx="11909990" cy="90500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9333EA-D674-5F18-6FE9-ACA772D60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826666"/>
              </p:ext>
            </p:extLst>
          </p:nvPr>
        </p:nvGraphicFramePr>
        <p:xfrm>
          <a:off x="133724" y="979607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Qualitative-Event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39DC60-4FC2-1B52-6A28-254FF5ADFCED}"/>
              </a:ext>
            </a:extLst>
          </p:cNvPr>
          <p:cNvSpPr txBox="1"/>
          <p:nvPr/>
        </p:nvSpPr>
        <p:spPr>
          <a:xfrm>
            <a:off x="6949887" y="4157166"/>
            <a:ext cx="1973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Open New Form</a:t>
            </a:r>
            <a:endParaRPr lang="en-A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06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F089-8FE8-B518-56A0-F67B3F60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A550-C5B0-5952-3BA1-078E1483C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" y="1539428"/>
            <a:ext cx="5451060" cy="422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EEDBFF-D514-5611-9201-083E3FC8D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05" y="17792"/>
            <a:ext cx="11909990" cy="90500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71B93DC-1CF7-B31D-1C1B-F652DECFD887}"/>
              </a:ext>
            </a:extLst>
          </p:cNvPr>
          <p:cNvSpPr/>
          <p:nvPr/>
        </p:nvSpPr>
        <p:spPr>
          <a:xfrm>
            <a:off x="4997312" y="6428389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2D035C-BBB4-88C6-1ED5-D62D4129CE38}"/>
              </a:ext>
            </a:extLst>
          </p:cNvPr>
          <p:cNvSpPr/>
          <p:nvPr/>
        </p:nvSpPr>
        <p:spPr>
          <a:xfrm>
            <a:off x="6166723" y="6428389"/>
            <a:ext cx="1886037" cy="40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Save &amp; go to next step</a:t>
            </a:r>
            <a:endParaRPr lang="en-AE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A1638D-2372-823C-CE92-EB8085F2BE51}"/>
              </a:ext>
            </a:extLst>
          </p:cNvPr>
          <p:cNvSpPr/>
          <p:nvPr/>
        </p:nvSpPr>
        <p:spPr>
          <a:xfrm>
            <a:off x="3739121" y="644433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AE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A9B948-FFFF-5DCB-0620-483745AF7828}"/>
              </a:ext>
            </a:extLst>
          </p:cNvPr>
          <p:cNvSpPr/>
          <p:nvPr/>
        </p:nvSpPr>
        <p:spPr>
          <a:xfrm>
            <a:off x="287062" y="6444337"/>
            <a:ext cx="3267758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Services &amp; Assets Page</a:t>
            </a:r>
            <a:endParaRPr lang="en-A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0A7078-7508-2068-077A-79C80C36C976}"/>
              </a:ext>
            </a:extLst>
          </p:cNvPr>
          <p:cNvSpPr txBox="1"/>
          <p:nvPr/>
        </p:nvSpPr>
        <p:spPr>
          <a:xfrm>
            <a:off x="121835" y="2206929"/>
            <a:ext cx="6175088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which risk sources could exploit vulnerabilities in the services</a:t>
            </a:r>
            <a:endParaRPr lang="en-AE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2CC8E8-07C8-8363-4394-0842969AA47A}"/>
              </a:ext>
            </a:extLst>
          </p:cNvPr>
          <p:cNvSpPr txBox="1"/>
          <p:nvPr/>
        </p:nvSpPr>
        <p:spPr>
          <a:xfrm>
            <a:off x="121836" y="4617039"/>
            <a:ext cx="262764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threats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0ADE821-3DA5-907F-53A3-355822175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557655"/>
              </p:ext>
            </p:extLst>
          </p:nvPr>
        </p:nvGraphicFramePr>
        <p:xfrm>
          <a:off x="128813" y="4945138"/>
          <a:ext cx="3560444" cy="15096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0444">
                  <a:extLst>
                    <a:ext uri="{9D8B030D-6E8A-4147-A177-3AD203B41FA5}">
                      <a16:colId xmlns:a16="http://schemas.microsoft.com/office/drawing/2014/main" val="3373528073"/>
                    </a:ext>
                  </a:extLst>
                </a:gridCol>
              </a:tblGrid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High (default)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905118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0225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Medium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30957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174610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422301"/>
                  </a:ext>
                </a:extLst>
              </a:tr>
            </a:tbl>
          </a:graphicData>
        </a:graphic>
      </p:graphicFrame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AE8F1C59-A7CB-CB8F-EA7F-1F31869F7B8B}"/>
              </a:ext>
            </a:extLst>
          </p:cNvPr>
          <p:cNvSpPr/>
          <p:nvPr/>
        </p:nvSpPr>
        <p:spPr>
          <a:xfrm rot="10800000">
            <a:off x="3380913" y="4945138"/>
            <a:ext cx="308344" cy="29609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FDC69E43-B003-9381-991C-4BD408456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13864"/>
              </p:ext>
            </p:extLst>
          </p:nvPr>
        </p:nvGraphicFramePr>
        <p:xfrm>
          <a:off x="168881" y="2513561"/>
          <a:ext cx="11882114" cy="214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234">
                  <a:extLst>
                    <a:ext uri="{9D8B030D-6E8A-4147-A177-3AD203B41FA5}">
                      <a16:colId xmlns:a16="http://schemas.microsoft.com/office/drawing/2014/main" val="440325307"/>
                    </a:ext>
                  </a:extLst>
                </a:gridCol>
                <a:gridCol w="5958528">
                  <a:extLst>
                    <a:ext uri="{9D8B030D-6E8A-4147-A177-3AD203B41FA5}">
                      <a16:colId xmlns:a16="http://schemas.microsoft.com/office/drawing/2014/main" val="2691663188"/>
                    </a:ext>
                  </a:extLst>
                </a:gridCol>
                <a:gridCol w="2434281">
                  <a:extLst>
                    <a:ext uri="{9D8B030D-6E8A-4147-A177-3AD203B41FA5}">
                      <a16:colId xmlns:a16="http://schemas.microsoft.com/office/drawing/2014/main" val="2583940053"/>
                    </a:ext>
                  </a:extLst>
                </a:gridCol>
                <a:gridCol w="2771071">
                  <a:extLst>
                    <a:ext uri="{9D8B030D-6E8A-4147-A177-3AD203B41FA5}">
                      <a16:colId xmlns:a16="http://schemas.microsoft.com/office/drawing/2014/main" val="285305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Select</a:t>
                      </a:r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Risk Source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Target Objective of Risk Source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Threat Posed by Risk Source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1435"/>
                  </a:ext>
                </a:extLst>
              </a:tr>
              <a:tr h="252104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Cyber terrorists, cyber militias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81296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Cyber-hacktivists, interest groups, sects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3128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“Cyber-mercenary” profile with IT capacities that are generally high from a technical standpoint.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12729"/>
                  </a:ext>
                </a:extLst>
              </a:tr>
              <a:tr h="235132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 kiddies</a:t>
                      </a: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with the capacity of use the attack kits that are available online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78792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Attacker with motivations of acute vengeance or a feeling of injustice (e.g. employee dismissed for serious fault, discontented service provider following a contract that was not renewed, etc.).	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32601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Pathological attacker e.g. unfair competitor, dishonest client, scammer, and fraudster.</a:t>
                      </a:r>
                      <a:endParaRPr lang="en-AE" sz="1000" b="0" i="0" u="none" strike="noStrik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11108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2F830C17-C32C-B8E0-94CA-940C22020EAC}"/>
              </a:ext>
            </a:extLst>
          </p:cNvPr>
          <p:cNvSpPr/>
          <p:nvPr/>
        </p:nvSpPr>
        <p:spPr>
          <a:xfrm>
            <a:off x="335277" y="3068458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3E7E97-5361-BA5E-113C-3C7379D48C4F}"/>
              </a:ext>
            </a:extLst>
          </p:cNvPr>
          <p:cNvSpPr/>
          <p:nvPr/>
        </p:nvSpPr>
        <p:spPr>
          <a:xfrm>
            <a:off x="335277" y="3307947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15F8D4-4A84-B5D6-D2C1-327C6E26E7B9}"/>
              </a:ext>
            </a:extLst>
          </p:cNvPr>
          <p:cNvSpPr/>
          <p:nvPr/>
        </p:nvSpPr>
        <p:spPr>
          <a:xfrm>
            <a:off x="335277" y="3564852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60159FC-22E3-CF3A-5C27-753BA8CEE9AA}"/>
              </a:ext>
            </a:extLst>
          </p:cNvPr>
          <p:cNvSpPr/>
          <p:nvPr/>
        </p:nvSpPr>
        <p:spPr>
          <a:xfrm>
            <a:off x="335277" y="3817399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39A8A9-E5DC-2979-E3D7-2A88AF27D530}"/>
              </a:ext>
            </a:extLst>
          </p:cNvPr>
          <p:cNvSpPr/>
          <p:nvPr/>
        </p:nvSpPr>
        <p:spPr>
          <a:xfrm>
            <a:off x="335277" y="4130905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1D0511E-D733-3EBF-F9F6-54910025F364}"/>
              </a:ext>
            </a:extLst>
          </p:cNvPr>
          <p:cNvSpPr/>
          <p:nvPr/>
        </p:nvSpPr>
        <p:spPr>
          <a:xfrm>
            <a:off x="335277" y="4409578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7EE766-8283-5F75-0485-C4A22EAFD687}"/>
              </a:ext>
            </a:extLst>
          </p:cNvPr>
          <p:cNvSpPr/>
          <p:nvPr/>
        </p:nvSpPr>
        <p:spPr>
          <a:xfrm>
            <a:off x="327037" y="2837795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56" name="Picture 2" descr="Edit&quot; Icon - Download for free – Iconduck">
            <a:extLst>
              <a:ext uri="{FF2B5EF4-FFF2-40B4-BE49-F238E27FC236}">
                <a16:creationId xmlns:a16="http://schemas.microsoft.com/office/drawing/2014/main" id="{306DCF98-F760-625D-4990-0AB25958B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22" y="3014166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Edit&quot; Icon - Download for free – Iconduck">
            <a:extLst>
              <a:ext uri="{FF2B5EF4-FFF2-40B4-BE49-F238E27FC236}">
                <a16:creationId xmlns:a16="http://schemas.microsoft.com/office/drawing/2014/main" id="{ECFD2442-4C2A-C503-148F-328D13E18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22" y="3265422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Edit&quot; Icon - Download for free – Iconduck">
            <a:extLst>
              <a:ext uri="{FF2B5EF4-FFF2-40B4-BE49-F238E27FC236}">
                <a16:creationId xmlns:a16="http://schemas.microsoft.com/office/drawing/2014/main" id="{862A86B7-C3B4-F36A-3482-37AEA89E5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22" y="3479607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Edit&quot; Icon - Download for free – Iconduck">
            <a:extLst>
              <a:ext uri="{FF2B5EF4-FFF2-40B4-BE49-F238E27FC236}">
                <a16:creationId xmlns:a16="http://schemas.microsoft.com/office/drawing/2014/main" id="{847539A3-E4B2-59FF-B78A-F043F1CCC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22" y="3767934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Edit&quot; Icon - Download for free – Iconduck">
            <a:extLst>
              <a:ext uri="{FF2B5EF4-FFF2-40B4-BE49-F238E27FC236}">
                <a16:creationId xmlns:a16="http://schemas.microsoft.com/office/drawing/2014/main" id="{B4DD985A-2072-7C55-D2F6-286BE2351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22" y="4056261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Edit&quot; Icon - Download for free – Iconduck">
            <a:extLst>
              <a:ext uri="{FF2B5EF4-FFF2-40B4-BE49-F238E27FC236}">
                <a16:creationId xmlns:a16="http://schemas.microsoft.com/office/drawing/2014/main" id="{5C5A8D1F-B230-3327-56E1-4E1121A64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22" y="4406371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Edit&quot; Icon - Download for free – Iconduck">
            <a:extLst>
              <a:ext uri="{FF2B5EF4-FFF2-40B4-BE49-F238E27FC236}">
                <a16:creationId xmlns:a16="http://schemas.microsoft.com/office/drawing/2014/main" id="{FEBB9651-C8E3-1D89-3A8D-FF710F154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349" y="3005926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Edit&quot; Icon - Download for free – Iconduck">
            <a:extLst>
              <a:ext uri="{FF2B5EF4-FFF2-40B4-BE49-F238E27FC236}">
                <a16:creationId xmlns:a16="http://schemas.microsoft.com/office/drawing/2014/main" id="{F549481E-95B0-E7CC-D096-A5832A3B0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349" y="3257182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2" descr="Edit&quot; Icon - Download for free – Iconduck">
            <a:extLst>
              <a:ext uri="{FF2B5EF4-FFF2-40B4-BE49-F238E27FC236}">
                <a16:creationId xmlns:a16="http://schemas.microsoft.com/office/drawing/2014/main" id="{0FDDEE0B-B7E2-714B-21BA-955A8D344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349" y="3471367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2" descr="Edit&quot; Icon - Download for free – Iconduck">
            <a:extLst>
              <a:ext uri="{FF2B5EF4-FFF2-40B4-BE49-F238E27FC236}">
                <a16:creationId xmlns:a16="http://schemas.microsoft.com/office/drawing/2014/main" id="{0DA5FB7F-A65D-6807-372A-3203F6D5C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349" y="3759694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2" descr="Edit&quot; Icon - Download for free – Iconduck">
            <a:extLst>
              <a:ext uri="{FF2B5EF4-FFF2-40B4-BE49-F238E27FC236}">
                <a16:creationId xmlns:a16="http://schemas.microsoft.com/office/drawing/2014/main" id="{50D1F448-A4EB-24CE-FDA1-667015A42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349" y="4048021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2" descr="Edit&quot; Icon - Download for free – Iconduck">
            <a:extLst>
              <a:ext uri="{FF2B5EF4-FFF2-40B4-BE49-F238E27FC236}">
                <a16:creationId xmlns:a16="http://schemas.microsoft.com/office/drawing/2014/main" id="{D3162462-5B7C-443E-500A-15EFBC033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349" y="4398131"/>
            <a:ext cx="247135" cy="24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80C6A47A-F8A0-E0EA-E965-C630DA9DA001}"/>
              </a:ext>
            </a:extLst>
          </p:cNvPr>
          <p:cNvCxnSpPr/>
          <p:nvPr/>
        </p:nvCxnSpPr>
        <p:spPr>
          <a:xfrm>
            <a:off x="8303741" y="4194803"/>
            <a:ext cx="0" cy="576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3F71C6CF-44B5-02BC-EE49-A44E449828BB}"/>
              </a:ext>
            </a:extLst>
          </p:cNvPr>
          <p:cNvSpPr txBox="1"/>
          <p:nvPr/>
        </p:nvSpPr>
        <p:spPr>
          <a:xfrm>
            <a:off x="7897532" y="4696721"/>
            <a:ext cx="83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5</a:t>
            </a:r>
            <a:endParaRPr lang="en-AE" dirty="0"/>
          </a:p>
        </p:txBody>
      </p: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74B415E7-4B57-61B7-41AB-0E8A7DEBD072}"/>
              </a:ext>
            </a:extLst>
          </p:cNvPr>
          <p:cNvCxnSpPr/>
          <p:nvPr/>
        </p:nvCxnSpPr>
        <p:spPr>
          <a:xfrm>
            <a:off x="11248775" y="4186563"/>
            <a:ext cx="0" cy="576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01CCF611-20A9-EF12-9135-CBD6E0A9CBD4}"/>
              </a:ext>
            </a:extLst>
          </p:cNvPr>
          <p:cNvSpPr txBox="1"/>
          <p:nvPr/>
        </p:nvSpPr>
        <p:spPr>
          <a:xfrm>
            <a:off x="10842566" y="4688481"/>
            <a:ext cx="83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6</a:t>
            </a:r>
            <a:endParaRPr lang="en-AE" dirty="0"/>
          </a:p>
        </p:txBody>
      </p: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4302A30E-AA7C-1C0F-ADFF-33B25B9CB34A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8052760" y="6630386"/>
            <a:ext cx="769964" cy="1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TextBox 1033">
            <a:extLst>
              <a:ext uri="{FF2B5EF4-FFF2-40B4-BE49-F238E27FC236}">
                <a16:creationId xmlns:a16="http://schemas.microsoft.com/office/drawing/2014/main" id="{ACB0ECFA-F4B9-F9D0-AB8D-C02D76E19FEE}"/>
              </a:ext>
            </a:extLst>
          </p:cNvPr>
          <p:cNvSpPr txBox="1"/>
          <p:nvPr/>
        </p:nvSpPr>
        <p:spPr>
          <a:xfrm>
            <a:off x="8822724" y="6428389"/>
            <a:ext cx="83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 7</a:t>
            </a:r>
            <a:endParaRPr lang="en-AE" dirty="0"/>
          </a:p>
        </p:txBody>
      </p:sp>
      <p:graphicFrame>
        <p:nvGraphicFramePr>
          <p:cNvPr id="1035" name="Table 1034">
            <a:extLst>
              <a:ext uri="{FF2B5EF4-FFF2-40B4-BE49-F238E27FC236}">
                <a16:creationId xmlns:a16="http://schemas.microsoft.com/office/drawing/2014/main" id="{27ADC6C0-6EE3-405A-74E2-BCCB3D4A5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07978"/>
              </p:ext>
            </p:extLst>
          </p:nvPr>
        </p:nvGraphicFramePr>
        <p:xfrm>
          <a:off x="154943" y="927830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4311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64524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397403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Qualitative-Event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202BE6F-EFB6-5110-BBDF-B58955E02A3C}"/>
              </a:ext>
            </a:extLst>
          </p:cNvPr>
          <p:cNvSpPr/>
          <p:nvPr/>
        </p:nvSpPr>
        <p:spPr>
          <a:xfrm>
            <a:off x="5321792" y="1595362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E31E251-A1D0-0C14-FDA4-7BC7B473CE10}"/>
              </a:ext>
            </a:extLst>
          </p:cNvPr>
          <p:cNvSpPr/>
          <p:nvPr/>
        </p:nvSpPr>
        <p:spPr>
          <a:xfrm>
            <a:off x="121835" y="1945959"/>
            <a:ext cx="11753007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Services: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Service 1, Service 2, Service 3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11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5970-75F5-F2BA-A521-80FBB037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33BE1-92D4-C57B-9896-801E7C8E1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05" y="17792"/>
            <a:ext cx="11909990" cy="90500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0D5077E-025B-138F-B653-7C20F85D1913}"/>
              </a:ext>
            </a:extLst>
          </p:cNvPr>
          <p:cNvGrpSpPr/>
          <p:nvPr/>
        </p:nvGrpSpPr>
        <p:grpSpPr>
          <a:xfrm>
            <a:off x="212337" y="3298914"/>
            <a:ext cx="4679092" cy="3861780"/>
            <a:chOff x="10434705" y="819982"/>
            <a:chExt cx="8739596" cy="65477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7725C6-83C3-0036-9E37-C757A8BDA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4705" y="819982"/>
              <a:ext cx="8739596" cy="654770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23F02D-A510-687C-930E-34C99AD48C43}"/>
                </a:ext>
              </a:extLst>
            </p:cNvPr>
            <p:cNvSpPr/>
            <p:nvPr/>
          </p:nvSpPr>
          <p:spPr>
            <a:xfrm>
              <a:off x="11006984" y="1499198"/>
              <a:ext cx="139337" cy="1132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BBAA94-B171-2163-9E70-4C77179DBCD6}"/>
                </a:ext>
              </a:extLst>
            </p:cNvPr>
            <p:cNvSpPr/>
            <p:nvPr/>
          </p:nvSpPr>
          <p:spPr>
            <a:xfrm>
              <a:off x="11006984" y="2464136"/>
              <a:ext cx="139337" cy="1132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81AE8E-D9ED-1EA5-51C3-5C566C0B989C}"/>
                </a:ext>
              </a:extLst>
            </p:cNvPr>
            <p:cNvSpPr/>
            <p:nvPr/>
          </p:nvSpPr>
          <p:spPr>
            <a:xfrm>
              <a:off x="11006984" y="3355098"/>
              <a:ext cx="139337" cy="1132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AE067E-6CD0-A311-B2B7-8E438621CD51}"/>
                </a:ext>
              </a:extLst>
            </p:cNvPr>
            <p:cNvSpPr/>
            <p:nvPr/>
          </p:nvSpPr>
          <p:spPr>
            <a:xfrm>
              <a:off x="11006984" y="4479109"/>
              <a:ext cx="139337" cy="1132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399AD0-4520-8D36-D26E-FC3A76C64A7D}"/>
                </a:ext>
              </a:extLst>
            </p:cNvPr>
            <p:cNvSpPr/>
            <p:nvPr/>
          </p:nvSpPr>
          <p:spPr>
            <a:xfrm>
              <a:off x="11006984" y="5586729"/>
              <a:ext cx="139337" cy="1132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F826DA-0ABE-FC91-DE42-6AFA3E2AC3D0}"/>
                </a:ext>
              </a:extLst>
            </p:cNvPr>
            <p:cNvSpPr/>
            <p:nvPr/>
          </p:nvSpPr>
          <p:spPr>
            <a:xfrm>
              <a:off x="11006984" y="6727131"/>
              <a:ext cx="139337" cy="1132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84F4703-CA58-C1B7-F941-67502A8CF01F}"/>
              </a:ext>
            </a:extLst>
          </p:cNvPr>
          <p:cNvSpPr txBox="1"/>
          <p:nvPr/>
        </p:nvSpPr>
        <p:spPr>
          <a:xfrm>
            <a:off x="141005" y="192764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Risk Source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31DDBA-FB06-1E57-4FE7-5381F06B8DCA}"/>
              </a:ext>
            </a:extLst>
          </p:cNvPr>
          <p:cNvSpPr txBox="1"/>
          <p:nvPr/>
        </p:nvSpPr>
        <p:spPr>
          <a:xfrm>
            <a:off x="141005" y="2283251"/>
            <a:ext cx="11737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kern="1200" baseline="0" dirty="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Attacker with motivations of acute vengeance or a feeling of injustice (e.g. employee dismissed for serious fault, discontented service provider following a contract that was not renewed, etc.).</a:t>
            </a:r>
            <a:endParaRPr lang="en-A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18BFD-79CB-BE2A-E4B1-0B2E1734D7EA}"/>
              </a:ext>
            </a:extLst>
          </p:cNvPr>
          <p:cNvSpPr txBox="1"/>
          <p:nvPr/>
        </p:nvSpPr>
        <p:spPr>
          <a:xfrm>
            <a:off x="141005" y="2929582"/>
            <a:ext cx="406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Target Objective of the Risk Source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91893-F71B-D6B4-72E7-3798C26CE949}"/>
              </a:ext>
            </a:extLst>
          </p:cNvPr>
          <p:cNvSpPr/>
          <p:nvPr/>
        </p:nvSpPr>
        <p:spPr>
          <a:xfrm>
            <a:off x="6229801" y="6317178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Save</a:t>
            </a:r>
            <a:endParaRPr lang="en-AE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13932-1396-DA38-3C97-045FA284D684}"/>
              </a:ext>
            </a:extLst>
          </p:cNvPr>
          <p:cNvSpPr/>
          <p:nvPr/>
        </p:nvSpPr>
        <p:spPr>
          <a:xfrm>
            <a:off x="4971610" y="6317178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</a:t>
            </a:r>
            <a:endParaRPr lang="en-AE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6D25AC-2D3A-3CF7-BC76-8DF3614891A6}"/>
              </a:ext>
            </a:extLst>
          </p:cNvPr>
          <p:cNvSpPr txBox="1"/>
          <p:nvPr/>
        </p:nvSpPr>
        <p:spPr>
          <a:xfrm>
            <a:off x="7529373" y="6359991"/>
            <a:ext cx="4521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Press the Save button even if no checkbox is selected</a:t>
            </a:r>
            <a:endParaRPr lang="en-AE" sz="1400" b="1" dirty="0"/>
          </a:p>
        </p:txBody>
      </p:sp>
      <p:pic>
        <p:nvPicPr>
          <p:cNvPr id="21" name="Picture 2" descr="Loudspeaker - Free marketing icons">
            <a:extLst>
              <a:ext uri="{FF2B5EF4-FFF2-40B4-BE49-F238E27FC236}">
                <a16:creationId xmlns:a16="http://schemas.microsoft.com/office/drawing/2014/main" id="{1B5D345E-D48C-EEB0-9A03-AB48FC6D9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723" y="5925560"/>
            <a:ext cx="503023" cy="50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0953F5A-7C65-A4C9-DE10-9D5645482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291962"/>
              </p:ext>
            </p:extLst>
          </p:nvPr>
        </p:nvGraphicFramePr>
        <p:xfrm>
          <a:off x="133724" y="91782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10037E9A-658F-F40E-6E20-EAB146DCEB47}"/>
              </a:ext>
            </a:extLst>
          </p:cNvPr>
          <p:cNvSpPr/>
          <p:nvPr/>
        </p:nvSpPr>
        <p:spPr>
          <a:xfrm>
            <a:off x="121835" y="1587612"/>
            <a:ext cx="11753007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Services: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Service 1, Service 2, Service 3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54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2807-E9F4-01CE-7CF1-815C792A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686EC-F36D-885D-9230-75267336A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05" y="17792"/>
            <a:ext cx="11909990" cy="905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35C9DF-A9FB-8381-E58A-E5E829530C47}"/>
              </a:ext>
            </a:extLst>
          </p:cNvPr>
          <p:cNvSpPr txBox="1"/>
          <p:nvPr/>
        </p:nvSpPr>
        <p:spPr>
          <a:xfrm>
            <a:off x="141005" y="192764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Risk Source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77378-E4E9-F646-360F-206D411C33A2}"/>
              </a:ext>
            </a:extLst>
          </p:cNvPr>
          <p:cNvSpPr txBox="1"/>
          <p:nvPr/>
        </p:nvSpPr>
        <p:spPr>
          <a:xfrm>
            <a:off x="141005" y="2283251"/>
            <a:ext cx="11737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kern="1200" baseline="0" dirty="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Attacker with motivations of acute vengeance or a feeling of injustice (e.g. employee dismissed for serious fault, discontented service provider following a contract that was not renewed, etc.).</a:t>
            </a: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1D1D3-20BD-21F9-B73D-8782654D0E21}"/>
              </a:ext>
            </a:extLst>
          </p:cNvPr>
          <p:cNvSpPr txBox="1"/>
          <p:nvPr/>
        </p:nvSpPr>
        <p:spPr>
          <a:xfrm>
            <a:off x="141005" y="2929582"/>
            <a:ext cx="391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Threats Posed by the Risk Source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A8DF7C-A36D-3929-054C-26C5EEA2E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789799"/>
              </p:ext>
            </p:extLst>
          </p:nvPr>
        </p:nvGraphicFramePr>
        <p:xfrm>
          <a:off x="212337" y="3285186"/>
          <a:ext cx="11737740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820">
                  <a:extLst>
                    <a:ext uri="{9D8B030D-6E8A-4147-A177-3AD203B41FA5}">
                      <a16:colId xmlns:a16="http://schemas.microsoft.com/office/drawing/2014/main" val="3890668522"/>
                    </a:ext>
                  </a:extLst>
                </a:gridCol>
                <a:gridCol w="1676820">
                  <a:extLst>
                    <a:ext uri="{9D8B030D-6E8A-4147-A177-3AD203B41FA5}">
                      <a16:colId xmlns:a16="http://schemas.microsoft.com/office/drawing/2014/main" val="2021474439"/>
                    </a:ext>
                  </a:extLst>
                </a:gridCol>
                <a:gridCol w="1676820">
                  <a:extLst>
                    <a:ext uri="{9D8B030D-6E8A-4147-A177-3AD203B41FA5}">
                      <a16:colId xmlns:a16="http://schemas.microsoft.com/office/drawing/2014/main" val="2679860503"/>
                    </a:ext>
                  </a:extLst>
                </a:gridCol>
                <a:gridCol w="1676820">
                  <a:extLst>
                    <a:ext uri="{9D8B030D-6E8A-4147-A177-3AD203B41FA5}">
                      <a16:colId xmlns:a16="http://schemas.microsoft.com/office/drawing/2014/main" val="2832242580"/>
                    </a:ext>
                  </a:extLst>
                </a:gridCol>
                <a:gridCol w="1676820">
                  <a:extLst>
                    <a:ext uri="{9D8B030D-6E8A-4147-A177-3AD203B41FA5}">
                      <a16:colId xmlns:a16="http://schemas.microsoft.com/office/drawing/2014/main" val="576268940"/>
                    </a:ext>
                  </a:extLst>
                </a:gridCol>
                <a:gridCol w="1676820">
                  <a:extLst>
                    <a:ext uri="{9D8B030D-6E8A-4147-A177-3AD203B41FA5}">
                      <a16:colId xmlns:a16="http://schemas.microsoft.com/office/drawing/2014/main" val="2537790216"/>
                    </a:ext>
                  </a:extLst>
                </a:gridCol>
                <a:gridCol w="1676820">
                  <a:extLst>
                    <a:ext uri="{9D8B030D-6E8A-4147-A177-3AD203B41FA5}">
                      <a16:colId xmlns:a16="http://schemas.microsoft.com/office/drawing/2014/main" val="2254099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Physical Threats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Natural Threats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Infrastructure Failures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Technical Failures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Human Actions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Service Compromise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Organizational Threats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526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Description 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1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1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63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2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2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14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3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Description 3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80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67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14322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619515B-835E-F4E5-97E4-356F0911C870}"/>
              </a:ext>
            </a:extLst>
          </p:cNvPr>
          <p:cNvSpPr/>
          <p:nvPr/>
        </p:nvSpPr>
        <p:spPr>
          <a:xfrm>
            <a:off x="5736486" y="6433332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30BAC0-9BD8-D6CB-6D03-22E877931FBD}"/>
              </a:ext>
            </a:extLst>
          </p:cNvPr>
          <p:cNvSpPr/>
          <p:nvPr/>
        </p:nvSpPr>
        <p:spPr>
          <a:xfrm>
            <a:off x="4478295" y="6433332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AE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56261E-848F-D3D1-E13E-CD465F78262E}"/>
              </a:ext>
            </a:extLst>
          </p:cNvPr>
          <p:cNvCxnSpPr/>
          <p:nvPr/>
        </p:nvCxnSpPr>
        <p:spPr>
          <a:xfrm flipV="1">
            <a:off x="1248032" y="5177481"/>
            <a:ext cx="2014152" cy="1087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479A03-0FF1-7327-A84E-156DB4F7ADFC}"/>
              </a:ext>
            </a:extLst>
          </p:cNvPr>
          <p:cNvSpPr txBox="1"/>
          <p:nvPr/>
        </p:nvSpPr>
        <p:spPr>
          <a:xfrm>
            <a:off x="154299" y="6248666"/>
            <a:ext cx="3501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Will provide the list of values later</a:t>
            </a:r>
            <a:endParaRPr lang="en-A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ACDA7-0236-5E7C-ED48-1717FAAD0837}"/>
              </a:ext>
            </a:extLst>
          </p:cNvPr>
          <p:cNvSpPr/>
          <p:nvPr/>
        </p:nvSpPr>
        <p:spPr>
          <a:xfrm>
            <a:off x="66675" y="39243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1EF29-0AD4-F1D3-6200-91C00440EE79}"/>
              </a:ext>
            </a:extLst>
          </p:cNvPr>
          <p:cNvSpPr/>
          <p:nvPr/>
        </p:nvSpPr>
        <p:spPr>
          <a:xfrm>
            <a:off x="57150" y="425767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1E28DC-37C1-456B-41D4-6633A4B7CAD4}"/>
              </a:ext>
            </a:extLst>
          </p:cNvPr>
          <p:cNvSpPr/>
          <p:nvPr/>
        </p:nvSpPr>
        <p:spPr>
          <a:xfrm>
            <a:off x="57150" y="463867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7D020-D1C5-71B1-8ABF-790403D89ECB}"/>
              </a:ext>
            </a:extLst>
          </p:cNvPr>
          <p:cNvSpPr/>
          <p:nvPr/>
        </p:nvSpPr>
        <p:spPr>
          <a:xfrm>
            <a:off x="1800225" y="393382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BEA40A-7E92-12F5-B3AB-FC303B49B461}"/>
              </a:ext>
            </a:extLst>
          </p:cNvPr>
          <p:cNvSpPr/>
          <p:nvPr/>
        </p:nvSpPr>
        <p:spPr>
          <a:xfrm>
            <a:off x="1790700" y="4267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777986-DF1E-AD03-E0D9-B638AE1B8D92}"/>
              </a:ext>
            </a:extLst>
          </p:cNvPr>
          <p:cNvSpPr/>
          <p:nvPr/>
        </p:nvSpPr>
        <p:spPr>
          <a:xfrm>
            <a:off x="1790700" y="4648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8F259-9935-514A-D014-8D860C70FF82}"/>
              </a:ext>
            </a:extLst>
          </p:cNvPr>
          <p:cNvSpPr/>
          <p:nvPr/>
        </p:nvSpPr>
        <p:spPr>
          <a:xfrm>
            <a:off x="3448050" y="393382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70F712-CE90-30F5-C95C-612DA6BBEA96}"/>
              </a:ext>
            </a:extLst>
          </p:cNvPr>
          <p:cNvSpPr/>
          <p:nvPr/>
        </p:nvSpPr>
        <p:spPr>
          <a:xfrm>
            <a:off x="3438525" y="4267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75F79D-697C-B96D-BBB1-0C995D32A7E1}"/>
              </a:ext>
            </a:extLst>
          </p:cNvPr>
          <p:cNvSpPr/>
          <p:nvPr/>
        </p:nvSpPr>
        <p:spPr>
          <a:xfrm>
            <a:off x="3438525" y="4648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CD7999-7403-F7AE-08F8-6152A970251C}"/>
              </a:ext>
            </a:extLst>
          </p:cNvPr>
          <p:cNvSpPr/>
          <p:nvPr/>
        </p:nvSpPr>
        <p:spPr>
          <a:xfrm>
            <a:off x="5133975" y="393382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4CE25B-2E5A-0BA1-1AF3-F0A3ED6E37C3}"/>
              </a:ext>
            </a:extLst>
          </p:cNvPr>
          <p:cNvSpPr/>
          <p:nvPr/>
        </p:nvSpPr>
        <p:spPr>
          <a:xfrm>
            <a:off x="5124450" y="4267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EF4941-09E2-AEC2-6535-736D5E687A3B}"/>
              </a:ext>
            </a:extLst>
          </p:cNvPr>
          <p:cNvSpPr/>
          <p:nvPr/>
        </p:nvSpPr>
        <p:spPr>
          <a:xfrm>
            <a:off x="5124450" y="4648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88237B-C2A3-91B8-3777-09C91ED4AD46}"/>
              </a:ext>
            </a:extLst>
          </p:cNvPr>
          <p:cNvSpPr/>
          <p:nvPr/>
        </p:nvSpPr>
        <p:spPr>
          <a:xfrm>
            <a:off x="6819900" y="39243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C072B1-10A3-56D7-3552-1815F8EBBA8A}"/>
              </a:ext>
            </a:extLst>
          </p:cNvPr>
          <p:cNvSpPr/>
          <p:nvPr/>
        </p:nvSpPr>
        <p:spPr>
          <a:xfrm>
            <a:off x="6810375" y="425767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FAAA52-A9CB-338B-7A9F-EED5F696E18E}"/>
              </a:ext>
            </a:extLst>
          </p:cNvPr>
          <p:cNvSpPr/>
          <p:nvPr/>
        </p:nvSpPr>
        <p:spPr>
          <a:xfrm>
            <a:off x="6810375" y="463867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D21E2F-0319-E840-D158-70545D1A84FF}"/>
              </a:ext>
            </a:extLst>
          </p:cNvPr>
          <p:cNvSpPr/>
          <p:nvPr/>
        </p:nvSpPr>
        <p:spPr>
          <a:xfrm>
            <a:off x="8477250" y="393382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A19D37-F73D-72E1-54FA-A62A5953ED5B}"/>
              </a:ext>
            </a:extLst>
          </p:cNvPr>
          <p:cNvSpPr/>
          <p:nvPr/>
        </p:nvSpPr>
        <p:spPr>
          <a:xfrm>
            <a:off x="8467725" y="4267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9858D6-F165-3C7F-D367-A859FDB87035}"/>
              </a:ext>
            </a:extLst>
          </p:cNvPr>
          <p:cNvSpPr/>
          <p:nvPr/>
        </p:nvSpPr>
        <p:spPr>
          <a:xfrm>
            <a:off x="8467725" y="4648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ED6952-4B04-6E0F-4CFF-BE4E2E85AF88}"/>
              </a:ext>
            </a:extLst>
          </p:cNvPr>
          <p:cNvSpPr/>
          <p:nvPr/>
        </p:nvSpPr>
        <p:spPr>
          <a:xfrm>
            <a:off x="10210800" y="3933825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110D52-29E8-93FD-510B-DD9A90BAB4A8}"/>
              </a:ext>
            </a:extLst>
          </p:cNvPr>
          <p:cNvSpPr/>
          <p:nvPr/>
        </p:nvSpPr>
        <p:spPr>
          <a:xfrm>
            <a:off x="10201275" y="4267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CFDAE2-F193-C245-00A1-4F04247573F1}"/>
              </a:ext>
            </a:extLst>
          </p:cNvPr>
          <p:cNvSpPr/>
          <p:nvPr/>
        </p:nvSpPr>
        <p:spPr>
          <a:xfrm>
            <a:off x="10201275" y="4648200"/>
            <a:ext cx="175248" cy="161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84D815-899F-288F-4D81-E564046263D1}"/>
              </a:ext>
            </a:extLst>
          </p:cNvPr>
          <p:cNvSpPr txBox="1"/>
          <p:nvPr/>
        </p:nvSpPr>
        <p:spPr>
          <a:xfrm>
            <a:off x="6985623" y="6456583"/>
            <a:ext cx="4521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Press the Save button even if no checkbox is selected</a:t>
            </a:r>
            <a:endParaRPr lang="en-AE" sz="1400" b="1" dirty="0"/>
          </a:p>
        </p:txBody>
      </p:sp>
      <p:pic>
        <p:nvPicPr>
          <p:cNvPr id="34" name="Picture 33" descr="Loudspeaker - Free marketing icons">
            <a:extLst>
              <a:ext uri="{FF2B5EF4-FFF2-40B4-BE49-F238E27FC236}">
                <a16:creationId xmlns:a16="http://schemas.microsoft.com/office/drawing/2014/main" id="{E9F599AB-9EBD-C4A8-BE55-63EF0431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973" y="6022152"/>
            <a:ext cx="503023" cy="50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D843B94-4628-9BBC-E33D-6DFA3211E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715761"/>
              </p:ext>
            </p:extLst>
          </p:nvPr>
        </p:nvGraphicFramePr>
        <p:xfrm>
          <a:off x="133724" y="942536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Quantitative-Event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FE7DDEC3-9533-8AE2-CB9A-CE38A06AC33F}"/>
              </a:ext>
            </a:extLst>
          </p:cNvPr>
          <p:cNvSpPr/>
          <p:nvPr/>
        </p:nvSpPr>
        <p:spPr>
          <a:xfrm>
            <a:off x="121835" y="1612325"/>
            <a:ext cx="11753007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Services: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Service 1, Service 2, Service 3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00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612A-EDEC-31C7-8B6E-3F426188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91A0D3-5B54-D9D8-2400-3A5368333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826393"/>
              </p:ext>
            </p:extLst>
          </p:nvPr>
        </p:nvGraphicFramePr>
        <p:xfrm>
          <a:off x="121836" y="2542902"/>
          <a:ext cx="11733115" cy="326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085">
                  <a:extLst>
                    <a:ext uri="{9D8B030D-6E8A-4147-A177-3AD203B41FA5}">
                      <a16:colId xmlns:a16="http://schemas.microsoft.com/office/drawing/2014/main" val="440325307"/>
                    </a:ext>
                  </a:extLst>
                </a:gridCol>
                <a:gridCol w="647472">
                  <a:extLst>
                    <a:ext uri="{9D8B030D-6E8A-4147-A177-3AD203B41FA5}">
                      <a16:colId xmlns:a16="http://schemas.microsoft.com/office/drawing/2014/main" val="3978495210"/>
                    </a:ext>
                  </a:extLst>
                </a:gridCol>
                <a:gridCol w="3210738">
                  <a:extLst>
                    <a:ext uri="{9D8B030D-6E8A-4147-A177-3AD203B41FA5}">
                      <a16:colId xmlns:a16="http://schemas.microsoft.com/office/drawing/2014/main" val="2691663188"/>
                    </a:ext>
                  </a:extLst>
                </a:gridCol>
                <a:gridCol w="2251664">
                  <a:extLst>
                    <a:ext uri="{9D8B030D-6E8A-4147-A177-3AD203B41FA5}">
                      <a16:colId xmlns:a16="http://schemas.microsoft.com/office/drawing/2014/main" val="1873057410"/>
                    </a:ext>
                  </a:extLst>
                </a:gridCol>
                <a:gridCol w="4933156">
                  <a:extLst>
                    <a:ext uri="{9D8B030D-6E8A-4147-A177-3AD203B41FA5}">
                      <a16:colId xmlns:a16="http://schemas.microsoft.com/office/drawing/2014/main" val="161044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Applicable</a:t>
                      </a:r>
                      <a:endParaRPr lang="en-A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No.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Controls (as per ISO 27001:2022 Annex A)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Vulnerability level due to control gaps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1435"/>
                  </a:ext>
                </a:extLst>
              </a:tr>
              <a:tr h="252104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Policies for information security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81296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Threat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AT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3128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Information security in project 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92184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Inventory of information and  other associated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12729"/>
                  </a:ext>
                </a:extLst>
              </a:tr>
              <a:tr h="235132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5.12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Classification of information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78792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Labelling of information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32601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Information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11108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Information security in supplier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659136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Addressing information security within supplier agreements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84768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Managing information security in the information and communication technology (ICT)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319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1CC84C-1F25-2BB0-5F8B-C944ABAA65D6}"/>
              </a:ext>
            </a:extLst>
          </p:cNvPr>
          <p:cNvSpPr txBox="1"/>
          <p:nvPr/>
        </p:nvSpPr>
        <p:spPr>
          <a:xfrm>
            <a:off x="121836" y="1982295"/>
            <a:ext cx="12012123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evaluating gaps in applicable controls, update the strategic scenarios of adverse impacts</a:t>
            </a:r>
            <a:endParaRPr lang="en-AE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8002D9-5343-DDD1-16D1-A96C51C1B4D5}"/>
              </a:ext>
            </a:extLst>
          </p:cNvPr>
          <p:cNvSpPr/>
          <p:nvPr/>
        </p:nvSpPr>
        <p:spPr>
          <a:xfrm>
            <a:off x="405606" y="2827395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DBC61-3A19-3EB4-E8B8-9FDDBA2E780B}"/>
              </a:ext>
            </a:extLst>
          </p:cNvPr>
          <p:cNvSpPr/>
          <p:nvPr/>
        </p:nvSpPr>
        <p:spPr>
          <a:xfrm>
            <a:off x="475275" y="3190971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C90AF0-0E71-0DFC-BA68-FDA4FFDC322D}"/>
              </a:ext>
            </a:extLst>
          </p:cNvPr>
          <p:cNvSpPr/>
          <p:nvPr/>
        </p:nvSpPr>
        <p:spPr>
          <a:xfrm>
            <a:off x="475275" y="3447876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224638-5E27-D02A-E0AF-7A31AECD33B4}"/>
              </a:ext>
            </a:extLst>
          </p:cNvPr>
          <p:cNvSpPr/>
          <p:nvPr/>
        </p:nvSpPr>
        <p:spPr>
          <a:xfrm>
            <a:off x="475275" y="3700423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08B959-D73E-FD74-4A8F-B32F77378A58}"/>
              </a:ext>
            </a:extLst>
          </p:cNvPr>
          <p:cNvSpPr/>
          <p:nvPr/>
        </p:nvSpPr>
        <p:spPr>
          <a:xfrm>
            <a:off x="475275" y="3960764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561876-EB18-9E71-38E8-AE40832879FA}"/>
              </a:ext>
            </a:extLst>
          </p:cNvPr>
          <p:cNvSpPr/>
          <p:nvPr/>
        </p:nvSpPr>
        <p:spPr>
          <a:xfrm>
            <a:off x="475275" y="4218171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4DBA8B-984B-8476-E28C-F24AF7B00E98}"/>
              </a:ext>
            </a:extLst>
          </p:cNvPr>
          <p:cNvSpPr/>
          <p:nvPr/>
        </p:nvSpPr>
        <p:spPr>
          <a:xfrm>
            <a:off x="475275" y="4472152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7405C-92DC-5FD2-C292-99660AD283B7}"/>
              </a:ext>
            </a:extLst>
          </p:cNvPr>
          <p:cNvSpPr/>
          <p:nvPr/>
        </p:nvSpPr>
        <p:spPr>
          <a:xfrm>
            <a:off x="475275" y="4724699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6E7F28-CCE6-3B89-74DF-4BB49FFFEE2F}"/>
              </a:ext>
            </a:extLst>
          </p:cNvPr>
          <p:cNvSpPr/>
          <p:nvPr/>
        </p:nvSpPr>
        <p:spPr>
          <a:xfrm>
            <a:off x="475275" y="4985040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FA18CF-8E4D-C1EE-A64B-58881E16FCB9}"/>
              </a:ext>
            </a:extLst>
          </p:cNvPr>
          <p:cNvSpPr/>
          <p:nvPr/>
        </p:nvSpPr>
        <p:spPr>
          <a:xfrm>
            <a:off x="475275" y="5210548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B68E5D-4B37-7365-3075-A354178BA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352278"/>
              </p:ext>
            </p:extLst>
          </p:nvPr>
        </p:nvGraphicFramePr>
        <p:xfrm>
          <a:off x="4775115" y="3058244"/>
          <a:ext cx="1932915" cy="15096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2915">
                  <a:extLst>
                    <a:ext uri="{9D8B030D-6E8A-4147-A177-3AD203B41FA5}">
                      <a16:colId xmlns:a16="http://schemas.microsoft.com/office/drawing/2014/main" val="3373528073"/>
                    </a:ext>
                  </a:extLst>
                </a:gridCol>
              </a:tblGrid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High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905118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0225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Medium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30957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174610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422301"/>
                  </a:ext>
                </a:extLst>
              </a:tr>
            </a:tbl>
          </a:graphicData>
        </a:graphic>
      </p:graphicFrame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1F77732-061A-6B35-0BA2-45FF62F5CCB3}"/>
              </a:ext>
            </a:extLst>
          </p:cNvPr>
          <p:cNvSpPr/>
          <p:nvPr/>
        </p:nvSpPr>
        <p:spPr>
          <a:xfrm rot="10800000">
            <a:off x="6305957" y="3106714"/>
            <a:ext cx="308344" cy="29609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95B9D3-3FE2-CD73-32A3-E170FED0CFB2}"/>
              </a:ext>
            </a:extLst>
          </p:cNvPr>
          <p:cNvSpPr txBox="1"/>
          <p:nvPr/>
        </p:nvSpPr>
        <p:spPr>
          <a:xfrm>
            <a:off x="4485381" y="4874834"/>
            <a:ext cx="237262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One drop down box per row</a:t>
            </a:r>
            <a:endParaRPr lang="en-AE" sz="12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36DC1A-BCE2-DD0E-5808-6FFB32B5D8F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671691" y="4624454"/>
            <a:ext cx="538153" cy="250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D1AA57D-C0AD-A801-0945-141704B2C664}"/>
              </a:ext>
            </a:extLst>
          </p:cNvPr>
          <p:cNvSpPr/>
          <p:nvPr/>
        </p:nvSpPr>
        <p:spPr>
          <a:xfrm>
            <a:off x="9656114" y="6190369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B002E1-B0F6-B134-A54E-F68A5F691EB0}"/>
              </a:ext>
            </a:extLst>
          </p:cNvPr>
          <p:cNvSpPr/>
          <p:nvPr/>
        </p:nvSpPr>
        <p:spPr>
          <a:xfrm>
            <a:off x="10914305" y="6190369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  <a:endParaRPr lang="en-A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9ECF07-CD18-7708-71B4-9377CB001301}"/>
              </a:ext>
            </a:extLst>
          </p:cNvPr>
          <p:cNvSpPr/>
          <p:nvPr/>
        </p:nvSpPr>
        <p:spPr>
          <a:xfrm>
            <a:off x="8397923" y="620631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A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4D3DDD-0F50-8B13-B5F9-1C2AB2031372}"/>
              </a:ext>
            </a:extLst>
          </p:cNvPr>
          <p:cNvSpPr/>
          <p:nvPr/>
        </p:nvSpPr>
        <p:spPr>
          <a:xfrm>
            <a:off x="4945864" y="6206318"/>
            <a:ext cx="3267758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Services &amp; Assets Page</a:t>
            </a:r>
            <a:endParaRPr lang="en-AE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7DA53C-05B1-E5A1-22D7-A0ADA08A49B8}"/>
              </a:ext>
            </a:extLst>
          </p:cNvPr>
          <p:cNvSpPr txBox="1"/>
          <p:nvPr/>
        </p:nvSpPr>
        <p:spPr>
          <a:xfrm>
            <a:off x="132026" y="5924823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BEF356A-4A14-B55A-7076-F8DDABB18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659793"/>
              </p:ext>
            </p:extLst>
          </p:nvPr>
        </p:nvGraphicFramePr>
        <p:xfrm>
          <a:off x="3136837" y="5380955"/>
          <a:ext cx="1362913" cy="15096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2913">
                  <a:extLst>
                    <a:ext uri="{9D8B030D-6E8A-4147-A177-3AD203B41FA5}">
                      <a16:colId xmlns:a16="http://schemas.microsoft.com/office/drawing/2014/main" val="3373528073"/>
                    </a:ext>
                  </a:extLst>
                </a:gridCol>
              </a:tblGrid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High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905118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0225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Medium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30957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174610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422301"/>
                  </a:ext>
                </a:extLst>
              </a:tr>
            </a:tbl>
          </a:graphicData>
        </a:graphic>
      </p:graphicFrame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8B4C2760-E34D-EB82-323A-33BC3766995D}"/>
              </a:ext>
            </a:extLst>
          </p:cNvPr>
          <p:cNvSpPr/>
          <p:nvPr/>
        </p:nvSpPr>
        <p:spPr>
          <a:xfrm rot="10800000">
            <a:off x="4089486" y="5405082"/>
            <a:ext cx="308344" cy="29609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F14909-FC53-275D-651B-483C8085F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783"/>
            <a:ext cx="6630325" cy="51442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F599DB5-FEED-81D2-8E79-3FD321B5E0F3}"/>
              </a:ext>
            </a:extLst>
          </p:cNvPr>
          <p:cNvSpPr/>
          <p:nvPr/>
        </p:nvSpPr>
        <p:spPr>
          <a:xfrm>
            <a:off x="6336738" y="1655643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E4DFB7-DD69-EF02-E31C-19D73BEB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05" y="5442"/>
            <a:ext cx="11909990" cy="905001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00D7AAD-22A9-4D88-3465-8E8CEA9DC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533951"/>
              </p:ext>
            </p:extLst>
          </p:nvPr>
        </p:nvGraphicFramePr>
        <p:xfrm>
          <a:off x="133724" y="90547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307F874B-EDB9-DDC7-5216-BFE5C97CA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966" y="2254784"/>
            <a:ext cx="5060228" cy="34528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8870D0E-C2CD-D28C-4ECE-6B6A53145C3E}"/>
              </a:ext>
            </a:extLst>
          </p:cNvPr>
          <p:cNvSpPr txBox="1"/>
          <p:nvPr/>
        </p:nvSpPr>
        <p:spPr>
          <a:xfrm>
            <a:off x="10035235" y="3442779"/>
            <a:ext cx="202292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b="1" dirty="0"/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a new form when icon is clicked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Service: Service1</a:t>
            </a: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Asset Component: AC1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u="sng" dirty="0">
                <a:latin typeface="Arial" panose="020B0604020202020204" pitchFamily="34" charset="0"/>
                <a:cs typeface="Arial" panose="020B0604020202020204" pitchFamily="34" charset="0"/>
              </a:rPr>
              <a:t>Risk Sources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u="sng" dirty="0">
                <a:latin typeface="Arial" panose="020B0604020202020204" pitchFamily="34" charset="0"/>
                <a:cs typeface="Arial" panose="020B0604020202020204" pitchFamily="34" charset="0"/>
              </a:rPr>
              <a:t>Target Objectives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u="sng" dirty="0">
                <a:latin typeface="Arial" panose="020B0604020202020204" pitchFamily="34" charset="0"/>
                <a:cs typeface="Arial" panose="020B0604020202020204" pitchFamily="34" charset="0"/>
              </a:rPr>
              <a:t>Threats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endParaRPr lang="en-AE" sz="1000" b="1" dirty="0"/>
          </a:p>
        </p:txBody>
      </p:sp>
    </p:spTree>
    <p:extLst>
      <p:ext uri="{BB962C8B-B14F-4D97-AF65-F5344CB8AC3E}">
        <p14:creationId xmlns:p14="http://schemas.microsoft.com/office/powerpoint/2010/main" val="355851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0A7C-0CA2-8B51-7314-1D0DBBC5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01F592-A5EC-2905-A014-6D84D2DE5C76}"/>
              </a:ext>
            </a:extLst>
          </p:cNvPr>
          <p:cNvSpPr txBox="1"/>
          <p:nvPr/>
        </p:nvSpPr>
        <p:spPr>
          <a:xfrm>
            <a:off x="93734" y="2297529"/>
            <a:ext cx="11761215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the likelihood of each DATA CONFIDENTIALITY scenario that could materialize in a finite timeframe</a:t>
            </a:r>
            <a:endParaRPr lang="en-AE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88131-3468-1F07-ED50-84F47DDBF241}"/>
              </a:ext>
            </a:extLst>
          </p:cNvPr>
          <p:cNvSpPr txBox="1"/>
          <p:nvPr/>
        </p:nvSpPr>
        <p:spPr>
          <a:xfrm>
            <a:off x="157534" y="287381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F0D2E-A88E-B3AC-4BC7-B3F2F44CE54D}"/>
              </a:ext>
            </a:extLst>
          </p:cNvPr>
          <p:cNvSpPr txBox="1"/>
          <p:nvPr/>
        </p:nvSpPr>
        <p:spPr>
          <a:xfrm>
            <a:off x="157534" y="323821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75FFEF-1624-44A8-F8EF-021B3FC38964}"/>
              </a:ext>
            </a:extLst>
          </p:cNvPr>
          <p:cNvSpPr/>
          <p:nvPr/>
        </p:nvSpPr>
        <p:spPr>
          <a:xfrm>
            <a:off x="4284921" y="287381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6B8D7FF-8FBD-9CA1-5847-57E429329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18" y="4606225"/>
            <a:ext cx="4112029" cy="19422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277302F-BF56-B9C1-0A31-F2C17ABE4967}"/>
              </a:ext>
            </a:extLst>
          </p:cNvPr>
          <p:cNvSpPr txBox="1"/>
          <p:nvPr/>
        </p:nvSpPr>
        <p:spPr>
          <a:xfrm>
            <a:off x="148841" y="3619116"/>
            <a:ext cx="851412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the DATA CONFIDENTIALITY adverse scenario will materialize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E4D39B-37D2-08ED-AA1A-BD8010CC5F4B}"/>
              </a:ext>
            </a:extLst>
          </p:cNvPr>
          <p:cNvSpPr txBox="1"/>
          <p:nvPr/>
        </p:nvSpPr>
        <p:spPr>
          <a:xfrm>
            <a:off x="148841" y="398678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E4CD8E-8F67-F641-3589-9890BB98DBBA}"/>
              </a:ext>
            </a:extLst>
          </p:cNvPr>
          <p:cNvSpPr/>
          <p:nvPr/>
        </p:nvSpPr>
        <p:spPr>
          <a:xfrm>
            <a:off x="1448309" y="399633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249C08-6B05-4956-A870-20FF75D75CCD}"/>
              </a:ext>
            </a:extLst>
          </p:cNvPr>
          <p:cNvSpPr/>
          <p:nvPr/>
        </p:nvSpPr>
        <p:spPr>
          <a:xfrm>
            <a:off x="4284921" y="400648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3A29C13-A177-9073-9D41-CDBD75822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992894"/>
              </p:ext>
            </p:extLst>
          </p:nvPr>
        </p:nvGraphicFramePr>
        <p:xfrm>
          <a:off x="162754" y="4583395"/>
          <a:ext cx="657064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064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Select</a:t>
                      </a:r>
                      <a:endParaRPr lang="en-A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7842237F-F650-3B5B-62B4-E3925CE07663}"/>
              </a:ext>
            </a:extLst>
          </p:cNvPr>
          <p:cNvSpPr/>
          <p:nvPr/>
        </p:nvSpPr>
        <p:spPr>
          <a:xfrm>
            <a:off x="395492" y="491928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B45F40E-216D-FBB7-BB45-06B54E8BA917}"/>
              </a:ext>
            </a:extLst>
          </p:cNvPr>
          <p:cNvSpPr/>
          <p:nvPr/>
        </p:nvSpPr>
        <p:spPr>
          <a:xfrm>
            <a:off x="395492" y="526700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CDCB87-CCDC-0237-5340-8F8252FC167A}"/>
              </a:ext>
            </a:extLst>
          </p:cNvPr>
          <p:cNvSpPr/>
          <p:nvPr/>
        </p:nvSpPr>
        <p:spPr>
          <a:xfrm>
            <a:off x="395492" y="563774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8D00EA2-6B5C-0CB6-30B4-FDF6480D8BB9}"/>
              </a:ext>
            </a:extLst>
          </p:cNvPr>
          <p:cNvSpPr/>
          <p:nvPr/>
        </p:nvSpPr>
        <p:spPr>
          <a:xfrm>
            <a:off x="395492" y="59854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713BEED-C2CE-0A60-37E1-6A808170C049}"/>
              </a:ext>
            </a:extLst>
          </p:cNvPr>
          <p:cNvSpPr/>
          <p:nvPr/>
        </p:nvSpPr>
        <p:spPr>
          <a:xfrm>
            <a:off x="395492" y="635619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70F86D-A3EE-7017-4EE6-FD962DCFBB41}"/>
              </a:ext>
            </a:extLst>
          </p:cNvPr>
          <p:cNvSpPr/>
          <p:nvPr/>
        </p:nvSpPr>
        <p:spPr>
          <a:xfrm>
            <a:off x="985047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DF8B9B-0730-E5E6-D65E-CBB4DC6802E6}"/>
              </a:ext>
            </a:extLst>
          </p:cNvPr>
          <p:cNvSpPr/>
          <p:nvPr/>
        </p:nvSpPr>
        <p:spPr>
          <a:xfrm>
            <a:off x="1103834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84A752-7CD5-6F76-269A-0A72AC120D84}"/>
              </a:ext>
            </a:extLst>
          </p:cNvPr>
          <p:cNvSpPr/>
          <p:nvPr/>
        </p:nvSpPr>
        <p:spPr>
          <a:xfrm>
            <a:off x="8675823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692981-D1A8-DAA1-AB42-0827B084411B}"/>
              </a:ext>
            </a:extLst>
          </p:cNvPr>
          <p:cNvSpPr/>
          <p:nvPr/>
        </p:nvSpPr>
        <p:spPr>
          <a:xfrm>
            <a:off x="6496481" y="617634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F3B11-71EE-D17E-04C0-8F0062CA1055}"/>
              </a:ext>
            </a:extLst>
          </p:cNvPr>
          <p:cNvSpPr/>
          <p:nvPr/>
        </p:nvSpPr>
        <p:spPr>
          <a:xfrm>
            <a:off x="4284921" y="326118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CB9B7-7998-1A87-AF4E-1059B62857DF}"/>
              </a:ext>
            </a:extLst>
          </p:cNvPr>
          <p:cNvSpPr txBox="1"/>
          <p:nvPr/>
        </p:nvSpPr>
        <p:spPr>
          <a:xfrm>
            <a:off x="158849" y="427367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81AC0F-D772-BCA7-1963-E7953A5FC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0205"/>
            <a:ext cx="6630325" cy="5144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10777E0-0B67-D655-A8CB-4596AF4AF47C}"/>
              </a:ext>
            </a:extLst>
          </p:cNvPr>
          <p:cNvSpPr/>
          <p:nvPr/>
        </p:nvSpPr>
        <p:spPr>
          <a:xfrm>
            <a:off x="6438015" y="1906875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20CFAF-9E44-DBD5-995C-A5DE94499A35}"/>
              </a:ext>
            </a:extLst>
          </p:cNvPr>
          <p:cNvSpPr txBox="1"/>
          <p:nvPr/>
        </p:nvSpPr>
        <p:spPr>
          <a:xfrm>
            <a:off x="93734" y="2574528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CONFIDENTIALITY Adverse Strategic Scenario 1: </a:t>
            </a:r>
            <a:r>
              <a:rPr lang="en-US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13179-6AA6-9E77-B7B8-641CF7DAA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05" y="5442"/>
            <a:ext cx="11909990" cy="90500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45F7D5-0EA9-D6EA-4189-F1C81529E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676191"/>
              </p:ext>
            </p:extLst>
          </p:nvPr>
        </p:nvGraphicFramePr>
        <p:xfrm>
          <a:off x="133724" y="90547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89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1E1B0-26C1-E54B-B9D9-1FA1CC93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387204-FC6E-D2C3-6DE1-395DBEDCBFF5}"/>
              </a:ext>
            </a:extLst>
          </p:cNvPr>
          <p:cNvSpPr txBox="1"/>
          <p:nvPr/>
        </p:nvSpPr>
        <p:spPr>
          <a:xfrm>
            <a:off x="93734" y="2297529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the likelihood of each DATA CONFIDENTIALITY scenario that could materialize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159B0-79E2-5E44-AAE4-15A832F849E7}"/>
              </a:ext>
            </a:extLst>
          </p:cNvPr>
          <p:cNvSpPr txBox="1"/>
          <p:nvPr/>
        </p:nvSpPr>
        <p:spPr>
          <a:xfrm>
            <a:off x="157534" y="2873811"/>
            <a:ext cx="3135795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66B7CB-3C3A-F848-1A81-753ADFA91282}"/>
              </a:ext>
            </a:extLst>
          </p:cNvPr>
          <p:cNvSpPr txBox="1"/>
          <p:nvPr/>
        </p:nvSpPr>
        <p:spPr>
          <a:xfrm>
            <a:off x="157534" y="323821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31B373-4CCB-7AC3-8E1D-8F6A7F908C4C}"/>
              </a:ext>
            </a:extLst>
          </p:cNvPr>
          <p:cNvSpPr/>
          <p:nvPr/>
        </p:nvSpPr>
        <p:spPr>
          <a:xfrm>
            <a:off x="4284921" y="287381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CD01CC-FDEC-7A6D-4B58-F450C718F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18" y="4606225"/>
            <a:ext cx="4112029" cy="19422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A568E51-0F61-D473-15E9-E8AD42E2754F}"/>
              </a:ext>
            </a:extLst>
          </p:cNvPr>
          <p:cNvSpPr txBox="1"/>
          <p:nvPr/>
        </p:nvSpPr>
        <p:spPr>
          <a:xfrm>
            <a:off x="148841" y="3619116"/>
            <a:ext cx="8464433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the DATA CONFIDENTIALITY adverse scenario will materialize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0FE084-5913-8B3C-882F-3BD8881E92D4}"/>
              </a:ext>
            </a:extLst>
          </p:cNvPr>
          <p:cNvSpPr txBox="1"/>
          <p:nvPr/>
        </p:nvSpPr>
        <p:spPr>
          <a:xfrm>
            <a:off x="148841" y="398678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5D08A6-B1D7-2C41-EF1A-7269D8BB895A}"/>
              </a:ext>
            </a:extLst>
          </p:cNvPr>
          <p:cNvSpPr/>
          <p:nvPr/>
        </p:nvSpPr>
        <p:spPr>
          <a:xfrm>
            <a:off x="1448309" y="399633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D8022-F32A-A2F1-D17A-46DFC6BF73C8}"/>
              </a:ext>
            </a:extLst>
          </p:cNvPr>
          <p:cNvSpPr/>
          <p:nvPr/>
        </p:nvSpPr>
        <p:spPr>
          <a:xfrm>
            <a:off x="4284921" y="400648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BD9AF45-990C-ABF0-CEAE-6326CCB22550}"/>
              </a:ext>
            </a:extLst>
          </p:cNvPr>
          <p:cNvGraphicFramePr>
            <a:graphicFrameLocks noGrp="1"/>
          </p:cNvGraphicFramePr>
          <p:nvPr/>
        </p:nvGraphicFramePr>
        <p:xfrm>
          <a:off x="162754" y="4583395"/>
          <a:ext cx="657064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064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Select</a:t>
                      </a:r>
                      <a:endParaRPr lang="en-A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A8ED2B77-A5E2-6945-EBA7-4BC76233F0C8}"/>
              </a:ext>
            </a:extLst>
          </p:cNvPr>
          <p:cNvSpPr/>
          <p:nvPr/>
        </p:nvSpPr>
        <p:spPr>
          <a:xfrm>
            <a:off x="395492" y="491928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0E5B62-320D-5FB6-338D-B3C92D09FAD7}"/>
              </a:ext>
            </a:extLst>
          </p:cNvPr>
          <p:cNvSpPr/>
          <p:nvPr/>
        </p:nvSpPr>
        <p:spPr>
          <a:xfrm>
            <a:off x="395492" y="526700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338F52-1FB0-D42E-34C5-46D1A0316F99}"/>
              </a:ext>
            </a:extLst>
          </p:cNvPr>
          <p:cNvSpPr/>
          <p:nvPr/>
        </p:nvSpPr>
        <p:spPr>
          <a:xfrm>
            <a:off x="395492" y="563774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AEA7D5D-E50B-859F-8ACF-5A86E3F486FB}"/>
              </a:ext>
            </a:extLst>
          </p:cNvPr>
          <p:cNvSpPr/>
          <p:nvPr/>
        </p:nvSpPr>
        <p:spPr>
          <a:xfrm>
            <a:off x="395492" y="59854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08F5474-7CAE-8D0B-8CFF-05522401394D}"/>
              </a:ext>
            </a:extLst>
          </p:cNvPr>
          <p:cNvSpPr/>
          <p:nvPr/>
        </p:nvSpPr>
        <p:spPr>
          <a:xfrm>
            <a:off x="395492" y="635619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1FC3FF-9551-6E76-CCB8-1A2378D43B9B}"/>
              </a:ext>
            </a:extLst>
          </p:cNvPr>
          <p:cNvSpPr/>
          <p:nvPr/>
        </p:nvSpPr>
        <p:spPr>
          <a:xfrm>
            <a:off x="985047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767875-0946-A334-E2FA-2450453AF0A0}"/>
              </a:ext>
            </a:extLst>
          </p:cNvPr>
          <p:cNvSpPr/>
          <p:nvPr/>
        </p:nvSpPr>
        <p:spPr>
          <a:xfrm>
            <a:off x="1103834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43632B-9158-3C87-B2A0-99BC41FF6659}"/>
              </a:ext>
            </a:extLst>
          </p:cNvPr>
          <p:cNvSpPr/>
          <p:nvPr/>
        </p:nvSpPr>
        <p:spPr>
          <a:xfrm>
            <a:off x="8675823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6725EC-AB70-88F3-24F6-7CDE636428C7}"/>
              </a:ext>
            </a:extLst>
          </p:cNvPr>
          <p:cNvSpPr/>
          <p:nvPr/>
        </p:nvSpPr>
        <p:spPr>
          <a:xfrm>
            <a:off x="6496481" y="617634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1EB7FD-8637-F8D4-8E5D-1714DB4F6B8D}"/>
              </a:ext>
            </a:extLst>
          </p:cNvPr>
          <p:cNvSpPr/>
          <p:nvPr/>
        </p:nvSpPr>
        <p:spPr>
          <a:xfrm>
            <a:off x="4284921" y="326118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69D11-EA05-96AC-2288-EB45B2F691D9}"/>
              </a:ext>
            </a:extLst>
          </p:cNvPr>
          <p:cNvSpPr txBox="1"/>
          <p:nvPr/>
        </p:nvSpPr>
        <p:spPr>
          <a:xfrm>
            <a:off x="158849" y="427367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E5651-A10F-39AA-403A-AA851B772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8594"/>
            <a:ext cx="6630325" cy="5144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11EE61-9595-F314-2C50-A22A41F11E75}"/>
              </a:ext>
            </a:extLst>
          </p:cNvPr>
          <p:cNvSpPr/>
          <p:nvPr/>
        </p:nvSpPr>
        <p:spPr>
          <a:xfrm>
            <a:off x="6336738" y="1953454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32A40-48B4-0B02-F1C1-A28151981146}"/>
              </a:ext>
            </a:extLst>
          </p:cNvPr>
          <p:cNvSpPr txBox="1"/>
          <p:nvPr/>
        </p:nvSpPr>
        <p:spPr>
          <a:xfrm>
            <a:off x="93734" y="2574528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CONFIDENTIALITY Adverse Strategic Scenario 2: </a:t>
            </a:r>
            <a:r>
              <a:rPr lang="en-US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CD14D-F613-592F-82F0-3C4BCE3BE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05" y="5442"/>
            <a:ext cx="11909990" cy="90500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B6E5EE8-7970-78FD-9075-173EF93B8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43519"/>
              </p:ext>
            </p:extLst>
          </p:nvPr>
        </p:nvGraphicFramePr>
        <p:xfrm>
          <a:off x="133724" y="90547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98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0682-7293-EEF8-FF3E-F1B5BBB14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E37108-3245-C5F3-8825-6C2686444ACD}"/>
              </a:ext>
            </a:extLst>
          </p:cNvPr>
          <p:cNvSpPr txBox="1"/>
          <p:nvPr/>
        </p:nvSpPr>
        <p:spPr>
          <a:xfrm>
            <a:off x="93734" y="2297529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the likelihood of each DATA INTEGRITY scenario that could materialize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E3E6B-B510-B7E8-523E-1514ECB41AD1}"/>
              </a:ext>
            </a:extLst>
          </p:cNvPr>
          <p:cNvSpPr txBox="1"/>
          <p:nvPr/>
        </p:nvSpPr>
        <p:spPr>
          <a:xfrm>
            <a:off x="157534" y="287381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007140-8C63-AD70-6DF1-5211C2A4B021}"/>
              </a:ext>
            </a:extLst>
          </p:cNvPr>
          <p:cNvSpPr txBox="1"/>
          <p:nvPr/>
        </p:nvSpPr>
        <p:spPr>
          <a:xfrm>
            <a:off x="157534" y="323821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208A45-F7F2-C77E-F01C-A7F6DFA02D70}"/>
              </a:ext>
            </a:extLst>
          </p:cNvPr>
          <p:cNvSpPr/>
          <p:nvPr/>
        </p:nvSpPr>
        <p:spPr>
          <a:xfrm>
            <a:off x="4284921" y="287381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F285975-DD0D-0C7B-6C43-3E69711B1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18" y="4606225"/>
            <a:ext cx="4112029" cy="19422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1CDA3E9-1D26-0357-FE65-7CD79788BDC9}"/>
              </a:ext>
            </a:extLst>
          </p:cNvPr>
          <p:cNvSpPr txBox="1"/>
          <p:nvPr/>
        </p:nvSpPr>
        <p:spPr>
          <a:xfrm>
            <a:off x="148841" y="3619116"/>
            <a:ext cx="780720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the DATA INTEGRITY adverse scenario will materialize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4BBD71-CAE1-C9D5-6FA3-3DAE73E4191E}"/>
              </a:ext>
            </a:extLst>
          </p:cNvPr>
          <p:cNvSpPr txBox="1"/>
          <p:nvPr/>
        </p:nvSpPr>
        <p:spPr>
          <a:xfrm>
            <a:off x="148841" y="398678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BBE0EE-24C1-1B2C-20D3-647F530A344A}"/>
              </a:ext>
            </a:extLst>
          </p:cNvPr>
          <p:cNvSpPr/>
          <p:nvPr/>
        </p:nvSpPr>
        <p:spPr>
          <a:xfrm>
            <a:off x="1448309" y="399633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CEABFF-797A-B7DA-3627-AA5D30A0D1FB}"/>
              </a:ext>
            </a:extLst>
          </p:cNvPr>
          <p:cNvSpPr/>
          <p:nvPr/>
        </p:nvSpPr>
        <p:spPr>
          <a:xfrm>
            <a:off x="4284921" y="400648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525575C-CC59-369F-22B8-C5123AEFCE68}"/>
              </a:ext>
            </a:extLst>
          </p:cNvPr>
          <p:cNvGraphicFramePr>
            <a:graphicFrameLocks noGrp="1"/>
          </p:cNvGraphicFramePr>
          <p:nvPr/>
        </p:nvGraphicFramePr>
        <p:xfrm>
          <a:off x="162754" y="4583395"/>
          <a:ext cx="657064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064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Select</a:t>
                      </a:r>
                      <a:endParaRPr lang="en-A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25ECE008-7E66-3386-05CC-158D2219EDD1}"/>
              </a:ext>
            </a:extLst>
          </p:cNvPr>
          <p:cNvSpPr/>
          <p:nvPr/>
        </p:nvSpPr>
        <p:spPr>
          <a:xfrm>
            <a:off x="395492" y="491928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57DEDB-7243-0FB1-3384-116C9ADA490E}"/>
              </a:ext>
            </a:extLst>
          </p:cNvPr>
          <p:cNvSpPr/>
          <p:nvPr/>
        </p:nvSpPr>
        <p:spPr>
          <a:xfrm>
            <a:off x="395492" y="526700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DFD0DB1-039D-4D36-179F-7A6ABAA7F7AD}"/>
              </a:ext>
            </a:extLst>
          </p:cNvPr>
          <p:cNvSpPr/>
          <p:nvPr/>
        </p:nvSpPr>
        <p:spPr>
          <a:xfrm>
            <a:off x="395492" y="563774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CE2590-D94D-7D6F-B08F-C866B9D32F58}"/>
              </a:ext>
            </a:extLst>
          </p:cNvPr>
          <p:cNvSpPr/>
          <p:nvPr/>
        </p:nvSpPr>
        <p:spPr>
          <a:xfrm>
            <a:off x="395492" y="59854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AEBA9DC-783E-D8F8-BDC4-81C307BA924A}"/>
              </a:ext>
            </a:extLst>
          </p:cNvPr>
          <p:cNvSpPr/>
          <p:nvPr/>
        </p:nvSpPr>
        <p:spPr>
          <a:xfrm>
            <a:off x="395492" y="635619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158D3D-A005-AC1F-9724-0C0CC8FA7265}"/>
              </a:ext>
            </a:extLst>
          </p:cNvPr>
          <p:cNvSpPr/>
          <p:nvPr/>
        </p:nvSpPr>
        <p:spPr>
          <a:xfrm>
            <a:off x="985047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47F27D-C2D0-6B29-D423-2CCEB8C62E93}"/>
              </a:ext>
            </a:extLst>
          </p:cNvPr>
          <p:cNvSpPr/>
          <p:nvPr/>
        </p:nvSpPr>
        <p:spPr>
          <a:xfrm>
            <a:off x="1103834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CC15E7-9607-D5A1-0FA6-C97B543F952D}"/>
              </a:ext>
            </a:extLst>
          </p:cNvPr>
          <p:cNvSpPr/>
          <p:nvPr/>
        </p:nvSpPr>
        <p:spPr>
          <a:xfrm>
            <a:off x="8675823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1A0A45-21D4-91DD-9ABD-65121296BFEB}"/>
              </a:ext>
            </a:extLst>
          </p:cNvPr>
          <p:cNvSpPr/>
          <p:nvPr/>
        </p:nvSpPr>
        <p:spPr>
          <a:xfrm>
            <a:off x="6496481" y="617634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324B41-7B90-0CF6-0E7B-9C6DEFA740A0}"/>
              </a:ext>
            </a:extLst>
          </p:cNvPr>
          <p:cNvSpPr/>
          <p:nvPr/>
        </p:nvSpPr>
        <p:spPr>
          <a:xfrm>
            <a:off x="4284921" y="326118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615E6-83F4-7A05-3676-BDB588274D47}"/>
              </a:ext>
            </a:extLst>
          </p:cNvPr>
          <p:cNvSpPr txBox="1"/>
          <p:nvPr/>
        </p:nvSpPr>
        <p:spPr>
          <a:xfrm>
            <a:off x="158849" y="427367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A82E52-3AC4-1BF0-4645-6987223CC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6236"/>
            <a:ext cx="6630325" cy="5144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E6E6AD0-C838-2400-FDDD-C6DF96A1B3BB}"/>
              </a:ext>
            </a:extLst>
          </p:cNvPr>
          <p:cNvSpPr/>
          <p:nvPr/>
        </p:nvSpPr>
        <p:spPr>
          <a:xfrm>
            <a:off x="6336738" y="1941096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8457E7-8A09-4AD9-B25F-81A9F33611E5}"/>
              </a:ext>
            </a:extLst>
          </p:cNvPr>
          <p:cNvSpPr txBox="1"/>
          <p:nvPr/>
        </p:nvSpPr>
        <p:spPr>
          <a:xfrm>
            <a:off x="93734" y="2574528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 Adverse Strategic Scenario 1: </a:t>
            </a:r>
            <a:r>
              <a:rPr lang="en-US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8BF657-975F-D6F3-D8F9-7E2C26921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05" y="5442"/>
            <a:ext cx="11909990" cy="90500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FB8EC6-B76D-B5B7-0272-EBB68E3F5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43519"/>
              </p:ext>
            </p:extLst>
          </p:nvPr>
        </p:nvGraphicFramePr>
        <p:xfrm>
          <a:off x="133724" y="90547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641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59C0-E35F-4494-680B-8FD731F21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F94029-C5B7-E6A1-6E86-02130C9FED1E}"/>
              </a:ext>
            </a:extLst>
          </p:cNvPr>
          <p:cNvSpPr txBox="1"/>
          <p:nvPr/>
        </p:nvSpPr>
        <p:spPr>
          <a:xfrm>
            <a:off x="93734" y="2297529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the likelihood of each DATA INTEGRITY scenario that could materialize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010EF-0611-0BB4-E81C-8C0389BD4799}"/>
              </a:ext>
            </a:extLst>
          </p:cNvPr>
          <p:cNvSpPr txBox="1"/>
          <p:nvPr/>
        </p:nvSpPr>
        <p:spPr>
          <a:xfrm>
            <a:off x="157534" y="287381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EBB283-66A7-26D6-A81B-BBAE68EB118A}"/>
              </a:ext>
            </a:extLst>
          </p:cNvPr>
          <p:cNvSpPr txBox="1"/>
          <p:nvPr/>
        </p:nvSpPr>
        <p:spPr>
          <a:xfrm>
            <a:off x="157534" y="323821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3F28E8-8B92-6C84-0259-21730687A4EE}"/>
              </a:ext>
            </a:extLst>
          </p:cNvPr>
          <p:cNvSpPr/>
          <p:nvPr/>
        </p:nvSpPr>
        <p:spPr>
          <a:xfrm>
            <a:off x="4284921" y="287381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DBD6491-BE80-0F27-6481-54ECA1F13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18" y="4606225"/>
            <a:ext cx="4112029" cy="19422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041A6D-ED96-B3F2-D40A-66D5D64B664D}"/>
              </a:ext>
            </a:extLst>
          </p:cNvPr>
          <p:cNvSpPr txBox="1"/>
          <p:nvPr/>
        </p:nvSpPr>
        <p:spPr>
          <a:xfrm>
            <a:off x="148841" y="3619116"/>
            <a:ext cx="780720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the DATA INTEGRITY adverse scenario will materialize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7B91D8-F4FA-2086-132C-17754FD1E84A}"/>
              </a:ext>
            </a:extLst>
          </p:cNvPr>
          <p:cNvSpPr txBox="1"/>
          <p:nvPr/>
        </p:nvSpPr>
        <p:spPr>
          <a:xfrm>
            <a:off x="148841" y="398678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88AA9-F19F-E56C-96A7-853FD08473B6}"/>
              </a:ext>
            </a:extLst>
          </p:cNvPr>
          <p:cNvSpPr/>
          <p:nvPr/>
        </p:nvSpPr>
        <p:spPr>
          <a:xfrm>
            <a:off x="1448309" y="399633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A3E1D2-85FB-5AE1-0994-AF7DC1A22E7E}"/>
              </a:ext>
            </a:extLst>
          </p:cNvPr>
          <p:cNvSpPr/>
          <p:nvPr/>
        </p:nvSpPr>
        <p:spPr>
          <a:xfrm>
            <a:off x="4284921" y="400648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7519071-E8C0-57F4-C239-126F23BE2B3B}"/>
              </a:ext>
            </a:extLst>
          </p:cNvPr>
          <p:cNvGraphicFramePr>
            <a:graphicFrameLocks noGrp="1"/>
          </p:cNvGraphicFramePr>
          <p:nvPr/>
        </p:nvGraphicFramePr>
        <p:xfrm>
          <a:off x="162754" y="4583395"/>
          <a:ext cx="657064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064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Select</a:t>
                      </a:r>
                      <a:endParaRPr lang="en-A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214E2F07-B46E-6D4D-392C-F331B43F24B6}"/>
              </a:ext>
            </a:extLst>
          </p:cNvPr>
          <p:cNvSpPr/>
          <p:nvPr/>
        </p:nvSpPr>
        <p:spPr>
          <a:xfrm>
            <a:off x="395492" y="491928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4EB3B5A-A6AC-B277-4EC9-53B5B4C58C77}"/>
              </a:ext>
            </a:extLst>
          </p:cNvPr>
          <p:cNvSpPr/>
          <p:nvPr/>
        </p:nvSpPr>
        <p:spPr>
          <a:xfrm>
            <a:off x="395492" y="526700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969CFB-F997-0303-33AE-5CCF1C806F61}"/>
              </a:ext>
            </a:extLst>
          </p:cNvPr>
          <p:cNvSpPr/>
          <p:nvPr/>
        </p:nvSpPr>
        <p:spPr>
          <a:xfrm>
            <a:off x="395492" y="563774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ECA8A6E-E2F0-C67C-3FDB-473425DB5E2E}"/>
              </a:ext>
            </a:extLst>
          </p:cNvPr>
          <p:cNvSpPr/>
          <p:nvPr/>
        </p:nvSpPr>
        <p:spPr>
          <a:xfrm>
            <a:off x="395492" y="59854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934835-2EC5-7627-38DD-4E16364B6EAE}"/>
              </a:ext>
            </a:extLst>
          </p:cNvPr>
          <p:cNvSpPr/>
          <p:nvPr/>
        </p:nvSpPr>
        <p:spPr>
          <a:xfrm>
            <a:off x="395492" y="635619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302883-C964-D60B-ABB8-502D93DF105B}"/>
              </a:ext>
            </a:extLst>
          </p:cNvPr>
          <p:cNvSpPr/>
          <p:nvPr/>
        </p:nvSpPr>
        <p:spPr>
          <a:xfrm>
            <a:off x="985047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471F70-DDF1-E307-5E69-C0990A37B3D1}"/>
              </a:ext>
            </a:extLst>
          </p:cNvPr>
          <p:cNvSpPr/>
          <p:nvPr/>
        </p:nvSpPr>
        <p:spPr>
          <a:xfrm>
            <a:off x="1103834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A53CC20-EDEE-9B5F-7575-D6F664BCF034}"/>
              </a:ext>
            </a:extLst>
          </p:cNvPr>
          <p:cNvSpPr/>
          <p:nvPr/>
        </p:nvSpPr>
        <p:spPr>
          <a:xfrm>
            <a:off x="8675823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9E3A32-4DFB-8EFA-6E57-16DAD6A1C852}"/>
              </a:ext>
            </a:extLst>
          </p:cNvPr>
          <p:cNvSpPr/>
          <p:nvPr/>
        </p:nvSpPr>
        <p:spPr>
          <a:xfrm>
            <a:off x="6496481" y="617634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1C4B3C-E930-4629-BEBE-0DE1494B3AED}"/>
              </a:ext>
            </a:extLst>
          </p:cNvPr>
          <p:cNvSpPr/>
          <p:nvPr/>
        </p:nvSpPr>
        <p:spPr>
          <a:xfrm>
            <a:off x="4284921" y="326118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D948F-C82D-9BD3-7F0F-8737F94034F2}"/>
              </a:ext>
            </a:extLst>
          </p:cNvPr>
          <p:cNvSpPr txBox="1"/>
          <p:nvPr/>
        </p:nvSpPr>
        <p:spPr>
          <a:xfrm>
            <a:off x="158849" y="427367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F52FF-78D0-1AA2-5893-BB5B6780F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6234"/>
            <a:ext cx="6630325" cy="5144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66E7171-D916-B56A-4A54-08E002C22280}"/>
              </a:ext>
            </a:extLst>
          </p:cNvPr>
          <p:cNvSpPr/>
          <p:nvPr/>
        </p:nvSpPr>
        <p:spPr>
          <a:xfrm>
            <a:off x="6336738" y="1941094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72E24-156B-3252-BD59-E99A0B69F82A}"/>
              </a:ext>
            </a:extLst>
          </p:cNvPr>
          <p:cNvSpPr txBox="1"/>
          <p:nvPr/>
        </p:nvSpPr>
        <p:spPr>
          <a:xfrm>
            <a:off x="93734" y="2574528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 Adverse Strategic Scenario 2: </a:t>
            </a:r>
            <a:r>
              <a:rPr lang="en-US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80626-91D8-D141-3ED1-317C658A7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05" y="5442"/>
            <a:ext cx="11909990" cy="90500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7CA1EC4-B950-473E-B39C-3CF15BDF6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43519"/>
              </p:ext>
            </p:extLst>
          </p:nvPr>
        </p:nvGraphicFramePr>
        <p:xfrm>
          <a:off x="133724" y="90547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97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A1B5-15FF-85C8-CF8D-9A0D227C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EF345C-110E-5CB2-9BE0-6631CD11ACD9}"/>
              </a:ext>
            </a:extLst>
          </p:cNvPr>
          <p:cNvSpPr txBox="1"/>
          <p:nvPr/>
        </p:nvSpPr>
        <p:spPr>
          <a:xfrm>
            <a:off x="93734" y="2297529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the likelihood of each DATA AVAILABILITY scenario that could materialize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F7E37-987D-BBBC-A3A5-E02FAC2A81B2}"/>
              </a:ext>
            </a:extLst>
          </p:cNvPr>
          <p:cNvSpPr txBox="1"/>
          <p:nvPr/>
        </p:nvSpPr>
        <p:spPr>
          <a:xfrm>
            <a:off x="157534" y="287381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8384E8-CF42-CDC8-7917-77FB5A1A03F8}"/>
              </a:ext>
            </a:extLst>
          </p:cNvPr>
          <p:cNvSpPr txBox="1"/>
          <p:nvPr/>
        </p:nvSpPr>
        <p:spPr>
          <a:xfrm>
            <a:off x="157534" y="323821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025174-278D-CE2D-D8F4-0822CABEE692}"/>
              </a:ext>
            </a:extLst>
          </p:cNvPr>
          <p:cNvSpPr/>
          <p:nvPr/>
        </p:nvSpPr>
        <p:spPr>
          <a:xfrm>
            <a:off x="4284921" y="287381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F9D458-0BED-B54C-4A41-B28AF17C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18" y="4606225"/>
            <a:ext cx="4112029" cy="19422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C2A8FE-079E-8D3B-A476-B07A7A8CE61B}"/>
              </a:ext>
            </a:extLst>
          </p:cNvPr>
          <p:cNvSpPr txBox="1"/>
          <p:nvPr/>
        </p:nvSpPr>
        <p:spPr>
          <a:xfrm>
            <a:off x="148841" y="3619116"/>
            <a:ext cx="810247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the DATA AVAILABILITY adverse scenario will materialize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ABFB05-75A8-794B-BCB1-88FFF0221ABD}"/>
              </a:ext>
            </a:extLst>
          </p:cNvPr>
          <p:cNvSpPr txBox="1"/>
          <p:nvPr/>
        </p:nvSpPr>
        <p:spPr>
          <a:xfrm>
            <a:off x="148841" y="398678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06B6F-BAEE-73BA-7070-76B073264ADE}"/>
              </a:ext>
            </a:extLst>
          </p:cNvPr>
          <p:cNvSpPr/>
          <p:nvPr/>
        </p:nvSpPr>
        <p:spPr>
          <a:xfrm>
            <a:off x="1448309" y="399633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AC10AC-B397-2E78-A61B-376ED6A85EFB}"/>
              </a:ext>
            </a:extLst>
          </p:cNvPr>
          <p:cNvSpPr/>
          <p:nvPr/>
        </p:nvSpPr>
        <p:spPr>
          <a:xfrm>
            <a:off x="4284921" y="400648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FBD0993-02EF-7991-496F-2DE1172820CF}"/>
              </a:ext>
            </a:extLst>
          </p:cNvPr>
          <p:cNvGraphicFramePr>
            <a:graphicFrameLocks noGrp="1"/>
          </p:cNvGraphicFramePr>
          <p:nvPr/>
        </p:nvGraphicFramePr>
        <p:xfrm>
          <a:off x="162754" y="4583395"/>
          <a:ext cx="657064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064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Select</a:t>
                      </a:r>
                      <a:endParaRPr lang="en-A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C316F500-5F4E-EF99-3C0B-6884CB12712B}"/>
              </a:ext>
            </a:extLst>
          </p:cNvPr>
          <p:cNvSpPr/>
          <p:nvPr/>
        </p:nvSpPr>
        <p:spPr>
          <a:xfrm>
            <a:off x="395492" y="491928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017DFEC-2DC8-A40C-7ADA-F52269530249}"/>
              </a:ext>
            </a:extLst>
          </p:cNvPr>
          <p:cNvSpPr/>
          <p:nvPr/>
        </p:nvSpPr>
        <p:spPr>
          <a:xfrm>
            <a:off x="395492" y="526700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C5F09C2-89C5-A330-4CFE-2E139DF6DCB8}"/>
              </a:ext>
            </a:extLst>
          </p:cNvPr>
          <p:cNvSpPr/>
          <p:nvPr/>
        </p:nvSpPr>
        <p:spPr>
          <a:xfrm>
            <a:off x="395492" y="563774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FC15C2-01B8-9D69-152C-7F1E445C7436}"/>
              </a:ext>
            </a:extLst>
          </p:cNvPr>
          <p:cNvSpPr/>
          <p:nvPr/>
        </p:nvSpPr>
        <p:spPr>
          <a:xfrm>
            <a:off x="395492" y="59854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CECE543-AE64-A7AA-D6D8-4EDEB791ECCD}"/>
              </a:ext>
            </a:extLst>
          </p:cNvPr>
          <p:cNvSpPr/>
          <p:nvPr/>
        </p:nvSpPr>
        <p:spPr>
          <a:xfrm>
            <a:off x="395492" y="635619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C4935A-CCD5-8D90-F87E-31BF88BB5812}"/>
              </a:ext>
            </a:extLst>
          </p:cNvPr>
          <p:cNvSpPr/>
          <p:nvPr/>
        </p:nvSpPr>
        <p:spPr>
          <a:xfrm>
            <a:off x="985047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D19FB5-C961-FB68-3587-FC35E0D550FF}"/>
              </a:ext>
            </a:extLst>
          </p:cNvPr>
          <p:cNvSpPr/>
          <p:nvPr/>
        </p:nvSpPr>
        <p:spPr>
          <a:xfrm>
            <a:off x="1103834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570252-5882-41F6-6B3C-D444BC8AED5B}"/>
              </a:ext>
            </a:extLst>
          </p:cNvPr>
          <p:cNvSpPr/>
          <p:nvPr/>
        </p:nvSpPr>
        <p:spPr>
          <a:xfrm>
            <a:off x="8675823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1733C-DE55-E21A-4E87-C8021F7BB0C9}"/>
              </a:ext>
            </a:extLst>
          </p:cNvPr>
          <p:cNvSpPr/>
          <p:nvPr/>
        </p:nvSpPr>
        <p:spPr>
          <a:xfrm>
            <a:off x="6496481" y="617634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B1C13-22C1-36F4-BE1A-26DFF6E78CC8}"/>
              </a:ext>
            </a:extLst>
          </p:cNvPr>
          <p:cNvSpPr/>
          <p:nvPr/>
        </p:nvSpPr>
        <p:spPr>
          <a:xfrm>
            <a:off x="4284921" y="326118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062F5-F208-967A-CBC5-5F87C428BA78}"/>
              </a:ext>
            </a:extLst>
          </p:cNvPr>
          <p:cNvSpPr txBox="1"/>
          <p:nvPr/>
        </p:nvSpPr>
        <p:spPr>
          <a:xfrm>
            <a:off x="158849" y="427367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96CC8E-F5F0-DD1D-B6D4-4FDBDF446306}"/>
              </a:ext>
            </a:extLst>
          </p:cNvPr>
          <p:cNvSpPr txBox="1"/>
          <p:nvPr/>
        </p:nvSpPr>
        <p:spPr>
          <a:xfrm>
            <a:off x="93734" y="2574528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AVAILABILITY Adverse Strategic Scenario 1: </a:t>
            </a:r>
            <a:r>
              <a:rPr lang="en-US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97C508-41E1-9986-812F-BC7E543C0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6234"/>
            <a:ext cx="6630325" cy="5144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665B956-C3AD-FFD0-C25C-56F9BA577D18}"/>
              </a:ext>
            </a:extLst>
          </p:cNvPr>
          <p:cNvSpPr/>
          <p:nvPr/>
        </p:nvSpPr>
        <p:spPr>
          <a:xfrm>
            <a:off x="6336738" y="1941094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3A5621-1D79-0E35-B128-E4E4877E8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05" y="5442"/>
            <a:ext cx="11909990" cy="905001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5F726BA-5542-5750-E632-BFE0FF38E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079895"/>
              </p:ext>
            </p:extLst>
          </p:nvPr>
        </p:nvGraphicFramePr>
        <p:xfrm>
          <a:off x="133724" y="90547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18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D398B-AC0B-BEBB-2594-F178DE91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6BDCDA-8773-F749-B784-E89630FB0DE2}"/>
              </a:ext>
            </a:extLst>
          </p:cNvPr>
          <p:cNvSpPr txBox="1"/>
          <p:nvPr/>
        </p:nvSpPr>
        <p:spPr>
          <a:xfrm>
            <a:off x="93734" y="2297529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the likelihood of each DATA AVAILABILITY scenario that could materialize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A24FD-A7E7-83AA-0AD4-61D7F47BAE73}"/>
              </a:ext>
            </a:extLst>
          </p:cNvPr>
          <p:cNvSpPr txBox="1"/>
          <p:nvPr/>
        </p:nvSpPr>
        <p:spPr>
          <a:xfrm>
            <a:off x="157534" y="287381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A59D9B-4AC3-5DCB-0BD9-135FBB0676B6}"/>
              </a:ext>
            </a:extLst>
          </p:cNvPr>
          <p:cNvSpPr txBox="1"/>
          <p:nvPr/>
        </p:nvSpPr>
        <p:spPr>
          <a:xfrm>
            <a:off x="157534" y="323821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293F7-161F-5A6A-B0A6-0E04FA86D3CD}"/>
              </a:ext>
            </a:extLst>
          </p:cNvPr>
          <p:cNvSpPr/>
          <p:nvPr/>
        </p:nvSpPr>
        <p:spPr>
          <a:xfrm>
            <a:off x="4284921" y="287381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919BCB-1B92-B7BC-0E42-4747DF17C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18" y="4606225"/>
            <a:ext cx="4112029" cy="19422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7EBC686-EF3E-0C6E-A9A0-FB431CE2A7C6}"/>
              </a:ext>
            </a:extLst>
          </p:cNvPr>
          <p:cNvSpPr txBox="1"/>
          <p:nvPr/>
        </p:nvSpPr>
        <p:spPr>
          <a:xfrm>
            <a:off x="148841" y="3619116"/>
            <a:ext cx="8052782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the DATA AVAILABILITY adverse scenario will materialize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AE9779-17E9-640B-B199-A6C076513CDE}"/>
              </a:ext>
            </a:extLst>
          </p:cNvPr>
          <p:cNvSpPr txBox="1"/>
          <p:nvPr/>
        </p:nvSpPr>
        <p:spPr>
          <a:xfrm>
            <a:off x="148841" y="398678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8A5E9B-9069-86B2-C43A-6B1074703EA3}"/>
              </a:ext>
            </a:extLst>
          </p:cNvPr>
          <p:cNvSpPr/>
          <p:nvPr/>
        </p:nvSpPr>
        <p:spPr>
          <a:xfrm>
            <a:off x="1448309" y="399633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55C647-2859-DF7E-3E9A-5C91964D9FC9}"/>
              </a:ext>
            </a:extLst>
          </p:cNvPr>
          <p:cNvSpPr/>
          <p:nvPr/>
        </p:nvSpPr>
        <p:spPr>
          <a:xfrm>
            <a:off x="4284921" y="400648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D99B5F6-6BD9-50DB-0028-FF3DE5577DEF}"/>
              </a:ext>
            </a:extLst>
          </p:cNvPr>
          <p:cNvGraphicFramePr>
            <a:graphicFrameLocks noGrp="1"/>
          </p:cNvGraphicFramePr>
          <p:nvPr/>
        </p:nvGraphicFramePr>
        <p:xfrm>
          <a:off x="162754" y="4583395"/>
          <a:ext cx="657064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57064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Select</a:t>
                      </a:r>
                      <a:endParaRPr lang="en-AE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9E5EAFFA-EC2D-B491-714D-4A4138630BE7}"/>
              </a:ext>
            </a:extLst>
          </p:cNvPr>
          <p:cNvSpPr/>
          <p:nvPr/>
        </p:nvSpPr>
        <p:spPr>
          <a:xfrm>
            <a:off x="395492" y="491928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CB29CF9-2844-8FAB-0E86-681F7D4F4D2A}"/>
              </a:ext>
            </a:extLst>
          </p:cNvPr>
          <p:cNvSpPr/>
          <p:nvPr/>
        </p:nvSpPr>
        <p:spPr>
          <a:xfrm>
            <a:off x="395492" y="526700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C750FA2-4FD0-D049-CBD4-AB1EDD0BA4A4}"/>
              </a:ext>
            </a:extLst>
          </p:cNvPr>
          <p:cNvSpPr/>
          <p:nvPr/>
        </p:nvSpPr>
        <p:spPr>
          <a:xfrm>
            <a:off x="395492" y="563774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FF359A-E882-B93C-09F0-32148A9BEEF0}"/>
              </a:ext>
            </a:extLst>
          </p:cNvPr>
          <p:cNvSpPr/>
          <p:nvPr/>
        </p:nvSpPr>
        <p:spPr>
          <a:xfrm>
            <a:off x="395492" y="59854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808E55-0130-2F22-4A0A-4A6B2EC25EC4}"/>
              </a:ext>
            </a:extLst>
          </p:cNvPr>
          <p:cNvSpPr/>
          <p:nvPr/>
        </p:nvSpPr>
        <p:spPr>
          <a:xfrm>
            <a:off x="395492" y="635619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BC735D-5783-0C6D-A6B3-73756D9FB3BB}"/>
              </a:ext>
            </a:extLst>
          </p:cNvPr>
          <p:cNvSpPr/>
          <p:nvPr/>
        </p:nvSpPr>
        <p:spPr>
          <a:xfrm>
            <a:off x="9850475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ADA28E-AF88-6866-1C9D-9468E8D4FC25}"/>
              </a:ext>
            </a:extLst>
          </p:cNvPr>
          <p:cNvSpPr/>
          <p:nvPr/>
        </p:nvSpPr>
        <p:spPr>
          <a:xfrm>
            <a:off x="8675823" y="617634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FC03C7-9595-C938-EFF2-CA3FFC378783}"/>
              </a:ext>
            </a:extLst>
          </p:cNvPr>
          <p:cNvSpPr/>
          <p:nvPr/>
        </p:nvSpPr>
        <p:spPr>
          <a:xfrm>
            <a:off x="6496481" y="617634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D6D18-5B78-FBA5-49E5-7D8274E39BEB}"/>
              </a:ext>
            </a:extLst>
          </p:cNvPr>
          <p:cNvSpPr/>
          <p:nvPr/>
        </p:nvSpPr>
        <p:spPr>
          <a:xfrm>
            <a:off x="4284921" y="326118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selected value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822157-7AB1-E63C-2479-42EDBAD4DDA4}"/>
              </a:ext>
            </a:extLst>
          </p:cNvPr>
          <p:cNvSpPr txBox="1"/>
          <p:nvPr/>
        </p:nvSpPr>
        <p:spPr>
          <a:xfrm>
            <a:off x="158849" y="427367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816E5-65AB-B67A-B4DE-90B3C658DD8E}"/>
              </a:ext>
            </a:extLst>
          </p:cNvPr>
          <p:cNvSpPr txBox="1"/>
          <p:nvPr/>
        </p:nvSpPr>
        <p:spPr>
          <a:xfrm>
            <a:off x="93734" y="2574528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AVAILABILITY Adverse Strategic Scenario 2: </a:t>
            </a:r>
            <a:r>
              <a:rPr lang="en-US" sz="1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xxxxxxxxxxxxxxxxxx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2B70A-EF68-5488-69FD-77F92E5B3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6234"/>
            <a:ext cx="6630325" cy="5144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3E3F9F6-D94D-1AE9-7042-1A43CE9F9A58}"/>
              </a:ext>
            </a:extLst>
          </p:cNvPr>
          <p:cNvSpPr/>
          <p:nvPr/>
        </p:nvSpPr>
        <p:spPr>
          <a:xfrm>
            <a:off x="6336738" y="1941094"/>
            <a:ext cx="1576292" cy="31105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Test Org</a:t>
            </a:r>
            <a:endParaRPr lang="en-AE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41EAE6-1529-6823-B64D-EBA9EAB8D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05" y="5442"/>
            <a:ext cx="11909990" cy="905001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9AE82F8-5596-2A22-CC9B-9FE175E04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079895"/>
              </p:ext>
            </p:extLst>
          </p:nvPr>
        </p:nvGraphicFramePr>
        <p:xfrm>
          <a:off x="133724" y="905472"/>
          <a:ext cx="11909990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538">
                  <a:extLst>
                    <a:ext uri="{9D8B030D-6E8A-4147-A177-3AD203B41FA5}">
                      <a16:colId xmlns:a16="http://schemas.microsoft.com/office/drawing/2014/main" val="1616539632"/>
                    </a:ext>
                  </a:extLst>
                </a:gridCol>
                <a:gridCol w="3516273">
                  <a:extLst>
                    <a:ext uri="{9D8B030D-6E8A-4147-A177-3AD203B41FA5}">
                      <a16:colId xmlns:a16="http://schemas.microsoft.com/office/drawing/2014/main" val="770378639"/>
                    </a:ext>
                  </a:extLst>
                </a:gridCol>
                <a:gridCol w="2851146">
                  <a:extLst>
                    <a:ext uri="{9D8B030D-6E8A-4147-A177-3AD203B41FA5}">
                      <a16:colId xmlns:a16="http://schemas.microsoft.com/office/drawing/2014/main" val="2229424998"/>
                    </a:ext>
                  </a:extLst>
                </a:gridCol>
                <a:gridCol w="2723033">
                  <a:extLst>
                    <a:ext uri="{9D8B030D-6E8A-4147-A177-3AD203B41FA5}">
                      <a16:colId xmlns:a16="http://schemas.microsoft.com/office/drawing/2014/main" val="914141571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Compliance Framework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27001:2022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Annex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Management Methodology</a:t>
                      </a:r>
                      <a:endParaRPr lang="en-AE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27005:2022</a:t>
                      </a:r>
                    </a:p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Quantitative-Asset based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09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87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1287</Words>
  <Application>Microsoft Office PowerPoint</Application>
  <PresentationFormat>Widescreen</PresentationFormat>
  <Paragraphs>346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Kamran Kamran</dc:creator>
  <cp:lastModifiedBy>Kamran Kamran</cp:lastModifiedBy>
  <cp:revision>65</cp:revision>
  <dcterms:created xsi:type="dcterms:W3CDTF">2025-03-18T22:32:48Z</dcterms:created>
  <dcterms:modified xsi:type="dcterms:W3CDTF">2025-03-27T16:22:30Z</dcterms:modified>
</cp:coreProperties>
</file>