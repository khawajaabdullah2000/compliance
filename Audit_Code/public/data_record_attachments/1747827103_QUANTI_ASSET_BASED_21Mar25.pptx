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6" r:id="rId3"/>
    <p:sldId id="258" r:id="rId4"/>
    <p:sldId id="262" r:id="rId5"/>
    <p:sldId id="263" r:id="rId6"/>
    <p:sldId id="264" r:id="rId7"/>
    <p:sldId id="265" r:id="rId8"/>
    <p:sldId id="266" r:id="rId9"/>
    <p:sldId id="267" r:id="rId10"/>
    <p:sldId id="268" r:id="rId11"/>
    <p:sldId id="269" r:id="rId12"/>
    <p:sldId id="270" r:id="rId13"/>
    <p:sldId id="271" r:id="rId14"/>
    <p:sldId id="272" r:id="rId15"/>
    <p:sldId id="273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6635" autoAdjust="0"/>
    <p:restoredTop sz="94660"/>
  </p:normalViewPr>
  <p:slideViewPr>
    <p:cSldViewPr snapToGrid="0">
      <p:cViewPr varScale="1">
        <p:scale>
          <a:sx n="78" d="100"/>
          <a:sy n="78" d="100"/>
        </p:scale>
        <p:origin x="2352" y="4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0C2981-5DAF-C878-5D7D-DE4AB8F9360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E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559FB68-D5F0-74A4-B463-B497DC45BF8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35F764-6DB0-CB4C-53A1-B8D4A9185E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B19E69-4493-40A1-B293-E673702F7D36}" type="datetimeFigureOut">
              <a:rPr lang="en-AE" smtClean="0"/>
              <a:t>21/03/2025</a:t>
            </a:fld>
            <a:endParaRPr lang="en-A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B347D9-C147-DBE8-29AF-D52BE86186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40699D-CBB6-666A-6970-6A6950F445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3347BB-5BBC-4266-9879-2BD684A4B15A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22710232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C052B9-7D22-D8C4-C0FF-B3F7796793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1732DB-06DE-84A1-D67D-812BE82852D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2FF389-86F3-3ABB-D288-C57BF680F4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B19E69-4493-40A1-B293-E673702F7D36}" type="datetimeFigureOut">
              <a:rPr lang="en-AE" smtClean="0"/>
              <a:t>21/03/2025</a:t>
            </a:fld>
            <a:endParaRPr lang="en-A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4D0F5A-F47C-9354-51FF-10D928163B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9233C1-1751-6342-60BD-A176435D7B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3347BB-5BBC-4266-9879-2BD684A4B15A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13643612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9FB324-9473-1FAC-2705-941398DA8F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04CC3FD-7276-4D57-5CB6-26557E16280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E3552E-2BC4-88EE-394C-A38433F1D5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B19E69-4493-40A1-B293-E673702F7D36}" type="datetimeFigureOut">
              <a:rPr lang="en-AE" smtClean="0"/>
              <a:t>21/03/2025</a:t>
            </a:fld>
            <a:endParaRPr lang="en-A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EDEDDA-82C4-F2B7-191C-37E6DF8291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5E496D1-E9F1-A73D-CA95-D7ADFAC267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3347BB-5BBC-4266-9879-2BD684A4B15A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33738710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37C9D7-77F0-D7E5-C0C8-C6305DFD2E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28DF49-2A72-2863-E205-225915EB1F6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AC812AB-F256-124F-E270-D55F7211057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E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D3F5E6B-5FB8-63D8-AF43-3004FAAF5D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B19E69-4493-40A1-B293-E673702F7D36}" type="datetimeFigureOut">
              <a:rPr lang="en-AE" smtClean="0"/>
              <a:t>21/03/2025</a:t>
            </a:fld>
            <a:endParaRPr lang="en-A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736AF8E-07F6-3AD0-9F14-A75902D282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A90C4DB-F42F-83DE-3B36-0AB1C4B51F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3347BB-5BBC-4266-9879-2BD684A4B15A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9225542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79DD93-24B5-3826-1366-0C3AD3D93E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1D75075-DB0F-BD27-4C19-2962606A6EF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5D45F42-4D69-06A5-A491-0178C04C8E5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E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CB49E70-02FC-D443-9291-9C911943BEE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D7FEE4F-9D6C-01A9-05EF-452A6AFD33E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E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F2A8CC7-0030-66A0-7CCB-BC2C82DE0B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B19E69-4493-40A1-B293-E673702F7D36}" type="datetimeFigureOut">
              <a:rPr lang="en-AE" smtClean="0"/>
              <a:t>21/03/2025</a:t>
            </a:fld>
            <a:endParaRPr lang="en-AE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96EC378-8FAB-89C9-DE91-43B32ADCC5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F5260EF-DF73-FEE1-9598-980AAB3426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3347BB-5BBC-4266-9879-2BD684A4B15A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7655063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15E4F9-D043-9FCD-441F-2C3F3E3166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AABF712-B4ED-1516-0574-AC9BF8928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B19E69-4493-40A1-B293-E673702F7D36}" type="datetimeFigureOut">
              <a:rPr lang="en-AE" smtClean="0"/>
              <a:t>21/03/2025</a:t>
            </a:fld>
            <a:endParaRPr lang="en-A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FA4BC26-7CC3-683F-ADC1-9341A47BE2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E5D81BF-AD1E-9991-3AF7-AA78BA9D19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3347BB-5BBC-4266-9879-2BD684A4B15A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1352582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0D66E3E-D688-28D8-A2F7-1BDB99C9AA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B19E69-4493-40A1-B293-E673702F7D36}" type="datetimeFigureOut">
              <a:rPr lang="en-AE" smtClean="0"/>
              <a:t>21/03/2025</a:t>
            </a:fld>
            <a:endParaRPr lang="en-AE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0F3BB35-49E3-E4E2-56D2-0477ED11C4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415C19B-A41E-8404-5DAD-F7A4A46182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3347BB-5BBC-4266-9879-2BD684A4B15A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9847266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52FAA6-77BB-B35F-27A7-4EC67A449D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B92335-3A0E-DFB8-F20F-DE2B172735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63F8E2B-943D-C770-01EA-806126A5314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C530FA2-1CAB-3E6B-6EC3-1E9BA1CD2A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B19E69-4493-40A1-B293-E673702F7D36}" type="datetimeFigureOut">
              <a:rPr lang="en-AE" smtClean="0"/>
              <a:t>21/03/2025</a:t>
            </a:fld>
            <a:endParaRPr lang="en-A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006CA07-B632-354C-87B3-B5AE00CCD9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0E9EA5F-6384-E3C2-545F-B075C86C48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3347BB-5BBC-4266-9879-2BD684A4B15A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17928102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6AF6BB-9309-597A-50FA-3DCC31E4C9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E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1D26DE5-EA02-52DD-8D2E-55F1D825409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71DEE95-DA61-A41C-2780-4E2FA037650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41DE7F0-019C-97B9-95AB-0E2A08BB0C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B19E69-4493-40A1-B293-E673702F7D36}" type="datetimeFigureOut">
              <a:rPr lang="en-AE" smtClean="0"/>
              <a:t>21/03/2025</a:t>
            </a:fld>
            <a:endParaRPr lang="en-A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8C1B735-018C-B370-0612-4677D2B55E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8614931-47D1-597B-EC64-CD9ACEB210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3347BB-5BBC-4266-9879-2BD684A4B15A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16809124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BAD6A6-B94F-F9C8-F476-65266B9EA2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1826A62-CB9A-9DBE-AB15-68704CD864D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81E803-2A77-F2F7-7533-8E60316B0F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B19E69-4493-40A1-B293-E673702F7D36}" type="datetimeFigureOut">
              <a:rPr lang="en-AE" smtClean="0"/>
              <a:t>21/03/2025</a:t>
            </a:fld>
            <a:endParaRPr lang="en-A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905F39-F9E2-C183-23F3-B3149F0045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6445C3-E7E8-C3AF-322C-B765CC925E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3347BB-5BBC-4266-9879-2BD684A4B15A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32362700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ADCD61A-6624-4DAF-F596-BA338325E5E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555E91F-1224-4D7A-54B3-5AA5F39A6E4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C8CF6C-A8EA-0272-F3FE-50BB0EAF32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B19E69-4493-40A1-B293-E673702F7D36}" type="datetimeFigureOut">
              <a:rPr lang="en-AE" smtClean="0"/>
              <a:t>21/03/2025</a:t>
            </a:fld>
            <a:endParaRPr lang="en-A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516EEAE-27CB-0C9B-694C-CE37D550C3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F2DFCB-BDB8-EF03-8594-FAF60AAA44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3347BB-5BBC-4266-9879-2BD684A4B15A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18925367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D592A07-0C7E-332A-31DE-46AAB69AAC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3136006-2F7A-3027-7770-0DA533C1D5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16E44C-6228-99D4-8B0E-160D3E1500A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BB19E69-4493-40A1-B293-E673702F7D36}" type="datetimeFigureOut">
              <a:rPr lang="en-AE" smtClean="0"/>
              <a:t>21/03/2025</a:t>
            </a:fld>
            <a:endParaRPr lang="en-A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EBEB70-86AE-3B05-2008-C0F759D7DF8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A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1AC0A0-EE5D-0AF4-AB00-5E339D27360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93347BB-5BBC-4266-9879-2BD684A4B15A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36780594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913452-ED23-4A39-9EBA-3F84143C82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9505600-830D-21E3-CA57-13F7A154E1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29127"/>
            <a:ext cx="12192000" cy="4397950"/>
          </a:xfrm>
          <a:prstGeom prst="rect">
            <a:avLst/>
          </a:prstGeom>
        </p:spPr>
      </p:pic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476D142F-D245-2FC0-9ED1-49D90097E508}"/>
              </a:ext>
            </a:extLst>
          </p:cNvPr>
          <p:cNvCxnSpPr>
            <a:cxnSpLocks/>
          </p:cNvCxnSpPr>
          <p:nvPr/>
        </p:nvCxnSpPr>
        <p:spPr>
          <a:xfrm>
            <a:off x="9638270" y="2619632"/>
            <a:ext cx="988541" cy="308591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45931395-C035-32E4-7280-C701B361926C}"/>
              </a:ext>
            </a:extLst>
          </p:cNvPr>
          <p:cNvSpPr txBox="1"/>
          <p:nvPr/>
        </p:nvSpPr>
        <p:spPr>
          <a:xfrm>
            <a:off x="7080421" y="5705543"/>
            <a:ext cx="4933466" cy="923330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Enter, upload or view services and assets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Conduct compliance checks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Assess and treat information security risks</a:t>
            </a:r>
            <a:endParaRPr lang="en-AE" b="1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E2856E9-8C7B-F291-FA2F-6003D0175368}"/>
              </a:ext>
            </a:extLst>
          </p:cNvPr>
          <p:cNvSpPr txBox="1"/>
          <p:nvPr/>
        </p:nvSpPr>
        <p:spPr>
          <a:xfrm>
            <a:off x="7080421" y="5336211"/>
            <a:ext cx="2505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Change button text to:</a:t>
            </a:r>
            <a:endParaRPr lang="en-AE" b="1" dirty="0"/>
          </a:p>
        </p:txBody>
      </p:sp>
    </p:spTree>
    <p:extLst>
      <p:ext uri="{BB962C8B-B14F-4D97-AF65-F5344CB8AC3E}">
        <p14:creationId xmlns:p14="http://schemas.microsoft.com/office/powerpoint/2010/main" val="188157759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CB19282-CE27-AB29-2937-B2C2C02485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847545"/>
            <a:ext cx="12192000" cy="3162909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56154176-C6F2-5428-ED6D-0BB9769E4514}"/>
              </a:ext>
            </a:extLst>
          </p:cNvPr>
          <p:cNvSpPr/>
          <p:nvPr/>
        </p:nvSpPr>
        <p:spPr>
          <a:xfrm>
            <a:off x="7278130" y="2730843"/>
            <a:ext cx="1754659" cy="2279611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AE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EAAF518-E038-E133-A9E5-A8ABCC104393}"/>
              </a:ext>
            </a:extLst>
          </p:cNvPr>
          <p:cNvSpPr txBox="1"/>
          <p:nvPr/>
        </p:nvSpPr>
        <p:spPr>
          <a:xfrm>
            <a:off x="5080753" y="5181609"/>
            <a:ext cx="35368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Clicking any button goes to page 3</a:t>
            </a:r>
            <a:endParaRPr lang="en-AE" dirty="0"/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103D636E-17D2-3C2D-9F51-F33EFD3EC7D9}"/>
              </a:ext>
            </a:extLst>
          </p:cNvPr>
          <p:cNvCxnSpPr>
            <a:cxnSpLocks/>
          </p:cNvCxnSpPr>
          <p:nvPr/>
        </p:nvCxnSpPr>
        <p:spPr>
          <a:xfrm flipH="1">
            <a:off x="6982366" y="5001178"/>
            <a:ext cx="316670" cy="20321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9DE67911-BFE1-85C9-968A-BEC533615086}"/>
              </a:ext>
            </a:extLst>
          </p:cNvPr>
          <p:cNvSpPr txBox="1"/>
          <p:nvPr/>
        </p:nvSpPr>
        <p:spPr>
          <a:xfrm>
            <a:off x="148940" y="1518153"/>
            <a:ext cx="9464617" cy="64633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For all project types, change column title to “Asset Category” and make it mandatory with list of values as given below</a:t>
            </a:r>
            <a:endParaRPr lang="en-AE" dirty="0"/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E197A3FD-1651-B95C-19A4-A2EDFBC4FC79}"/>
              </a:ext>
            </a:extLst>
          </p:cNvPr>
          <p:cNvCxnSpPr>
            <a:cxnSpLocks/>
          </p:cNvCxnSpPr>
          <p:nvPr/>
        </p:nvCxnSpPr>
        <p:spPr>
          <a:xfrm flipV="1">
            <a:off x="3869082" y="1847545"/>
            <a:ext cx="0" cy="63748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F993B0B0-F3F3-4B54-A3C9-4DE0EE99639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09751387"/>
              </p:ext>
            </p:extLst>
          </p:nvPr>
        </p:nvGraphicFramePr>
        <p:xfrm>
          <a:off x="2801553" y="2854360"/>
          <a:ext cx="2112318" cy="37084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112318">
                  <a:extLst>
                    <a:ext uri="{9D8B030D-6E8A-4147-A177-3AD203B41FA5}">
                      <a16:colId xmlns:a16="http://schemas.microsoft.com/office/drawing/2014/main" val="244749268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PII</a:t>
                      </a:r>
                      <a:endParaRPr lang="en-A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6739301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PCI Account Data</a:t>
                      </a:r>
                      <a:endParaRPr lang="en-A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0868956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PCI CHD</a:t>
                      </a:r>
                      <a:endParaRPr lang="en-A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5181304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PCI SAD</a:t>
                      </a:r>
                      <a:endParaRPr lang="en-A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927226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Other data</a:t>
                      </a:r>
                      <a:endParaRPr lang="en-A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393629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Technology</a:t>
                      </a:r>
                      <a:endParaRPr lang="en-A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263084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Organization</a:t>
                      </a:r>
                      <a:endParaRPr lang="en-A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856504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People</a:t>
                      </a:r>
                      <a:endParaRPr lang="en-A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945467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Physical</a:t>
                      </a:r>
                      <a:endParaRPr lang="en-A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4003897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Service Provider</a:t>
                      </a:r>
                      <a:endParaRPr lang="en-A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5800577"/>
                  </a:ext>
                </a:extLst>
              </a:tr>
            </a:tbl>
          </a:graphicData>
        </a:graphic>
      </p:graphicFrame>
      <p:sp>
        <p:nvSpPr>
          <p:cNvPr id="15" name="Isosceles Triangle 14">
            <a:extLst>
              <a:ext uri="{FF2B5EF4-FFF2-40B4-BE49-F238E27FC236}">
                <a16:creationId xmlns:a16="http://schemas.microsoft.com/office/drawing/2014/main" id="{B96DE452-3794-2AB3-9057-52A421F34BF8}"/>
              </a:ext>
            </a:extLst>
          </p:cNvPr>
          <p:cNvSpPr/>
          <p:nvPr/>
        </p:nvSpPr>
        <p:spPr>
          <a:xfrm rot="10800000">
            <a:off x="4586752" y="2887828"/>
            <a:ext cx="321275" cy="369332"/>
          </a:xfrm>
          <a:prstGeom prst="triangl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E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981D1BF-C023-A624-9684-4BFF073DE81C}"/>
              </a:ext>
            </a:extLst>
          </p:cNvPr>
          <p:cNvSpPr txBox="1"/>
          <p:nvPr/>
        </p:nvSpPr>
        <p:spPr>
          <a:xfrm>
            <a:off x="148940" y="851898"/>
            <a:ext cx="11948325" cy="307777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Information Security Risk Management Framework:  ISO 27005:2022 QUANTITATIVE – ASSET-based with operational risk scenarios</a:t>
            </a:r>
            <a:endParaRPr lang="en-AE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50F700BC-263C-EEEC-3525-A3F37C45125F}"/>
              </a:ext>
            </a:extLst>
          </p:cNvPr>
          <p:cNvCxnSpPr>
            <a:cxnSpLocks/>
          </p:cNvCxnSpPr>
          <p:nvPr/>
        </p:nvCxnSpPr>
        <p:spPr>
          <a:xfrm flipV="1">
            <a:off x="637503" y="550004"/>
            <a:ext cx="1189679" cy="32219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CD4B9B7F-4B17-90F2-F6D1-43CDF65BEC25}"/>
              </a:ext>
            </a:extLst>
          </p:cNvPr>
          <p:cNvSpPr txBox="1"/>
          <p:nvPr/>
        </p:nvSpPr>
        <p:spPr>
          <a:xfrm>
            <a:off x="1829576" y="331619"/>
            <a:ext cx="10082338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Display one of the 4 values (as was set by super-user) for the project type selected by end user)</a:t>
            </a:r>
            <a:endParaRPr lang="en-AE" dirty="0"/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61E0CA90-D437-9BA1-1677-921CDED483FB}"/>
              </a:ext>
            </a:extLst>
          </p:cNvPr>
          <p:cNvSpPr/>
          <p:nvPr/>
        </p:nvSpPr>
        <p:spPr>
          <a:xfrm>
            <a:off x="3101546" y="2298357"/>
            <a:ext cx="1655801" cy="483686"/>
          </a:xfrm>
          <a:prstGeom prst="ellipse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E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6907D6A-4EA7-7FB0-5088-7FB31FC0F13E}"/>
              </a:ext>
            </a:extLst>
          </p:cNvPr>
          <p:cNvSpPr/>
          <p:nvPr/>
        </p:nvSpPr>
        <p:spPr>
          <a:xfrm>
            <a:off x="6849186" y="6500087"/>
            <a:ext cx="5025659" cy="27817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View Risk Assessment of all asset components</a:t>
            </a:r>
            <a:endParaRPr lang="en-AE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3634BA5-4E6C-8E29-4298-6233AA9E6C67}"/>
              </a:ext>
            </a:extLst>
          </p:cNvPr>
          <p:cNvSpPr txBox="1"/>
          <p:nvPr/>
        </p:nvSpPr>
        <p:spPr>
          <a:xfrm>
            <a:off x="9050863" y="6153542"/>
            <a:ext cx="820679" cy="369332"/>
          </a:xfrm>
          <a:prstGeom prst="rect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p. 14</a:t>
            </a:r>
            <a:endParaRPr lang="en-AE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027F6F3-A100-728E-51E7-A691B820139B}"/>
              </a:ext>
            </a:extLst>
          </p:cNvPr>
          <p:cNvSpPr/>
          <p:nvPr/>
        </p:nvSpPr>
        <p:spPr>
          <a:xfrm>
            <a:off x="6849186" y="5677023"/>
            <a:ext cx="5025659" cy="27817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View Risk Assessment of all services</a:t>
            </a:r>
            <a:endParaRPr lang="en-AE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BE058C6-467C-1257-461A-59C496F22EAE}"/>
              </a:ext>
            </a:extLst>
          </p:cNvPr>
          <p:cNvSpPr txBox="1"/>
          <p:nvPr/>
        </p:nvSpPr>
        <p:spPr>
          <a:xfrm>
            <a:off x="9050863" y="5330478"/>
            <a:ext cx="820679" cy="369332"/>
          </a:xfrm>
          <a:prstGeom prst="rect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p. 15</a:t>
            </a:r>
            <a:endParaRPr lang="en-AE" dirty="0"/>
          </a:p>
        </p:txBody>
      </p:sp>
    </p:spTree>
    <p:extLst>
      <p:ext uri="{BB962C8B-B14F-4D97-AF65-F5344CB8AC3E}">
        <p14:creationId xmlns:p14="http://schemas.microsoft.com/office/powerpoint/2010/main" val="24590698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FD06D5-A7BC-33EC-2E3B-C560929C6A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5062080-6C38-8803-81D5-ABD47AF7482E}"/>
              </a:ext>
            </a:extLst>
          </p:cNvPr>
          <p:cNvSpPr txBox="1"/>
          <p:nvPr/>
        </p:nvSpPr>
        <p:spPr>
          <a:xfrm>
            <a:off x="121837" y="3400882"/>
            <a:ext cx="11948325" cy="307777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Information Security Risk Management Framework:  ISO 27005:2022 QUANTITATIVE– ASSET-based with operational risk scenarios</a:t>
            </a:r>
            <a:endParaRPr lang="en-AE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0BD5CEF-B493-C3FB-2ED7-DB2C69D778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03564"/>
            <a:ext cx="12192000" cy="134162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7FA53AA-2AF6-315E-F87E-30C24DA1B22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837" y="1849384"/>
            <a:ext cx="6630325" cy="514422"/>
          </a:xfrm>
          <a:prstGeom prst="rect">
            <a:avLst/>
          </a:prstGeom>
        </p:spPr>
      </p:pic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CFE39E71-6EC0-9FEE-740B-76945C9AA14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87170211"/>
              </p:ext>
            </p:extLst>
          </p:nvPr>
        </p:nvGraphicFramePr>
        <p:xfrm>
          <a:off x="289697" y="2461774"/>
          <a:ext cx="11684000" cy="5181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460500">
                  <a:extLst>
                    <a:ext uri="{9D8B030D-6E8A-4147-A177-3AD203B41FA5}">
                      <a16:colId xmlns:a16="http://schemas.microsoft.com/office/drawing/2014/main" val="2713550951"/>
                    </a:ext>
                  </a:extLst>
                </a:gridCol>
                <a:gridCol w="644660">
                  <a:extLst>
                    <a:ext uri="{9D8B030D-6E8A-4147-A177-3AD203B41FA5}">
                      <a16:colId xmlns:a16="http://schemas.microsoft.com/office/drawing/2014/main" val="2522429615"/>
                    </a:ext>
                  </a:extLst>
                </a:gridCol>
                <a:gridCol w="975360">
                  <a:extLst>
                    <a:ext uri="{9D8B030D-6E8A-4147-A177-3AD203B41FA5}">
                      <a16:colId xmlns:a16="http://schemas.microsoft.com/office/drawing/2014/main" val="2856555388"/>
                    </a:ext>
                  </a:extLst>
                </a:gridCol>
                <a:gridCol w="1018903">
                  <a:extLst>
                    <a:ext uri="{9D8B030D-6E8A-4147-A177-3AD203B41FA5}">
                      <a16:colId xmlns:a16="http://schemas.microsoft.com/office/drawing/2014/main" val="2399358289"/>
                    </a:ext>
                  </a:extLst>
                </a:gridCol>
                <a:gridCol w="957943">
                  <a:extLst>
                    <a:ext uri="{9D8B030D-6E8A-4147-A177-3AD203B41FA5}">
                      <a16:colId xmlns:a16="http://schemas.microsoft.com/office/drawing/2014/main" val="244556393"/>
                    </a:ext>
                  </a:extLst>
                </a:gridCol>
                <a:gridCol w="984068">
                  <a:extLst>
                    <a:ext uri="{9D8B030D-6E8A-4147-A177-3AD203B41FA5}">
                      <a16:colId xmlns:a16="http://schemas.microsoft.com/office/drawing/2014/main" val="720004741"/>
                    </a:ext>
                  </a:extLst>
                </a:gridCol>
                <a:gridCol w="1201783">
                  <a:extLst>
                    <a:ext uri="{9D8B030D-6E8A-4147-A177-3AD203B41FA5}">
                      <a16:colId xmlns:a16="http://schemas.microsoft.com/office/drawing/2014/main" val="4268014146"/>
                    </a:ext>
                  </a:extLst>
                </a:gridCol>
                <a:gridCol w="4440783">
                  <a:extLst>
                    <a:ext uri="{9D8B030D-6E8A-4147-A177-3AD203B41FA5}">
                      <a16:colId xmlns:a16="http://schemas.microsoft.com/office/drawing/2014/main" val="116687783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4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Service</a:t>
                      </a:r>
                      <a:endParaRPr lang="en-AE" sz="1400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S1</a:t>
                      </a:r>
                      <a:endParaRPr lang="en-AE" sz="1400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Asset Group</a:t>
                      </a:r>
                      <a:endParaRPr lang="en-AE" sz="1400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AE" sz="1400" b="1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Asset Category</a:t>
                      </a:r>
                      <a:endParaRPr lang="en-AE" sz="1400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PCI CHD</a:t>
                      </a:r>
                      <a:endParaRPr lang="en-AE" sz="1400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Asset Component</a:t>
                      </a:r>
                      <a:endParaRPr lang="en-AE" sz="1400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PCI CHD of Visa debit cards</a:t>
                      </a:r>
                      <a:endParaRPr lang="en-AE" sz="1400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6498387"/>
                  </a:ext>
                </a:extLst>
              </a:tr>
            </a:tbl>
          </a:graphicData>
        </a:graphic>
      </p:graphicFrame>
      <p:sp>
        <p:nvSpPr>
          <p:cNvPr id="16" name="TextBox 15">
            <a:extLst>
              <a:ext uri="{FF2B5EF4-FFF2-40B4-BE49-F238E27FC236}">
                <a16:creationId xmlns:a16="http://schemas.microsoft.com/office/drawing/2014/main" id="{F260F363-4856-936B-2884-B936B8111320}"/>
              </a:ext>
            </a:extLst>
          </p:cNvPr>
          <p:cNvSpPr txBox="1"/>
          <p:nvPr/>
        </p:nvSpPr>
        <p:spPr>
          <a:xfrm>
            <a:off x="1760795" y="4160269"/>
            <a:ext cx="1260217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dirty="0">
                <a:highlight>
                  <a:srgbClr val="FFFF00"/>
                </a:highlight>
              </a:rPr>
              <a:t>See page 4</a:t>
            </a:r>
            <a:endParaRPr lang="en-AE" dirty="0">
              <a:highlight>
                <a:srgbClr val="FFFF00"/>
              </a:highlight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866E04AD-6399-AC52-7381-7DF3C347AF2B}"/>
              </a:ext>
            </a:extLst>
          </p:cNvPr>
          <p:cNvSpPr/>
          <p:nvPr/>
        </p:nvSpPr>
        <p:spPr>
          <a:xfrm>
            <a:off x="121837" y="3802024"/>
            <a:ext cx="2899175" cy="36933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Initiate Risk Assessment</a:t>
            </a:r>
            <a:endParaRPr lang="en-AE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6D96451-FC27-B9C3-A22A-8775955475A2}"/>
              </a:ext>
            </a:extLst>
          </p:cNvPr>
          <p:cNvSpPr txBox="1"/>
          <p:nvPr/>
        </p:nvSpPr>
        <p:spPr>
          <a:xfrm>
            <a:off x="4226011" y="63247"/>
            <a:ext cx="7617713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>
                <a:highlight>
                  <a:srgbClr val="FFFF00"/>
                </a:highlight>
              </a:rPr>
              <a:t>Table background color should be shaded gray - always</a:t>
            </a:r>
            <a:endParaRPr lang="en-AE" dirty="0">
              <a:highlight>
                <a:srgbClr val="FFFF00"/>
              </a:highlight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D3AE0EC-4235-FB43-6626-47CADA726F03}"/>
              </a:ext>
            </a:extLst>
          </p:cNvPr>
          <p:cNvSpPr/>
          <p:nvPr/>
        </p:nvSpPr>
        <p:spPr>
          <a:xfrm>
            <a:off x="5885356" y="6500087"/>
            <a:ext cx="5025659" cy="27817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View Risk Assessment of all asset components</a:t>
            </a:r>
            <a:endParaRPr lang="en-AE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44F601D-40A7-2CF9-380B-12DA35EAB574}"/>
              </a:ext>
            </a:extLst>
          </p:cNvPr>
          <p:cNvSpPr txBox="1"/>
          <p:nvPr/>
        </p:nvSpPr>
        <p:spPr>
          <a:xfrm>
            <a:off x="8087033" y="6153542"/>
            <a:ext cx="820679" cy="369332"/>
          </a:xfrm>
          <a:prstGeom prst="rect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p. 14</a:t>
            </a:r>
            <a:endParaRPr lang="en-AE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12BA995-1B22-BD1B-8F00-2C18B4E05F04}"/>
              </a:ext>
            </a:extLst>
          </p:cNvPr>
          <p:cNvSpPr/>
          <p:nvPr/>
        </p:nvSpPr>
        <p:spPr>
          <a:xfrm>
            <a:off x="5885356" y="5677023"/>
            <a:ext cx="5025659" cy="27817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View Risk Assessment of all services</a:t>
            </a:r>
            <a:endParaRPr lang="en-AE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BFDD15F-3AA0-2756-E3DC-336A07019590}"/>
              </a:ext>
            </a:extLst>
          </p:cNvPr>
          <p:cNvSpPr txBox="1"/>
          <p:nvPr/>
        </p:nvSpPr>
        <p:spPr>
          <a:xfrm>
            <a:off x="8087033" y="5330478"/>
            <a:ext cx="820679" cy="369332"/>
          </a:xfrm>
          <a:prstGeom prst="rect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p. 15</a:t>
            </a:r>
            <a:endParaRPr lang="en-AE" dirty="0"/>
          </a:p>
        </p:txBody>
      </p:sp>
    </p:spTree>
    <p:extLst>
      <p:ext uri="{BB962C8B-B14F-4D97-AF65-F5344CB8AC3E}">
        <p14:creationId xmlns:p14="http://schemas.microsoft.com/office/powerpoint/2010/main" val="18817989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F104B7-56BD-6410-E993-AE3D0A4159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5CC532A-82FF-E240-935A-18DB87768D15}"/>
              </a:ext>
            </a:extLst>
          </p:cNvPr>
          <p:cNvSpPr txBox="1"/>
          <p:nvPr/>
        </p:nvSpPr>
        <p:spPr>
          <a:xfrm>
            <a:off x="157534" y="2790989"/>
            <a:ext cx="11948325" cy="307777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Information Security Risk Management Framework:  ISO 27005:2022 QUANTITATIVE – ASSET-based with operational risk scenarios</a:t>
            </a:r>
            <a:endParaRPr lang="en-AE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804ACFD-E9AB-F8EF-AD9C-2CF41AA3A3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03564"/>
            <a:ext cx="12192000" cy="134162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C49BF0C-ECEC-2C48-FC35-4B820F33340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838" y="1849384"/>
            <a:ext cx="4275992" cy="33175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779BD55-1D3C-65EA-AD41-FDC5783BCD11}"/>
              </a:ext>
            </a:extLst>
          </p:cNvPr>
          <p:cNvSpPr txBox="1"/>
          <p:nvPr/>
        </p:nvSpPr>
        <p:spPr>
          <a:xfrm>
            <a:off x="157533" y="3129388"/>
            <a:ext cx="11683999" cy="369332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Select the consequence on this service in case of:</a:t>
            </a:r>
            <a:endParaRPr lang="en-AE" b="1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38" name="Table 37">
            <a:extLst>
              <a:ext uri="{FF2B5EF4-FFF2-40B4-BE49-F238E27FC236}">
                <a16:creationId xmlns:a16="http://schemas.microsoft.com/office/drawing/2014/main" id="{12C0EE79-43EF-A3B5-2D3B-A28DECC2DEC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39815105"/>
              </p:ext>
            </p:extLst>
          </p:nvPr>
        </p:nvGraphicFramePr>
        <p:xfrm>
          <a:off x="159724" y="2168353"/>
          <a:ext cx="11684000" cy="5181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460500">
                  <a:extLst>
                    <a:ext uri="{9D8B030D-6E8A-4147-A177-3AD203B41FA5}">
                      <a16:colId xmlns:a16="http://schemas.microsoft.com/office/drawing/2014/main" val="2713550951"/>
                    </a:ext>
                  </a:extLst>
                </a:gridCol>
                <a:gridCol w="644660">
                  <a:extLst>
                    <a:ext uri="{9D8B030D-6E8A-4147-A177-3AD203B41FA5}">
                      <a16:colId xmlns:a16="http://schemas.microsoft.com/office/drawing/2014/main" val="2522429615"/>
                    </a:ext>
                  </a:extLst>
                </a:gridCol>
                <a:gridCol w="975360">
                  <a:extLst>
                    <a:ext uri="{9D8B030D-6E8A-4147-A177-3AD203B41FA5}">
                      <a16:colId xmlns:a16="http://schemas.microsoft.com/office/drawing/2014/main" val="2856555388"/>
                    </a:ext>
                  </a:extLst>
                </a:gridCol>
                <a:gridCol w="1018903">
                  <a:extLst>
                    <a:ext uri="{9D8B030D-6E8A-4147-A177-3AD203B41FA5}">
                      <a16:colId xmlns:a16="http://schemas.microsoft.com/office/drawing/2014/main" val="2399358289"/>
                    </a:ext>
                  </a:extLst>
                </a:gridCol>
                <a:gridCol w="957943">
                  <a:extLst>
                    <a:ext uri="{9D8B030D-6E8A-4147-A177-3AD203B41FA5}">
                      <a16:colId xmlns:a16="http://schemas.microsoft.com/office/drawing/2014/main" val="244556393"/>
                    </a:ext>
                  </a:extLst>
                </a:gridCol>
                <a:gridCol w="984068">
                  <a:extLst>
                    <a:ext uri="{9D8B030D-6E8A-4147-A177-3AD203B41FA5}">
                      <a16:colId xmlns:a16="http://schemas.microsoft.com/office/drawing/2014/main" val="720004741"/>
                    </a:ext>
                  </a:extLst>
                </a:gridCol>
                <a:gridCol w="1201783">
                  <a:extLst>
                    <a:ext uri="{9D8B030D-6E8A-4147-A177-3AD203B41FA5}">
                      <a16:colId xmlns:a16="http://schemas.microsoft.com/office/drawing/2014/main" val="4268014146"/>
                    </a:ext>
                  </a:extLst>
                </a:gridCol>
                <a:gridCol w="4440783">
                  <a:extLst>
                    <a:ext uri="{9D8B030D-6E8A-4147-A177-3AD203B41FA5}">
                      <a16:colId xmlns:a16="http://schemas.microsoft.com/office/drawing/2014/main" val="116687783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4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Service</a:t>
                      </a:r>
                      <a:endParaRPr lang="en-AE" sz="1400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S1</a:t>
                      </a:r>
                      <a:endParaRPr lang="en-AE" sz="1400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Asset Group</a:t>
                      </a:r>
                      <a:endParaRPr lang="en-AE" sz="1400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AE" sz="1400" b="1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Asset Category</a:t>
                      </a:r>
                      <a:endParaRPr lang="en-AE" sz="1400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PCI CHD</a:t>
                      </a:r>
                      <a:endParaRPr lang="en-AE" sz="1400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Asset Component</a:t>
                      </a:r>
                      <a:endParaRPr lang="en-AE" sz="1400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PCI CHD of Visa debit cards</a:t>
                      </a:r>
                      <a:endParaRPr lang="en-AE" sz="1400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6498387"/>
                  </a:ext>
                </a:extLst>
              </a:tr>
            </a:tbl>
          </a:graphicData>
        </a:graphic>
      </p:graphicFrame>
      <p:graphicFrame>
        <p:nvGraphicFramePr>
          <p:cNvPr id="48" name="Table 47">
            <a:extLst>
              <a:ext uri="{FF2B5EF4-FFF2-40B4-BE49-F238E27FC236}">
                <a16:creationId xmlns:a16="http://schemas.microsoft.com/office/drawing/2014/main" id="{258F52A7-0FC4-8D7E-FC88-038C31DBC7B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17000821"/>
              </p:ext>
            </p:extLst>
          </p:nvPr>
        </p:nvGraphicFramePr>
        <p:xfrm>
          <a:off x="253263" y="3541641"/>
          <a:ext cx="4942368" cy="2311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7456">
                  <a:extLst>
                    <a:ext uri="{9D8B030D-6E8A-4147-A177-3AD203B41FA5}">
                      <a16:colId xmlns:a16="http://schemas.microsoft.com/office/drawing/2014/main" val="1946695212"/>
                    </a:ext>
                  </a:extLst>
                </a:gridCol>
                <a:gridCol w="1647456">
                  <a:extLst>
                    <a:ext uri="{9D8B030D-6E8A-4147-A177-3AD203B41FA5}">
                      <a16:colId xmlns:a16="http://schemas.microsoft.com/office/drawing/2014/main" val="3236549917"/>
                    </a:ext>
                  </a:extLst>
                </a:gridCol>
                <a:gridCol w="1647456">
                  <a:extLst>
                    <a:ext uri="{9D8B030D-6E8A-4147-A177-3AD203B41FA5}">
                      <a16:colId xmlns:a16="http://schemas.microsoft.com/office/drawing/2014/main" val="1626644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Loss of Data Confidentiality</a:t>
                      </a:r>
                      <a:endParaRPr lang="en-AE" sz="1200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Loss of Data Integrity</a:t>
                      </a:r>
                      <a:endParaRPr lang="en-AE" sz="1200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Loss of Data Availability</a:t>
                      </a:r>
                      <a:endParaRPr lang="en-AE" sz="1200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219373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A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31108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A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6678678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A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189131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A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58448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A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14635134"/>
                  </a:ext>
                </a:extLst>
              </a:tr>
            </a:tbl>
          </a:graphicData>
        </a:graphic>
      </p:graphicFrame>
      <p:sp>
        <p:nvSpPr>
          <p:cNvPr id="49" name="Oval 48">
            <a:extLst>
              <a:ext uri="{FF2B5EF4-FFF2-40B4-BE49-F238E27FC236}">
                <a16:creationId xmlns:a16="http://schemas.microsoft.com/office/drawing/2014/main" id="{09C02D08-D04A-18D7-CEA0-7D5A29778733}"/>
              </a:ext>
            </a:extLst>
          </p:cNvPr>
          <p:cNvSpPr/>
          <p:nvPr/>
        </p:nvSpPr>
        <p:spPr>
          <a:xfrm>
            <a:off x="960111" y="4119154"/>
            <a:ext cx="191589" cy="130629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E"/>
          </a:p>
        </p:txBody>
      </p:sp>
      <p:sp>
        <p:nvSpPr>
          <p:cNvPr id="50" name="Oval 49">
            <a:extLst>
              <a:ext uri="{FF2B5EF4-FFF2-40B4-BE49-F238E27FC236}">
                <a16:creationId xmlns:a16="http://schemas.microsoft.com/office/drawing/2014/main" id="{27EDF7D2-FC07-4E08-FC9A-5DF7E2EB7943}"/>
              </a:ext>
            </a:extLst>
          </p:cNvPr>
          <p:cNvSpPr/>
          <p:nvPr/>
        </p:nvSpPr>
        <p:spPr>
          <a:xfrm>
            <a:off x="960111" y="4466876"/>
            <a:ext cx="191589" cy="130629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E"/>
          </a:p>
        </p:txBody>
      </p:sp>
      <p:sp>
        <p:nvSpPr>
          <p:cNvPr id="51" name="Oval 50">
            <a:extLst>
              <a:ext uri="{FF2B5EF4-FFF2-40B4-BE49-F238E27FC236}">
                <a16:creationId xmlns:a16="http://schemas.microsoft.com/office/drawing/2014/main" id="{E7EB87DA-BF6C-6FFD-0F2B-62AC89012280}"/>
              </a:ext>
            </a:extLst>
          </p:cNvPr>
          <p:cNvSpPr/>
          <p:nvPr/>
        </p:nvSpPr>
        <p:spPr>
          <a:xfrm>
            <a:off x="960111" y="4837612"/>
            <a:ext cx="191589" cy="130629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E"/>
          </a:p>
        </p:txBody>
      </p:sp>
      <p:sp>
        <p:nvSpPr>
          <p:cNvPr id="52" name="Oval 51">
            <a:extLst>
              <a:ext uri="{FF2B5EF4-FFF2-40B4-BE49-F238E27FC236}">
                <a16:creationId xmlns:a16="http://schemas.microsoft.com/office/drawing/2014/main" id="{F89A00E8-8369-79C6-F7FF-45908F7B8AA1}"/>
              </a:ext>
            </a:extLst>
          </p:cNvPr>
          <p:cNvSpPr/>
          <p:nvPr/>
        </p:nvSpPr>
        <p:spPr>
          <a:xfrm>
            <a:off x="960111" y="5185334"/>
            <a:ext cx="191589" cy="130629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E"/>
          </a:p>
        </p:txBody>
      </p:sp>
      <p:sp>
        <p:nvSpPr>
          <p:cNvPr id="53" name="Oval 52">
            <a:extLst>
              <a:ext uri="{FF2B5EF4-FFF2-40B4-BE49-F238E27FC236}">
                <a16:creationId xmlns:a16="http://schemas.microsoft.com/office/drawing/2014/main" id="{E0E6C8B3-9739-A1F3-EF27-9D50C33E1B03}"/>
              </a:ext>
            </a:extLst>
          </p:cNvPr>
          <p:cNvSpPr/>
          <p:nvPr/>
        </p:nvSpPr>
        <p:spPr>
          <a:xfrm>
            <a:off x="960111" y="5556070"/>
            <a:ext cx="191589" cy="130629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E"/>
          </a:p>
        </p:txBody>
      </p:sp>
      <p:sp>
        <p:nvSpPr>
          <p:cNvPr id="54" name="Oval 53">
            <a:extLst>
              <a:ext uri="{FF2B5EF4-FFF2-40B4-BE49-F238E27FC236}">
                <a16:creationId xmlns:a16="http://schemas.microsoft.com/office/drawing/2014/main" id="{3E0A6612-BC26-BA48-49A3-047C10DD090D}"/>
              </a:ext>
            </a:extLst>
          </p:cNvPr>
          <p:cNvSpPr/>
          <p:nvPr/>
        </p:nvSpPr>
        <p:spPr>
          <a:xfrm>
            <a:off x="2636515" y="4132213"/>
            <a:ext cx="191589" cy="130629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E"/>
          </a:p>
        </p:txBody>
      </p:sp>
      <p:sp>
        <p:nvSpPr>
          <p:cNvPr id="55" name="Oval 54">
            <a:extLst>
              <a:ext uri="{FF2B5EF4-FFF2-40B4-BE49-F238E27FC236}">
                <a16:creationId xmlns:a16="http://schemas.microsoft.com/office/drawing/2014/main" id="{66DC2964-5503-F354-A1AA-51265F103548}"/>
              </a:ext>
            </a:extLst>
          </p:cNvPr>
          <p:cNvSpPr/>
          <p:nvPr/>
        </p:nvSpPr>
        <p:spPr>
          <a:xfrm>
            <a:off x="2636515" y="4479935"/>
            <a:ext cx="191589" cy="130629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E"/>
          </a:p>
        </p:txBody>
      </p:sp>
      <p:sp>
        <p:nvSpPr>
          <p:cNvPr id="56" name="Oval 55">
            <a:extLst>
              <a:ext uri="{FF2B5EF4-FFF2-40B4-BE49-F238E27FC236}">
                <a16:creationId xmlns:a16="http://schemas.microsoft.com/office/drawing/2014/main" id="{AE810775-C0F8-2E3B-BF83-E21B32CA6A57}"/>
              </a:ext>
            </a:extLst>
          </p:cNvPr>
          <p:cNvSpPr/>
          <p:nvPr/>
        </p:nvSpPr>
        <p:spPr>
          <a:xfrm>
            <a:off x="2636515" y="4850671"/>
            <a:ext cx="191589" cy="130629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E"/>
          </a:p>
        </p:txBody>
      </p:sp>
      <p:sp>
        <p:nvSpPr>
          <p:cNvPr id="57" name="Oval 56">
            <a:extLst>
              <a:ext uri="{FF2B5EF4-FFF2-40B4-BE49-F238E27FC236}">
                <a16:creationId xmlns:a16="http://schemas.microsoft.com/office/drawing/2014/main" id="{C87CCFAB-F5F5-3107-0448-E53D843E3E18}"/>
              </a:ext>
            </a:extLst>
          </p:cNvPr>
          <p:cNvSpPr/>
          <p:nvPr/>
        </p:nvSpPr>
        <p:spPr>
          <a:xfrm>
            <a:off x="2636515" y="5198393"/>
            <a:ext cx="191589" cy="130629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E"/>
          </a:p>
        </p:txBody>
      </p:sp>
      <p:sp>
        <p:nvSpPr>
          <p:cNvPr id="58" name="Oval 57">
            <a:extLst>
              <a:ext uri="{FF2B5EF4-FFF2-40B4-BE49-F238E27FC236}">
                <a16:creationId xmlns:a16="http://schemas.microsoft.com/office/drawing/2014/main" id="{38FA2424-6F19-6AE6-0B80-6D127A3A036F}"/>
              </a:ext>
            </a:extLst>
          </p:cNvPr>
          <p:cNvSpPr/>
          <p:nvPr/>
        </p:nvSpPr>
        <p:spPr>
          <a:xfrm>
            <a:off x="2636515" y="5569129"/>
            <a:ext cx="191589" cy="130629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E"/>
          </a:p>
        </p:txBody>
      </p:sp>
      <p:sp>
        <p:nvSpPr>
          <p:cNvPr id="59" name="Oval 58">
            <a:extLst>
              <a:ext uri="{FF2B5EF4-FFF2-40B4-BE49-F238E27FC236}">
                <a16:creationId xmlns:a16="http://schemas.microsoft.com/office/drawing/2014/main" id="{3B640E79-E792-FED4-6433-22DA880096A6}"/>
              </a:ext>
            </a:extLst>
          </p:cNvPr>
          <p:cNvSpPr/>
          <p:nvPr/>
        </p:nvSpPr>
        <p:spPr>
          <a:xfrm>
            <a:off x="4304208" y="4136566"/>
            <a:ext cx="191589" cy="130629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E"/>
          </a:p>
        </p:txBody>
      </p:sp>
      <p:sp>
        <p:nvSpPr>
          <p:cNvPr id="60" name="Oval 59">
            <a:extLst>
              <a:ext uri="{FF2B5EF4-FFF2-40B4-BE49-F238E27FC236}">
                <a16:creationId xmlns:a16="http://schemas.microsoft.com/office/drawing/2014/main" id="{1C8FBF4D-DA1A-56FB-5AD4-CD7EAF15C2F7}"/>
              </a:ext>
            </a:extLst>
          </p:cNvPr>
          <p:cNvSpPr/>
          <p:nvPr/>
        </p:nvSpPr>
        <p:spPr>
          <a:xfrm>
            <a:off x="4304208" y="4484288"/>
            <a:ext cx="191589" cy="130629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E"/>
          </a:p>
        </p:txBody>
      </p:sp>
      <p:sp>
        <p:nvSpPr>
          <p:cNvPr id="61" name="Oval 60">
            <a:extLst>
              <a:ext uri="{FF2B5EF4-FFF2-40B4-BE49-F238E27FC236}">
                <a16:creationId xmlns:a16="http://schemas.microsoft.com/office/drawing/2014/main" id="{512D828B-A93D-1AAD-EFEC-8639F751EB58}"/>
              </a:ext>
            </a:extLst>
          </p:cNvPr>
          <p:cNvSpPr/>
          <p:nvPr/>
        </p:nvSpPr>
        <p:spPr>
          <a:xfrm>
            <a:off x="4304208" y="4855024"/>
            <a:ext cx="191589" cy="130629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E"/>
          </a:p>
        </p:txBody>
      </p:sp>
      <p:sp>
        <p:nvSpPr>
          <p:cNvPr id="62" name="Oval 61">
            <a:extLst>
              <a:ext uri="{FF2B5EF4-FFF2-40B4-BE49-F238E27FC236}">
                <a16:creationId xmlns:a16="http://schemas.microsoft.com/office/drawing/2014/main" id="{CE9EFC51-CC53-2B64-9122-5530A7C36598}"/>
              </a:ext>
            </a:extLst>
          </p:cNvPr>
          <p:cNvSpPr/>
          <p:nvPr/>
        </p:nvSpPr>
        <p:spPr>
          <a:xfrm>
            <a:off x="4304208" y="5202746"/>
            <a:ext cx="191589" cy="130629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E"/>
          </a:p>
        </p:txBody>
      </p:sp>
      <p:sp>
        <p:nvSpPr>
          <p:cNvPr id="63" name="Oval 62">
            <a:extLst>
              <a:ext uri="{FF2B5EF4-FFF2-40B4-BE49-F238E27FC236}">
                <a16:creationId xmlns:a16="http://schemas.microsoft.com/office/drawing/2014/main" id="{372C8A91-62A5-FD17-1731-A71599F95BEA}"/>
              </a:ext>
            </a:extLst>
          </p:cNvPr>
          <p:cNvSpPr/>
          <p:nvPr/>
        </p:nvSpPr>
        <p:spPr>
          <a:xfrm>
            <a:off x="4304208" y="5573482"/>
            <a:ext cx="191589" cy="130629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E"/>
          </a:p>
        </p:txBody>
      </p:sp>
      <p:sp>
        <p:nvSpPr>
          <p:cNvPr id="1024" name="Rectangle 1023">
            <a:extLst>
              <a:ext uri="{FF2B5EF4-FFF2-40B4-BE49-F238E27FC236}">
                <a16:creationId xmlns:a16="http://schemas.microsoft.com/office/drawing/2014/main" id="{90790829-D57A-13B3-B46F-DA3AD00F800D}"/>
              </a:ext>
            </a:extLst>
          </p:cNvPr>
          <p:cNvSpPr/>
          <p:nvPr/>
        </p:nvSpPr>
        <p:spPr>
          <a:xfrm>
            <a:off x="4997312" y="6230679"/>
            <a:ext cx="1073889" cy="39340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Save</a:t>
            </a:r>
            <a:endParaRPr lang="en-AE" dirty="0"/>
          </a:p>
        </p:txBody>
      </p:sp>
      <p:sp>
        <p:nvSpPr>
          <p:cNvPr id="1025" name="Rectangle 1024">
            <a:extLst>
              <a:ext uri="{FF2B5EF4-FFF2-40B4-BE49-F238E27FC236}">
                <a16:creationId xmlns:a16="http://schemas.microsoft.com/office/drawing/2014/main" id="{2704A142-A7B6-D5D3-B449-69BEAF6B9726}"/>
              </a:ext>
            </a:extLst>
          </p:cNvPr>
          <p:cNvSpPr/>
          <p:nvPr/>
        </p:nvSpPr>
        <p:spPr>
          <a:xfrm>
            <a:off x="6166724" y="5863629"/>
            <a:ext cx="1258190" cy="77104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Save &amp; go to next step</a:t>
            </a:r>
            <a:endParaRPr lang="en-AE" dirty="0"/>
          </a:p>
        </p:txBody>
      </p:sp>
      <p:sp>
        <p:nvSpPr>
          <p:cNvPr id="1027" name="Rectangle 1026">
            <a:extLst>
              <a:ext uri="{FF2B5EF4-FFF2-40B4-BE49-F238E27FC236}">
                <a16:creationId xmlns:a16="http://schemas.microsoft.com/office/drawing/2014/main" id="{E7F26334-5F86-1D1B-D4B3-D8AAA063D8BF}"/>
              </a:ext>
            </a:extLst>
          </p:cNvPr>
          <p:cNvSpPr/>
          <p:nvPr/>
        </p:nvSpPr>
        <p:spPr>
          <a:xfrm>
            <a:off x="3739121" y="6246627"/>
            <a:ext cx="1073889" cy="39340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Back</a:t>
            </a:r>
            <a:endParaRPr lang="en-AE" dirty="0"/>
          </a:p>
        </p:txBody>
      </p:sp>
      <p:sp>
        <p:nvSpPr>
          <p:cNvPr id="1028" name="Rectangle 1027">
            <a:extLst>
              <a:ext uri="{FF2B5EF4-FFF2-40B4-BE49-F238E27FC236}">
                <a16:creationId xmlns:a16="http://schemas.microsoft.com/office/drawing/2014/main" id="{D102BA43-EE42-931E-6854-BC46700364B7}"/>
              </a:ext>
            </a:extLst>
          </p:cNvPr>
          <p:cNvSpPr/>
          <p:nvPr/>
        </p:nvSpPr>
        <p:spPr>
          <a:xfrm>
            <a:off x="287062" y="6246627"/>
            <a:ext cx="3267758" cy="39340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Go to Services &amp; Assets Page</a:t>
            </a:r>
            <a:endParaRPr lang="en-AE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BF07BA6-9A71-4950-BD86-8243237B7556}"/>
              </a:ext>
            </a:extLst>
          </p:cNvPr>
          <p:cNvSpPr txBox="1"/>
          <p:nvPr/>
        </p:nvSpPr>
        <p:spPr>
          <a:xfrm>
            <a:off x="738468" y="78791"/>
            <a:ext cx="66864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highlight>
                  <a:srgbClr val="FFFF0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These values are the x-axis values of the tables on p. 8, 10 &amp; 12</a:t>
            </a:r>
            <a:endParaRPr lang="en-AE" dirty="0">
              <a:highlight>
                <a:srgbClr val="FFFF00"/>
              </a:highlight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352AF8E-17BF-7261-1320-E1CC795919A7}"/>
              </a:ext>
            </a:extLst>
          </p:cNvPr>
          <p:cNvSpPr/>
          <p:nvPr/>
        </p:nvSpPr>
        <p:spPr>
          <a:xfrm>
            <a:off x="7513693" y="6401231"/>
            <a:ext cx="4592165" cy="45676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View Risk Assessment of all asset components</a:t>
            </a:r>
            <a:endParaRPr lang="en-AE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35B620F-1AFD-DB0E-DEFB-CAB084AAD6F8}"/>
              </a:ext>
            </a:extLst>
          </p:cNvPr>
          <p:cNvSpPr txBox="1"/>
          <p:nvPr/>
        </p:nvSpPr>
        <p:spPr>
          <a:xfrm>
            <a:off x="9305011" y="6054686"/>
            <a:ext cx="690099" cy="369332"/>
          </a:xfrm>
          <a:prstGeom prst="rect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p. 14</a:t>
            </a:r>
            <a:endParaRPr lang="en-AE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8FF4050-088D-CCC7-18A0-8044D9652D9F}"/>
              </a:ext>
            </a:extLst>
          </p:cNvPr>
          <p:cNvSpPr/>
          <p:nvPr/>
        </p:nvSpPr>
        <p:spPr>
          <a:xfrm>
            <a:off x="7772400" y="5578167"/>
            <a:ext cx="4226013" cy="30777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View Risk Assessment of all services</a:t>
            </a:r>
            <a:endParaRPr lang="en-AE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9E63222-7DA8-EEA4-4D27-8C34DE809968}"/>
              </a:ext>
            </a:extLst>
          </p:cNvPr>
          <p:cNvSpPr txBox="1"/>
          <p:nvPr/>
        </p:nvSpPr>
        <p:spPr>
          <a:xfrm>
            <a:off x="9305011" y="5231622"/>
            <a:ext cx="690099" cy="369332"/>
          </a:xfrm>
          <a:prstGeom prst="rect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p. 15</a:t>
            </a:r>
            <a:endParaRPr lang="en-AE" dirty="0"/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159752D0-A0E6-BA84-655A-87726FB78F58}"/>
              </a:ext>
            </a:extLst>
          </p:cNvPr>
          <p:cNvCxnSpPr>
            <a:cxnSpLocks/>
          </p:cNvCxnSpPr>
          <p:nvPr/>
        </p:nvCxnSpPr>
        <p:spPr>
          <a:xfrm flipH="1">
            <a:off x="1055905" y="448123"/>
            <a:ext cx="865036" cy="309351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6643A41E-602F-450F-E270-704E228FFF50}"/>
              </a:ext>
            </a:extLst>
          </p:cNvPr>
          <p:cNvCxnSpPr>
            <a:cxnSpLocks/>
            <a:endCxn id="48" idx="0"/>
          </p:cNvCxnSpPr>
          <p:nvPr/>
        </p:nvCxnSpPr>
        <p:spPr>
          <a:xfrm>
            <a:off x="2041099" y="483175"/>
            <a:ext cx="683348" cy="305846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769E76DF-FBAE-83FA-552C-6D6D7F7DE4F4}"/>
              </a:ext>
            </a:extLst>
          </p:cNvPr>
          <p:cNvCxnSpPr>
            <a:cxnSpLocks/>
          </p:cNvCxnSpPr>
          <p:nvPr/>
        </p:nvCxnSpPr>
        <p:spPr>
          <a:xfrm>
            <a:off x="2073341" y="448123"/>
            <a:ext cx="2230867" cy="309351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C6844A93-390B-19B3-96BA-7EB90C8BA542}"/>
              </a:ext>
            </a:extLst>
          </p:cNvPr>
          <p:cNvCxnSpPr>
            <a:cxnSpLocks/>
          </p:cNvCxnSpPr>
          <p:nvPr/>
        </p:nvCxnSpPr>
        <p:spPr>
          <a:xfrm flipV="1">
            <a:off x="9020060" y="5670862"/>
            <a:ext cx="2250216" cy="411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29" name="Group 28">
            <a:extLst>
              <a:ext uri="{FF2B5EF4-FFF2-40B4-BE49-F238E27FC236}">
                <a16:creationId xmlns:a16="http://schemas.microsoft.com/office/drawing/2014/main" id="{FAD917C5-7255-DE6E-DB2B-FCE8872E918E}"/>
              </a:ext>
            </a:extLst>
          </p:cNvPr>
          <p:cNvGrpSpPr/>
          <p:nvPr/>
        </p:nvGrpSpPr>
        <p:grpSpPr>
          <a:xfrm>
            <a:off x="4978069" y="3449218"/>
            <a:ext cx="6754168" cy="2186690"/>
            <a:chOff x="4946274" y="1177095"/>
            <a:chExt cx="6754168" cy="2186690"/>
          </a:xfrm>
        </p:grpSpPr>
        <p:pic>
          <p:nvPicPr>
            <p:cNvPr id="30" name="Picture 29">
              <a:extLst>
                <a:ext uri="{FF2B5EF4-FFF2-40B4-BE49-F238E27FC236}">
                  <a16:creationId xmlns:a16="http://schemas.microsoft.com/office/drawing/2014/main" id="{2777DAD1-9BC1-824F-33E6-FC3610828E0F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946274" y="1177095"/>
              <a:ext cx="6754168" cy="2019582"/>
            </a:xfrm>
            <a:prstGeom prst="rect">
              <a:avLst/>
            </a:prstGeom>
          </p:spPr>
        </p:pic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116F3360-7A00-22EB-F416-99BD3C6FB36C}"/>
                </a:ext>
              </a:extLst>
            </p:cNvPr>
            <p:cNvCxnSpPr/>
            <p:nvPr/>
          </p:nvCxnSpPr>
          <p:spPr>
            <a:xfrm>
              <a:off x="7302843" y="1177095"/>
              <a:ext cx="0" cy="1924451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87AD3FDC-9267-1280-125A-132DE9A6EC42}"/>
                </a:ext>
              </a:extLst>
            </p:cNvPr>
            <p:cNvSpPr txBox="1"/>
            <p:nvPr/>
          </p:nvSpPr>
          <p:spPr>
            <a:xfrm>
              <a:off x="7142205" y="1177095"/>
              <a:ext cx="1332981" cy="369332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r>
                <a:rPr lang="en-US" dirty="0"/>
                <a:t>Currency</a:t>
              </a:r>
              <a:endParaRPr lang="en-AE" dirty="0"/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0BA7AB19-9320-AB42-55FB-F0154B117584}"/>
                </a:ext>
              </a:extLst>
            </p:cNvPr>
            <p:cNvSpPr txBox="1"/>
            <p:nvPr/>
          </p:nvSpPr>
          <p:spPr>
            <a:xfrm>
              <a:off x="7149463" y="1609459"/>
              <a:ext cx="1332981" cy="1754326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r>
                <a:rPr lang="en-US" dirty="0"/>
                <a:t>None</a:t>
              </a:r>
            </a:p>
            <a:p>
              <a:r>
                <a:rPr lang="en-US" dirty="0"/>
                <a:t>PKR</a:t>
              </a:r>
            </a:p>
            <a:p>
              <a:r>
                <a:rPr lang="en-US" dirty="0"/>
                <a:t>USD</a:t>
              </a:r>
            </a:p>
            <a:p>
              <a:r>
                <a:rPr lang="en-US" dirty="0"/>
                <a:t>SAR</a:t>
              </a:r>
            </a:p>
            <a:p>
              <a:r>
                <a:rPr lang="en-US" dirty="0"/>
                <a:t>AED</a:t>
              </a:r>
            </a:p>
            <a:p>
              <a:r>
                <a:rPr lang="en-US" dirty="0"/>
                <a:t>GBP</a:t>
              </a:r>
              <a:endParaRPr lang="en-AE" dirty="0"/>
            </a:p>
          </p:txBody>
        </p:sp>
        <p:sp>
          <p:nvSpPr>
            <p:cNvPr id="34" name="Isosceles Triangle 33">
              <a:extLst>
                <a:ext uri="{FF2B5EF4-FFF2-40B4-BE49-F238E27FC236}">
                  <a16:creationId xmlns:a16="http://schemas.microsoft.com/office/drawing/2014/main" id="{AD092610-A3E0-B618-47D4-2247FEB64B55}"/>
                </a:ext>
              </a:extLst>
            </p:cNvPr>
            <p:cNvSpPr/>
            <p:nvPr/>
          </p:nvSpPr>
          <p:spPr>
            <a:xfrm rot="10800000">
              <a:off x="7967170" y="1644814"/>
              <a:ext cx="407773" cy="279250"/>
            </a:xfrm>
            <a:prstGeom prst="triangl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E"/>
            </a:p>
          </p:txBody>
        </p: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FCA26049-7E21-518A-2A4C-F582687B5878}"/>
                </a:ext>
              </a:extLst>
            </p:cNvPr>
            <p:cNvCxnSpPr/>
            <p:nvPr/>
          </p:nvCxnSpPr>
          <p:spPr>
            <a:xfrm>
              <a:off x="5021181" y="3002692"/>
              <a:ext cx="1243695" cy="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46EDFD53-90B1-8AD6-21CE-61862CAB5E89}"/>
              </a:ext>
            </a:extLst>
          </p:cNvPr>
          <p:cNvCxnSpPr>
            <a:cxnSpLocks/>
          </p:cNvCxnSpPr>
          <p:nvPr/>
        </p:nvCxnSpPr>
        <p:spPr>
          <a:xfrm>
            <a:off x="8813560" y="5278933"/>
            <a:ext cx="621727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7460631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5FF089-8FE8-B518-56A0-F67B3F6023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7AD3EC4A-1FAC-59E9-557A-07D094CAE6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03564"/>
            <a:ext cx="12192000" cy="1341623"/>
          </a:xfrm>
          <a:prstGeom prst="rect">
            <a:avLst/>
          </a:prstGeom>
        </p:spPr>
      </p:pic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44C80BDA-B938-87AD-1027-71F09B66AFF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75334708"/>
              </p:ext>
            </p:extLst>
          </p:nvPr>
        </p:nvGraphicFramePr>
        <p:xfrm>
          <a:off x="121836" y="3491234"/>
          <a:ext cx="11948325" cy="19945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83672">
                  <a:extLst>
                    <a:ext uri="{9D8B030D-6E8A-4147-A177-3AD203B41FA5}">
                      <a16:colId xmlns:a16="http://schemas.microsoft.com/office/drawing/2014/main" val="440325307"/>
                    </a:ext>
                  </a:extLst>
                </a:gridCol>
                <a:gridCol w="7773387">
                  <a:extLst>
                    <a:ext uri="{9D8B030D-6E8A-4147-A177-3AD203B41FA5}">
                      <a16:colId xmlns:a16="http://schemas.microsoft.com/office/drawing/2014/main" val="2691663188"/>
                    </a:ext>
                  </a:extLst>
                </a:gridCol>
                <a:gridCol w="3591266">
                  <a:extLst>
                    <a:ext uri="{9D8B030D-6E8A-4147-A177-3AD203B41FA5}">
                      <a16:colId xmlns:a16="http://schemas.microsoft.com/office/drawing/2014/main" val="258394005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900" dirty="0"/>
                        <a:t>Select</a:t>
                      </a:r>
                      <a:endParaRPr lang="en-AE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Risk Source (Threat)</a:t>
                      </a:r>
                      <a:endParaRPr lang="en-AE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Target Objectives of Risk Source</a:t>
                      </a:r>
                      <a:endParaRPr lang="en-AE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15311435"/>
                  </a:ext>
                </a:extLst>
              </a:tr>
              <a:tr h="252104">
                <a:tc>
                  <a:txBody>
                    <a:bodyPr/>
                    <a:lstStyle/>
                    <a:p>
                      <a:endParaRPr lang="en-AE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Cyber terrorists, cyber militias</a:t>
                      </a:r>
                      <a:endParaRPr lang="en-AE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E" sz="9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35281296"/>
                  </a:ext>
                </a:extLst>
              </a:tr>
              <a:tr h="235131">
                <a:tc>
                  <a:txBody>
                    <a:bodyPr/>
                    <a:lstStyle/>
                    <a:p>
                      <a:endParaRPr lang="en-AE" sz="9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AT" sz="10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Cyber-hacktivists, interest groups, sects	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AT" sz="9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90031281"/>
                  </a:ext>
                </a:extLst>
              </a:tr>
              <a:tr h="243840">
                <a:tc>
                  <a:txBody>
                    <a:bodyPr/>
                    <a:lstStyle/>
                    <a:p>
                      <a:endParaRPr lang="en-AE" sz="9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“Cyber-mercenary” profile with IT capacities that are generally high from a technical standpoint.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9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28312729"/>
                  </a:ext>
                </a:extLst>
              </a:tr>
              <a:tr h="235132">
                <a:tc>
                  <a:txBody>
                    <a:bodyPr/>
                    <a:lstStyle/>
                    <a:p>
                      <a:endParaRPr lang="en-AE" sz="9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/>
                        <a:t>Script kiddies</a:t>
                      </a:r>
                      <a:r>
                        <a:rPr lang="en-US" sz="10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with the capacity of use the attack kits that are available online</a:t>
                      </a:r>
                      <a:endParaRPr lang="en-AE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AE" sz="9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10787921"/>
                  </a:ext>
                </a:extLst>
              </a:tr>
              <a:tr h="243840">
                <a:tc>
                  <a:txBody>
                    <a:bodyPr/>
                    <a:lstStyle/>
                    <a:p>
                      <a:endParaRPr lang="en-AE" sz="9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Attacker with motivations of acute vengeance or a feeling of injustice (e.g. employee dismissed for serious fault, discontented service provider following a contract that was not renewed, etc.).	</a:t>
                      </a:r>
                      <a:endParaRPr lang="en-AE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AE" sz="9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10432601"/>
                  </a:ext>
                </a:extLst>
              </a:tr>
              <a:tr h="226423">
                <a:tc>
                  <a:txBody>
                    <a:bodyPr/>
                    <a:lstStyle/>
                    <a:p>
                      <a:endParaRPr lang="en-AE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Pathological attacker e.g. unfair competitor, dishonest client, scammer, and fraudster.</a:t>
                      </a:r>
                      <a:endParaRPr lang="en-AE" sz="10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AE" sz="9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29111108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F749C9AA-F2C8-A665-A51C-CDF28644631C}"/>
              </a:ext>
            </a:extLst>
          </p:cNvPr>
          <p:cNvSpPr txBox="1"/>
          <p:nvPr/>
        </p:nvSpPr>
        <p:spPr>
          <a:xfrm>
            <a:off x="121836" y="3109170"/>
            <a:ext cx="10007868" cy="369332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Identify which risk sources (threats) could exploit vulnerabilities in the asset component </a:t>
            </a:r>
            <a:endParaRPr lang="en-AE" b="1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74D1EAD-1B34-E4D2-4C59-78D5D776E3A7}"/>
              </a:ext>
            </a:extLst>
          </p:cNvPr>
          <p:cNvSpPr/>
          <p:nvPr/>
        </p:nvSpPr>
        <p:spPr>
          <a:xfrm>
            <a:off x="335277" y="3921080"/>
            <a:ext cx="139337" cy="11321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E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5CB255E-EFA7-A4F7-29AA-C06FC9B9A5AE}"/>
              </a:ext>
            </a:extLst>
          </p:cNvPr>
          <p:cNvSpPr/>
          <p:nvPr/>
        </p:nvSpPr>
        <p:spPr>
          <a:xfrm>
            <a:off x="335277" y="4160569"/>
            <a:ext cx="139337" cy="11321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E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20A42393-9187-0338-77C4-82737C0F414D}"/>
              </a:ext>
            </a:extLst>
          </p:cNvPr>
          <p:cNvSpPr/>
          <p:nvPr/>
        </p:nvSpPr>
        <p:spPr>
          <a:xfrm>
            <a:off x="335277" y="4417474"/>
            <a:ext cx="139337" cy="11321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E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393C1694-6C1C-58C7-0C7C-10A0FF2C9978}"/>
              </a:ext>
            </a:extLst>
          </p:cNvPr>
          <p:cNvSpPr/>
          <p:nvPr/>
        </p:nvSpPr>
        <p:spPr>
          <a:xfrm>
            <a:off x="335277" y="4670021"/>
            <a:ext cx="139337" cy="11321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E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E7AADBF7-3A20-6743-2E7D-76A66A1DCC7C}"/>
              </a:ext>
            </a:extLst>
          </p:cNvPr>
          <p:cNvSpPr/>
          <p:nvPr/>
        </p:nvSpPr>
        <p:spPr>
          <a:xfrm>
            <a:off x="335277" y="4983527"/>
            <a:ext cx="139337" cy="11321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E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7AAC118A-BF67-7F43-0D1F-EDDE15DBE4C5}"/>
              </a:ext>
            </a:extLst>
          </p:cNvPr>
          <p:cNvSpPr/>
          <p:nvPr/>
        </p:nvSpPr>
        <p:spPr>
          <a:xfrm>
            <a:off x="335277" y="5262200"/>
            <a:ext cx="139337" cy="11321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E"/>
          </a:p>
        </p:txBody>
      </p:sp>
      <p:pic>
        <p:nvPicPr>
          <p:cNvPr id="1026" name="Picture 2" descr="Select Icon PNG Images, Vectors Free Download - Pngtree">
            <a:extLst>
              <a:ext uri="{FF2B5EF4-FFF2-40B4-BE49-F238E27FC236}">
                <a16:creationId xmlns:a16="http://schemas.microsoft.com/office/drawing/2014/main" id="{2AAEAAD3-38A5-9EDD-7785-2739ED10F21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06394" y="3815425"/>
            <a:ext cx="304799" cy="3047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" name="Picture 2" descr="Select Icon PNG Images, Vectors Free Download - Pngtree">
            <a:extLst>
              <a:ext uri="{FF2B5EF4-FFF2-40B4-BE49-F238E27FC236}">
                <a16:creationId xmlns:a16="http://schemas.microsoft.com/office/drawing/2014/main" id="{77BFD269-9ED8-4C2A-F04B-7642872ABB7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06394" y="4107362"/>
            <a:ext cx="304799" cy="3047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" name="Picture 2" descr="Select Icon PNG Images, Vectors Free Download - Pngtree">
            <a:extLst>
              <a:ext uri="{FF2B5EF4-FFF2-40B4-BE49-F238E27FC236}">
                <a16:creationId xmlns:a16="http://schemas.microsoft.com/office/drawing/2014/main" id="{BA225B5C-B05B-3371-1FD5-10517A46FD5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06394" y="4298755"/>
            <a:ext cx="304799" cy="3047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5" name="Picture 2" descr="Select Icon PNG Images, Vectors Free Download - Pngtree">
            <a:extLst>
              <a:ext uri="{FF2B5EF4-FFF2-40B4-BE49-F238E27FC236}">
                <a16:creationId xmlns:a16="http://schemas.microsoft.com/office/drawing/2014/main" id="{2DAEB7B5-330F-8195-D825-F784A419397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06394" y="4594840"/>
            <a:ext cx="304799" cy="3047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6" name="Picture 2" descr="Select Icon PNG Images, Vectors Free Download - Pngtree">
            <a:extLst>
              <a:ext uri="{FF2B5EF4-FFF2-40B4-BE49-F238E27FC236}">
                <a16:creationId xmlns:a16="http://schemas.microsoft.com/office/drawing/2014/main" id="{0C56C335-91F1-0FFB-57BE-9AC906E194C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06394" y="4917061"/>
            <a:ext cx="304799" cy="3047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" name="Picture 2" descr="Select Icon PNG Images, Vectors Free Download - Pngtree">
            <a:extLst>
              <a:ext uri="{FF2B5EF4-FFF2-40B4-BE49-F238E27FC236}">
                <a16:creationId xmlns:a16="http://schemas.microsoft.com/office/drawing/2014/main" id="{2C69FA3E-420D-3272-AA36-DCBE5820880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06394" y="5282819"/>
            <a:ext cx="304799" cy="3047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8" name="TextBox 27">
            <a:extLst>
              <a:ext uri="{FF2B5EF4-FFF2-40B4-BE49-F238E27FC236}">
                <a16:creationId xmlns:a16="http://schemas.microsoft.com/office/drawing/2014/main" id="{0F78501A-252E-358E-F856-FB27FF857379}"/>
              </a:ext>
            </a:extLst>
          </p:cNvPr>
          <p:cNvSpPr txBox="1"/>
          <p:nvPr/>
        </p:nvSpPr>
        <p:spPr>
          <a:xfrm>
            <a:off x="7936322" y="5943119"/>
            <a:ext cx="4169537" cy="523220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400" i="1" dirty="0">
                <a:solidFill>
                  <a:schemeClr val="tx1"/>
                </a:solidFill>
                <a:highlight>
                  <a:srgbClr val="FFFF0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For each row, allow user to select one or more of the 6 values (new page or pop-up)</a:t>
            </a:r>
            <a:endParaRPr lang="en-AE" sz="1400" i="1" dirty="0">
              <a:solidFill>
                <a:schemeClr val="tx1"/>
              </a:solidFill>
              <a:highlight>
                <a:srgbClr val="FFFF00"/>
              </a:highlight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B4716A4E-2652-25DF-5B99-A1F2E08E401D}"/>
              </a:ext>
            </a:extLst>
          </p:cNvPr>
          <p:cNvCxnSpPr>
            <a:cxnSpLocks/>
          </p:cNvCxnSpPr>
          <p:nvPr/>
        </p:nvCxnSpPr>
        <p:spPr>
          <a:xfrm flipV="1">
            <a:off x="8201265" y="5745528"/>
            <a:ext cx="721245" cy="19759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ectangle 30">
            <a:extLst>
              <a:ext uri="{FF2B5EF4-FFF2-40B4-BE49-F238E27FC236}">
                <a16:creationId xmlns:a16="http://schemas.microsoft.com/office/drawing/2014/main" id="{A5406548-1718-B66B-ED26-6B9FA18C3F50}"/>
              </a:ext>
            </a:extLst>
          </p:cNvPr>
          <p:cNvSpPr/>
          <p:nvPr/>
        </p:nvSpPr>
        <p:spPr>
          <a:xfrm>
            <a:off x="9144018" y="4073480"/>
            <a:ext cx="139337" cy="11321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E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04680168-7927-6645-A203-ED97CAFAD46A}"/>
              </a:ext>
            </a:extLst>
          </p:cNvPr>
          <p:cNvSpPr/>
          <p:nvPr/>
        </p:nvSpPr>
        <p:spPr>
          <a:xfrm>
            <a:off x="9144018" y="4312969"/>
            <a:ext cx="139337" cy="11321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E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97950E93-0EA3-C409-7EC4-2A8B6D202C83}"/>
              </a:ext>
            </a:extLst>
          </p:cNvPr>
          <p:cNvSpPr/>
          <p:nvPr/>
        </p:nvSpPr>
        <p:spPr>
          <a:xfrm>
            <a:off x="9144018" y="4569874"/>
            <a:ext cx="139337" cy="11321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E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45EE2E31-0C81-098D-DD14-0C36C6982BE4}"/>
              </a:ext>
            </a:extLst>
          </p:cNvPr>
          <p:cNvSpPr/>
          <p:nvPr/>
        </p:nvSpPr>
        <p:spPr>
          <a:xfrm>
            <a:off x="9144018" y="4822421"/>
            <a:ext cx="139337" cy="11321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E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298D8FE9-47B4-7FD3-E325-BC2EEE8A8E94}"/>
              </a:ext>
            </a:extLst>
          </p:cNvPr>
          <p:cNvSpPr/>
          <p:nvPr/>
        </p:nvSpPr>
        <p:spPr>
          <a:xfrm>
            <a:off x="9144018" y="5249140"/>
            <a:ext cx="139337" cy="11321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E" dirty="0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9957CFFB-EEED-C96E-D115-163A07026EB2}"/>
              </a:ext>
            </a:extLst>
          </p:cNvPr>
          <p:cNvSpPr/>
          <p:nvPr/>
        </p:nvSpPr>
        <p:spPr>
          <a:xfrm>
            <a:off x="9144018" y="5632317"/>
            <a:ext cx="139337" cy="11321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E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57AA87D-F56D-254B-897D-D5A943402BA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1838" y="1849384"/>
            <a:ext cx="4275992" cy="331758"/>
          </a:xfrm>
          <a:prstGeom prst="rect">
            <a:avLst/>
          </a:prstGeom>
        </p:spPr>
      </p:pic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DC3986F6-7EEC-54C1-57D9-CDCAB4411E5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24892697"/>
              </p:ext>
            </p:extLst>
          </p:nvPr>
        </p:nvGraphicFramePr>
        <p:xfrm>
          <a:off x="159724" y="2168353"/>
          <a:ext cx="11684000" cy="5181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460500">
                  <a:extLst>
                    <a:ext uri="{9D8B030D-6E8A-4147-A177-3AD203B41FA5}">
                      <a16:colId xmlns:a16="http://schemas.microsoft.com/office/drawing/2014/main" val="2713550951"/>
                    </a:ext>
                  </a:extLst>
                </a:gridCol>
                <a:gridCol w="644660">
                  <a:extLst>
                    <a:ext uri="{9D8B030D-6E8A-4147-A177-3AD203B41FA5}">
                      <a16:colId xmlns:a16="http://schemas.microsoft.com/office/drawing/2014/main" val="2522429615"/>
                    </a:ext>
                  </a:extLst>
                </a:gridCol>
                <a:gridCol w="975360">
                  <a:extLst>
                    <a:ext uri="{9D8B030D-6E8A-4147-A177-3AD203B41FA5}">
                      <a16:colId xmlns:a16="http://schemas.microsoft.com/office/drawing/2014/main" val="2856555388"/>
                    </a:ext>
                  </a:extLst>
                </a:gridCol>
                <a:gridCol w="1018903">
                  <a:extLst>
                    <a:ext uri="{9D8B030D-6E8A-4147-A177-3AD203B41FA5}">
                      <a16:colId xmlns:a16="http://schemas.microsoft.com/office/drawing/2014/main" val="2399358289"/>
                    </a:ext>
                  </a:extLst>
                </a:gridCol>
                <a:gridCol w="957943">
                  <a:extLst>
                    <a:ext uri="{9D8B030D-6E8A-4147-A177-3AD203B41FA5}">
                      <a16:colId xmlns:a16="http://schemas.microsoft.com/office/drawing/2014/main" val="244556393"/>
                    </a:ext>
                  </a:extLst>
                </a:gridCol>
                <a:gridCol w="984068">
                  <a:extLst>
                    <a:ext uri="{9D8B030D-6E8A-4147-A177-3AD203B41FA5}">
                      <a16:colId xmlns:a16="http://schemas.microsoft.com/office/drawing/2014/main" val="720004741"/>
                    </a:ext>
                  </a:extLst>
                </a:gridCol>
                <a:gridCol w="1201783">
                  <a:extLst>
                    <a:ext uri="{9D8B030D-6E8A-4147-A177-3AD203B41FA5}">
                      <a16:colId xmlns:a16="http://schemas.microsoft.com/office/drawing/2014/main" val="4268014146"/>
                    </a:ext>
                  </a:extLst>
                </a:gridCol>
                <a:gridCol w="4440783">
                  <a:extLst>
                    <a:ext uri="{9D8B030D-6E8A-4147-A177-3AD203B41FA5}">
                      <a16:colId xmlns:a16="http://schemas.microsoft.com/office/drawing/2014/main" val="116687783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4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Service</a:t>
                      </a:r>
                      <a:endParaRPr lang="en-AE" sz="1400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S1</a:t>
                      </a:r>
                      <a:endParaRPr lang="en-AE" sz="1400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Asset Group</a:t>
                      </a:r>
                      <a:endParaRPr lang="en-AE" sz="1400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AE" sz="1400" b="1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Asset Category</a:t>
                      </a:r>
                      <a:endParaRPr lang="en-AE" sz="1400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PCI CHD</a:t>
                      </a:r>
                      <a:endParaRPr lang="en-AE" sz="1400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Asset Component</a:t>
                      </a:r>
                      <a:endParaRPr lang="en-AE" sz="1400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PCI CHD of Visa debit cards</a:t>
                      </a:r>
                      <a:endParaRPr lang="en-AE" sz="1400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6498387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477808B5-88DB-55B2-B44C-B73E7D51C26E}"/>
              </a:ext>
            </a:extLst>
          </p:cNvPr>
          <p:cNvSpPr txBox="1"/>
          <p:nvPr/>
        </p:nvSpPr>
        <p:spPr>
          <a:xfrm>
            <a:off x="157534" y="2790989"/>
            <a:ext cx="11948325" cy="307777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Information Security Risk Management Framework:  ISO 27005:2022 QUANTITATIVE – ASSET-based with operational risk scenarios</a:t>
            </a:r>
            <a:endParaRPr lang="en-AE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F5C53CA-F698-4C90-E7AD-874F93EC9F67}"/>
              </a:ext>
            </a:extLst>
          </p:cNvPr>
          <p:cNvSpPr/>
          <p:nvPr/>
        </p:nvSpPr>
        <p:spPr>
          <a:xfrm>
            <a:off x="9643757" y="6422067"/>
            <a:ext cx="1073889" cy="39340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Save</a:t>
            </a:r>
            <a:endParaRPr lang="en-AE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0B47008-5EAC-4458-CF7D-17BB138F7DED}"/>
              </a:ext>
            </a:extLst>
          </p:cNvPr>
          <p:cNvSpPr/>
          <p:nvPr/>
        </p:nvSpPr>
        <p:spPr>
          <a:xfrm>
            <a:off x="8385566" y="6438015"/>
            <a:ext cx="1073889" cy="39340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Back</a:t>
            </a:r>
            <a:endParaRPr lang="en-AE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64B3BBA7-7029-0975-F675-3843BDCBBEA2}"/>
              </a:ext>
            </a:extLst>
          </p:cNvPr>
          <p:cNvSpPr/>
          <p:nvPr/>
        </p:nvSpPr>
        <p:spPr>
          <a:xfrm>
            <a:off x="4933507" y="6438015"/>
            <a:ext cx="3267758" cy="39340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Go to Services &amp; Assets Page</a:t>
            </a:r>
            <a:endParaRPr lang="en-AE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A55391B-63D9-EA37-0926-D6C61D7CCB23}"/>
              </a:ext>
            </a:extLst>
          </p:cNvPr>
          <p:cNvSpPr txBox="1"/>
          <p:nvPr/>
        </p:nvSpPr>
        <p:spPr>
          <a:xfrm>
            <a:off x="128836" y="5557620"/>
            <a:ext cx="3850734" cy="307777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sz="1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Consolidated level of risk sources (threats)</a:t>
            </a:r>
            <a:endParaRPr lang="en-AE" sz="1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3BD9CEB-AC61-3EE4-3C56-21F3F80DDBD1}"/>
              </a:ext>
            </a:extLst>
          </p:cNvPr>
          <p:cNvSpPr/>
          <p:nvPr/>
        </p:nvSpPr>
        <p:spPr>
          <a:xfrm>
            <a:off x="327037" y="3690417"/>
            <a:ext cx="139337" cy="11321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E"/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E27D1037-6086-DF57-1BB1-61D4250748C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91901" y="4026793"/>
            <a:ext cx="2752389" cy="2062089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D19DF95F-093E-874A-3370-F61CDE0B7D91}"/>
              </a:ext>
            </a:extLst>
          </p:cNvPr>
          <p:cNvSpPr/>
          <p:nvPr/>
        </p:nvSpPr>
        <p:spPr>
          <a:xfrm>
            <a:off x="10775810" y="6024269"/>
            <a:ext cx="1258190" cy="77104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Save &amp; go to next step</a:t>
            </a:r>
            <a:endParaRPr lang="en-AE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5C134BD-825C-BDA0-A19D-7DB7003BC905}"/>
              </a:ext>
            </a:extLst>
          </p:cNvPr>
          <p:cNvSpPr/>
          <p:nvPr/>
        </p:nvSpPr>
        <p:spPr>
          <a:xfrm>
            <a:off x="4081266" y="5931674"/>
            <a:ext cx="5025659" cy="27817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View Risk Assessment of all asset components</a:t>
            </a:r>
            <a:endParaRPr lang="en-AE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253AFD8-02E0-EBAD-15C9-ECA8C5B4A307}"/>
              </a:ext>
            </a:extLst>
          </p:cNvPr>
          <p:cNvSpPr txBox="1"/>
          <p:nvPr/>
        </p:nvSpPr>
        <p:spPr>
          <a:xfrm>
            <a:off x="6282943" y="5585129"/>
            <a:ext cx="820679" cy="369332"/>
          </a:xfrm>
          <a:prstGeom prst="rect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p. 14</a:t>
            </a:r>
            <a:endParaRPr lang="en-AE" dirty="0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C3B6D9C3-8250-0EAA-1C9F-67059067EABE}"/>
              </a:ext>
            </a:extLst>
          </p:cNvPr>
          <p:cNvSpPr/>
          <p:nvPr/>
        </p:nvSpPr>
        <p:spPr>
          <a:xfrm>
            <a:off x="4081266" y="5108610"/>
            <a:ext cx="5025659" cy="27817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View Risk Assessment of all services</a:t>
            </a:r>
            <a:endParaRPr lang="en-AE" dirty="0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0B806F44-4344-FFA8-9A64-D3035B32B5D5}"/>
              </a:ext>
            </a:extLst>
          </p:cNvPr>
          <p:cNvSpPr txBox="1"/>
          <p:nvPr/>
        </p:nvSpPr>
        <p:spPr>
          <a:xfrm>
            <a:off x="6282943" y="4762065"/>
            <a:ext cx="820679" cy="369332"/>
          </a:xfrm>
          <a:prstGeom prst="rect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p. 15</a:t>
            </a:r>
            <a:endParaRPr lang="en-AE" dirty="0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157FB725-0625-BC18-BE43-C5104F811C68}"/>
              </a:ext>
            </a:extLst>
          </p:cNvPr>
          <p:cNvSpPr txBox="1"/>
          <p:nvPr/>
        </p:nvSpPr>
        <p:spPr>
          <a:xfrm>
            <a:off x="327037" y="6024269"/>
            <a:ext cx="28486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To be calculated</a:t>
            </a:r>
            <a:endParaRPr lang="en-AE" dirty="0"/>
          </a:p>
        </p:txBody>
      </p:sp>
    </p:spTree>
    <p:extLst>
      <p:ext uri="{BB962C8B-B14F-4D97-AF65-F5344CB8AC3E}">
        <p14:creationId xmlns:p14="http://schemas.microsoft.com/office/powerpoint/2010/main" val="186211346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F9612A-EDEC-31C7-8B6E-3F42618833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8E1BE36-09DC-F579-E9EB-892C893BE447}"/>
              </a:ext>
            </a:extLst>
          </p:cNvPr>
          <p:cNvSpPr txBox="1"/>
          <p:nvPr/>
        </p:nvSpPr>
        <p:spPr>
          <a:xfrm>
            <a:off x="157534" y="2074294"/>
            <a:ext cx="11684001" cy="307777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Information Security Risk Management Framework:  ISO 27005:2022 QUANTITATIVE – ASSET-based with operational risk scenarios</a:t>
            </a:r>
            <a:endParaRPr lang="en-AE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A9A5785-F362-3909-FAAC-9A26CBD538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2685"/>
            <a:ext cx="12192000" cy="97063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DB39605-A57C-B08D-2D71-477FE01D15F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838" y="1132689"/>
            <a:ext cx="4275992" cy="331758"/>
          </a:xfrm>
          <a:prstGeom prst="rect">
            <a:avLst/>
          </a:prstGeom>
        </p:spPr>
      </p:pic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3D91A0D3-5B54-D9D8-2400-3A536833385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65353074"/>
              </p:ext>
            </p:extLst>
          </p:nvPr>
        </p:nvGraphicFramePr>
        <p:xfrm>
          <a:off x="121836" y="2790029"/>
          <a:ext cx="11733115" cy="32696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90085">
                  <a:extLst>
                    <a:ext uri="{9D8B030D-6E8A-4147-A177-3AD203B41FA5}">
                      <a16:colId xmlns:a16="http://schemas.microsoft.com/office/drawing/2014/main" val="440325307"/>
                    </a:ext>
                  </a:extLst>
                </a:gridCol>
                <a:gridCol w="647472">
                  <a:extLst>
                    <a:ext uri="{9D8B030D-6E8A-4147-A177-3AD203B41FA5}">
                      <a16:colId xmlns:a16="http://schemas.microsoft.com/office/drawing/2014/main" val="3978495210"/>
                    </a:ext>
                  </a:extLst>
                </a:gridCol>
                <a:gridCol w="3210738">
                  <a:extLst>
                    <a:ext uri="{9D8B030D-6E8A-4147-A177-3AD203B41FA5}">
                      <a16:colId xmlns:a16="http://schemas.microsoft.com/office/drawing/2014/main" val="2691663188"/>
                    </a:ext>
                  </a:extLst>
                </a:gridCol>
                <a:gridCol w="2251664">
                  <a:extLst>
                    <a:ext uri="{9D8B030D-6E8A-4147-A177-3AD203B41FA5}">
                      <a16:colId xmlns:a16="http://schemas.microsoft.com/office/drawing/2014/main" val="1873057410"/>
                    </a:ext>
                  </a:extLst>
                </a:gridCol>
                <a:gridCol w="4933156">
                  <a:extLst>
                    <a:ext uri="{9D8B030D-6E8A-4147-A177-3AD203B41FA5}">
                      <a16:colId xmlns:a16="http://schemas.microsoft.com/office/drawing/2014/main" val="16104457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800" dirty="0"/>
                        <a:t>Applicable</a:t>
                      </a:r>
                      <a:endParaRPr lang="en-AE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No.</a:t>
                      </a:r>
                      <a:endParaRPr lang="en-AE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Controls (as per ISO 27001:2022 Annex A)</a:t>
                      </a:r>
                      <a:endParaRPr lang="en-AE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Vulnerability level due to control gaps</a:t>
                      </a:r>
                      <a:endParaRPr lang="en-AE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Operational risk scenarios</a:t>
                      </a:r>
                      <a:endParaRPr lang="en-AE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15311435"/>
                  </a:ext>
                </a:extLst>
              </a:tr>
              <a:tr h="252104">
                <a:tc>
                  <a:txBody>
                    <a:bodyPr/>
                    <a:lstStyle/>
                    <a:p>
                      <a:endParaRPr lang="en-AE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5.1</a:t>
                      </a:r>
                      <a:endParaRPr lang="en-AE" sz="10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AT" sz="1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Policies for information security</a:t>
                      </a:r>
                      <a:endParaRPr lang="en-AE" sz="10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E" sz="900" dirty="0"/>
                    </a:p>
                  </a:txBody>
                  <a:tcPr/>
                </a:tc>
                <a:tc rowSpan="9">
                  <a:txBody>
                    <a:bodyPr/>
                    <a:lstStyle/>
                    <a:p>
                      <a:endParaRPr lang="en-AE" sz="9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35281296"/>
                  </a:ext>
                </a:extLst>
              </a:tr>
              <a:tr h="235131">
                <a:tc>
                  <a:txBody>
                    <a:bodyPr/>
                    <a:lstStyle/>
                    <a:p>
                      <a:endParaRPr lang="en-AE" sz="9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AT" sz="1000" b="0" i="0" u="none" strike="noStrike" kern="1200" baseline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5.7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AT" sz="1000" b="0" i="0" u="none" strike="noStrike" kern="1200" baseline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Threat intelligence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AT" sz="9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de-AT" sz="9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90031281"/>
                  </a:ext>
                </a:extLst>
              </a:tr>
              <a:tr h="243840">
                <a:tc>
                  <a:txBody>
                    <a:bodyPr/>
                    <a:lstStyle/>
                    <a:p>
                      <a:endParaRPr lang="en-AE" sz="9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0" i="0" u="none" strike="noStrike" kern="1200" baseline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5.8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0" i="0" u="none" strike="noStrike" kern="1200" baseline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Information security in project  management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9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9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84921848"/>
                  </a:ext>
                </a:extLst>
              </a:tr>
              <a:tr h="243840">
                <a:tc>
                  <a:txBody>
                    <a:bodyPr/>
                    <a:lstStyle/>
                    <a:p>
                      <a:endParaRPr lang="en-AE" sz="9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0" i="0" u="none" strike="noStrike" kern="1200" baseline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5.9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0" i="0" u="none" strike="noStrike" kern="1200" baseline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Inventory of information and  other associated assets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9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9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28312729"/>
                  </a:ext>
                </a:extLst>
              </a:tr>
              <a:tr h="235132">
                <a:tc>
                  <a:txBody>
                    <a:bodyPr/>
                    <a:lstStyle/>
                    <a:p>
                      <a:endParaRPr lang="en-AE" sz="9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5.12</a:t>
                      </a:r>
                      <a:endParaRPr lang="en-AE" sz="10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Classification of information</a:t>
                      </a:r>
                      <a:endParaRPr lang="en-AE" sz="10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AE" sz="900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AE" sz="9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10787921"/>
                  </a:ext>
                </a:extLst>
              </a:tr>
              <a:tr h="243840">
                <a:tc>
                  <a:txBody>
                    <a:bodyPr/>
                    <a:lstStyle/>
                    <a:p>
                      <a:endParaRPr lang="en-AE" sz="9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AT" sz="1000" b="0" i="0" u="none" strike="noStrike" kern="1200" baseline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5.13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AT" sz="1000" b="0" i="0" u="none" strike="noStrike" kern="1200" baseline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Labelling of information	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AE" sz="900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AE" sz="9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10432601"/>
                  </a:ext>
                </a:extLst>
              </a:tr>
              <a:tr h="226423">
                <a:tc>
                  <a:txBody>
                    <a:bodyPr/>
                    <a:lstStyle/>
                    <a:p>
                      <a:endParaRPr lang="en-AE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0" i="0" u="none" strike="noStrike" kern="1200" baseline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5.14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0" i="0" u="none" strike="noStrike" kern="1200" baseline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Information transfer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AE" sz="9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AE" sz="9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29111108"/>
                  </a:ext>
                </a:extLst>
              </a:tr>
              <a:tr h="226423">
                <a:tc>
                  <a:txBody>
                    <a:bodyPr/>
                    <a:lstStyle/>
                    <a:p>
                      <a:endParaRPr lang="en-AE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0" i="0" u="none" strike="noStrike" kern="1200" baseline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5.19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0" i="0" u="none" strike="noStrike" kern="1200" baseline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Information security in supplier relationships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AE" sz="9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AE" sz="9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34659136"/>
                  </a:ext>
                </a:extLst>
              </a:tr>
              <a:tr h="226423">
                <a:tc>
                  <a:txBody>
                    <a:bodyPr/>
                    <a:lstStyle/>
                    <a:p>
                      <a:endParaRPr lang="en-AE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0" i="0" u="none" strike="noStrike" kern="1200" baseline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5.20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0" i="0" u="none" strike="noStrike" kern="1200" baseline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Addressing information security within supplier agreements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AE" sz="9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AE" sz="9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99984768"/>
                  </a:ext>
                </a:extLst>
              </a:tr>
              <a:tr h="226423">
                <a:tc>
                  <a:txBody>
                    <a:bodyPr/>
                    <a:lstStyle/>
                    <a:p>
                      <a:endParaRPr lang="en-AE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0" i="0" u="none" strike="noStrike" kern="1200" baseline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5.21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0" i="0" u="none" strike="noStrike" kern="1200" baseline="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Managing information security in the information and communication technology (ICT) supply chain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AE" sz="9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AE" sz="9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88731995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C81CC84C-1F25-2BB0-5F8B-C944ABAA65D6}"/>
              </a:ext>
            </a:extLst>
          </p:cNvPr>
          <p:cNvSpPr txBox="1"/>
          <p:nvPr/>
        </p:nvSpPr>
        <p:spPr>
          <a:xfrm>
            <a:off x="93736" y="2501911"/>
            <a:ext cx="12012123" cy="276999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By evaluating gaps in applicable controls, evaluate how vulnerable the asset component is to actions by risk sources (threats) in the environment </a:t>
            </a:r>
            <a:endParaRPr lang="en-AE" sz="1200" b="1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A8002D9-5343-DDD1-16D1-A96C51C1B4D5}"/>
              </a:ext>
            </a:extLst>
          </p:cNvPr>
          <p:cNvSpPr/>
          <p:nvPr/>
        </p:nvSpPr>
        <p:spPr>
          <a:xfrm>
            <a:off x="405606" y="3074522"/>
            <a:ext cx="139337" cy="11321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E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F4DBC61-3A19-3EB4-E8B8-9FDDBA2E780B}"/>
              </a:ext>
            </a:extLst>
          </p:cNvPr>
          <p:cNvSpPr/>
          <p:nvPr/>
        </p:nvSpPr>
        <p:spPr>
          <a:xfrm>
            <a:off x="475275" y="3438098"/>
            <a:ext cx="139337" cy="11321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E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3C90AF0-0E71-0DFC-BA68-FDA4FFDC322D}"/>
              </a:ext>
            </a:extLst>
          </p:cNvPr>
          <p:cNvSpPr/>
          <p:nvPr/>
        </p:nvSpPr>
        <p:spPr>
          <a:xfrm>
            <a:off x="475275" y="3695003"/>
            <a:ext cx="139337" cy="11321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E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3A224638-5E27-D02A-E0AF-7A31AECD33B4}"/>
              </a:ext>
            </a:extLst>
          </p:cNvPr>
          <p:cNvSpPr/>
          <p:nvPr/>
        </p:nvSpPr>
        <p:spPr>
          <a:xfrm>
            <a:off x="475275" y="3947550"/>
            <a:ext cx="139337" cy="11321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E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C08B959-D73E-FD74-4A8F-B32F77378A58}"/>
              </a:ext>
            </a:extLst>
          </p:cNvPr>
          <p:cNvSpPr/>
          <p:nvPr/>
        </p:nvSpPr>
        <p:spPr>
          <a:xfrm>
            <a:off x="475275" y="4207891"/>
            <a:ext cx="139337" cy="11321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E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42561876-EB18-9E71-38E8-AE40832879FA}"/>
              </a:ext>
            </a:extLst>
          </p:cNvPr>
          <p:cNvSpPr/>
          <p:nvPr/>
        </p:nvSpPr>
        <p:spPr>
          <a:xfrm>
            <a:off x="475275" y="4465298"/>
            <a:ext cx="139337" cy="11321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E"/>
          </a:p>
        </p:txBody>
      </p:sp>
      <p:graphicFrame>
        <p:nvGraphicFramePr>
          <p:cNvPr id="38" name="Table 37">
            <a:extLst>
              <a:ext uri="{FF2B5EF4-FFF2-40B4-BE49-F238E27FC236}">
                <a16:creationId xmlns:a16="http://schemas.microsoft.com/office/drawing/2014/main" id="{4F9AD8B4-B909-DD86-1B51-02FA3EEBF80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84129171"/>
              </p:ext>
            </p:extLst>
          </p:nvPr>
        </p:nvGraphicFramePr>
        <p:xfrm>
          <a:off x="159724" y="1451658"/>
          <a:ext cx="11684000" cy="5181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460500">
                  <a:extLst>
                    <a:ext uri="{9D8B030D-6E8A-4147-A177-3AD203B41FA5}">
                      <a16:colId xmlns:a16="http://schemas.microsoft.com/office/drawing/2014/main" val="2713550951"/>
                    </a:ext>
                  </a:extLst>
                </a:gridCol>
                <a:gridCol w="644660">
                  <a:extLst>
                    <a:ext uri="{9D8B030D-6E8A-4147-A177-3AD203B41FA5}">
                      <a16:colId xmlns:a16="http://schemas.microsoft.com/office/drawing/2014/main" val="2522429615"/>
                    </a:ext>
                  </a:extLst>
                </a:gridCol>
                <a:gridCol w="975360">
                  <a:extLst>
                    <a:ext uri="{9D8B030D-6E8A-4147-A177-3AD203B41FA5}">
                      <a16:colId xmlns:a16="http://schemas.microsoft.com/office/drawing/2014/main" val="2856555388"/>
                    </a:ext>
                  </a:extLst>
                </a:gridCol>
                <a:gridCol w="1018903">
                  <a:extLst>
                    <a:ext uri="{9D8B030D-6E8A-4147-A177-3AD203B41FA5}">
                      <a16:colId xmlns:a16="http://schemas.microsoft.com/office/drawing/2014/main" val="2399358289"/>
                    </a:ext>
                  </a:extLst>
                </a:gridCol>
                <a:gridCol w="957943">
                  <a:extLst>
                    <a:ext uri="{9D8B030D-6E8A-4147-A177-3AD203B41FA5}">
                      <a16:colId xmlns:a16="http://schemas.microsoft.com/office/drawing/2014/main" val="244556393"/>
                    </a:ext>
                  </a:extLst>
                </a:gridCol>
                <a:gridCol w="984068">
                  <a:extLst>
                    <a:ext uri="{9D8B030D-6E8A-4147-A177-3AD203B41FA5}">
                      <a16:colId xmlns:a16="http://schemas.microsoft.com/office/drawing/2014/main" val="720004741"/>
                    </a:ext>
                  </a:extLst>
                </a:gridCol>
                <a:gridCol w="1201783">
                  <a:extLst>
                    <a:ext uri="{9D8B030D-6E8A-4147-A177-3AD203B41FA5}">
                      <a16:colId xmlns:a16="http://schemas.microsoft.com/office/drawing/2014/main" val="4268014146"/>
                    </a:ext>
                  </a:extLst>
                </a:gridCol>
                <a:gridCol w="4440783">
                  <a:extLst>
                    <a:ext uri="{9D8B030D-6E8A-4147-A177-3AD203B41FA5}">
                      <a16:colId xmlns:a16="http://schemas.microsoft.com/office/drawing/2014/main" val="116687783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4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Service</a:t>
                      </a:r>
                      <a:endParaRPr lang="en-AE" sz="1400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S1</a:t>
                      </a:r>
                      <a:endParaRPr lang="en-AE" sz="1400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Asset Group</a:t>
                      </a:r>
                      <a:endParaRPr lang="en-AE" sz="1400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AE" sz="1400" b="1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Asset Category</a:t>
                      </a:r>
                      <a:endParaRPr lang="en-AE" sz="1400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PCI CHD</a:t>
                      </a:r>
                      <a:endParaRPr lang="en-AE" sz="1400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Asset Component</a:t>
                      </a:r>
                      <a:endParaRPr lang="en-AE" sz="1400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PCI CHD of Visa debit cards</a:t>
                      </a:r>
                      <a:endParaRPr lang="en-AE" sz="1400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6498387"/>
                  </a:ext>
                </a:extLst>
              </a:tr>
            </a:tbl>
          </a:graphicData>
        </a:graphic>
      </p:graphicFrame>
      <p:sp>
        <p:nvSpPr>
          <p:cNvPr id="8" name="Rectangle 7">
            <a:extLst>
              <a:ext uri="{FF2B5EF4-FFF2-40B4-BE49-F238E27FC236}">
                <a16:creationId xmlns:a16="http://schemas.microsoft.com/office/drawing/2014/main" id="{764DBA8B-984B-8476-E28C-F24AF7B00E98}"/>
              </a:ext>
            </a:extLst>
          </p:cNvPr>
          <p:cNvSpPr/>
          <p:nvPr/>
        </p:nvSpPr>
        <p:spPr>
          <a:xfrm>
            <a:off x="475275" y="4719279"/>
            <a:ext cx="139337" cy="11321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E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037405C-92DC-5FD2-C292-99660AD283B7}"/>
              </a:ext>
            </a:extLst>
          </p:cNvPr>
          <p:cNvSpPr/>
          <p:nvPr/>
        </p:nvSpPr>
        <p:spPr>
          <a:xfrm>
            <a:off x="475275" y="4971826"/>
            <a:ext cx="139337" cy="11321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E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96E7F28-CCE6-3B89-74DF-4BB49FFFEE2F}"/>
              </a:ext>
            </a:extLst>
          </p:cNvPr>
          <p:cNvSpPr/>
          <p:nvPr/>
        </p:nvSpPr>
        <p:spPr>
          <a:xfrm>
            <a:off x="475275" y="5232167"/>
            <a:ext cx="139337" cy="11321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E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8FA18CF-8E4D-C1EE-A64B-58881E16FCB9}"/>
              </a:ext>
            </a:extLst>
          </p:cNvPr>
          <p:cNvSpPr/>
          <p:nvPr/>
        </p:nvSpPr>
        <p:spPr>
          <a:xfrm>
            <a:off x="475275" y="5457675"/>
            <a:ext cx="139337" cy="11321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E"/>
          </a:p>
        </p:txBody>
      </p:sp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B7B68E5D-4B37-7365-3075-A354178BA8F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97321630"/>
              </p:ext>
            </p:extLst>
          </p:nvPr>
        </p:nvGraphicFramePr>
        <p:xfrm>
          <a:off x="4775115" y="3305371"/>
          <a:ext cx="1932915" cy="150960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932915">
                  <a:extLst>
                    <a:ext uri="{9D8B030D-6E8A-4147-A177-3AD203B41FA5}">
                      <a16:colId xmlns:a16="http://schemas.microsoft.com/office/drawing/2014/main" val="3373528073"/>
                    </a:ext>
                  </a:extLst>
                </a:gridCol>
              </a:tblGrid>
              <a:tr h="301921">
                <a:tc>
                  <a:txBody>
                    <a:bodyPr/>
                    <a:lstStyle/>
                    <a:p>
                      <a:r>
                        <a:rPr lang="en-US" sz="1200" dirty="0"/>
                        <a:t>Very High</a:t>
                      </a:r>
                      <a:endParaRPr lang="en-AE" sz="12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88905118"/>
                  </a:ext>
                </a:extLst>
              </a:tr>
              <a:tr h="301921">
                <a:tc>
                  <a:txBody>
                    <a:bodyPr/>
                    <a:lstStyle/>
                    <a:p>
                      <a:r>
                        <a:rPr lang="en-US" sz="1200" dirty="0"/>
                        <a:t>High</a:t>
                      </a:r>
                      <a:endParaRPr lang="en-AE" sz="12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2790225"/>
                  </a:ext>
                </a:extLst>
              </a:tr>
              <a:tr h="301921">
                <a:tc>
                  <a:txBody>
                    <a:bodyPr/>
                    <a:lstStyle/>
                    <a:p>
                      <a:r>
                        <a:rPr lang="en-US" sz="1200" dirty="0"/>
                        <a:t>Medium</a:t>
                      </a:r>
                      <a:endParaRPr lang="en-AE" sz="12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6630957"/>
                  </a:ext>
                </a:extLst>
              </a:tr>
              <a:tr h="301921">
                <a:tc>
                  <a:txBody>
                    <a:bodyPr/>
                    <a:lstStyle/>
                    <a:p>
                      <a:r>
                        <a:rPr lang="en-US" sz="1200" dirty="0"/>
                        <a:t>Low</a:t>
                      </a:r>
                      <a:endParaRPr lang="en-AE" sz="12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59174610"/>
                  </a:ext>
                </a:extLst>
              </a:tr>
              <a:tr h="301921">
                <a:tc>
                  <a:txBody>
                    <a:bodyPr/>
                    <a:lstStyle/>
                    <a:p>
                      <a:r>
                        <a:rPr lang="en-US" sz="1200" dirty="0"/>
                        <a:t>Very Low</a:t>
                      </a:r>
                      <a:endParaRPr lang="en-AE" sz="12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92422301"/>
                  </a:ext>
                </a:extLst>
              </a:tr>
            </a:tbl>
          </a:graphicData>
        </a:graphic>
      </p:graphicFrame>
      <p:sp>
        <p:nvSpPr>
          <p:cNvPr id="16" name="Isosceles Triangle 15">
            <a:extLst>
              <a:ext uri="{FF2B5EF4-FFF2-40B4-BE49-F238E27FC236}">
                <a16:creationId xmlns:a16="http://schemas.microsoft.com/office/drawing/2014/main" id="{C1F77732-061A-6B35-0BA2-45FF62F5CCB3}"/>
              </a:ext>
            </a:extLst>
          </p:cNvPr>
          <p:cNvSpPr/>
          <p:nvPr/>
        </p:nvSpPr>
        <p:spPr>
          <a:xfrm rot="10800000">
            <a:off x="6305957" y="3353841"/>
            <a:ext cx="308344" cy="296095"/>
          </a:xfrm>
          <a:prstGeom prst="triangl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E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995B9D3-3FE2-CD73-32A3-E170FED0CFB2}"/>
              </a:ext>
            </a:extLst>
          </p:cNvPr>
          <p:cNvSpPr txBox="1"/>
          <p:nvPr/>
        </p:nvSpPr>
        <p:spPr>
          <a:xfrm>
            <a:off x="4485381" y="5121961"/>
            <a:ext cx="2372620" cy="27699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chemeClr val="tx1"/>
                </a:solidFill>
                <a:highlight>
                  <a:srgbClr val="FFFF0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One drop down box per row</a:t>
            </a:r>
            <a:endParaRPr lang="en-AE" sz="1200" b="1" dirty="0">
              <a:solidFill>
                <a:schemeClr val="tx1"/>
              </a:solidFill>
              <a:highlight>
                <a:srgbClr val="FFFF00"/>
              </a:highlight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4136DC1A-BCE2-DD0E-5808-6FFB32B5D8FC}"/>
              </a:ext>
            </a:extLst>
          </p:cNvPr>
          <p:cNvCxnSpPr>
            <a:cxnSpLocks/>
            <a:stCxn id="17" idx="0"/>
          </p:cNvCxnSpPr>
          <p:nvPr/>
        </p:nvCxnSpPr>
        <p:spPr>
          <a:xfrm flipV="1">
            <a:off x="5671691" y="4871581"/>
            <a:ext cx="538153" cy="25038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ectangle 28">
            <a:extLst>
              <a:ext uri="{FF2B5EF4-FFF2-40B4-BE49-F238E27FC236}">
                <a16:creationId xmlns:a16="http://schemas.microsoft.com/office/drawing/2014/main" id="{9D1AA57D-C0AD-A801-0945-141704B2C664}"/>
              </a:ext>
            </a:extLst>
          </p:cNvPr>
          <p:cNvSpPr/>
          <p:nvPr/>
        </p:nvSpPr>
        <p:spPr>
          <a:xfrm>
            <a:off x="9643757" y="6294763"/>
            <a:ext cx="1073889" cy="39340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Save</a:t>
            </a:r>
            <a:endParaRPr lang="en-AE" dirty="0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BCB002E1-B0F6-B134-A54E-F68A5F691EB0}"/>
              </a:ext>
            </a:extLst>
          </p:cNvPr>
          <p:cNvSpPr/>
          <p:nvPr/>
        </p:nvSpPr>
        <p:spPr>
          <a:xfrm>
            <a:off x="10901948" y="6294763"/>
            <a:ext cx="1073889" cy="39340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Next</a:t>
            </a:r>
            <a:endParaRPr lang="en-AE" dirty="0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EF9ECF07-CD18-7708-71B4-9377CB001301}"/>
              </a:ext>
            </a:extLst>
          </p:cNvPr>
          <p:cNvSpPr/>
          <p:nvPr/>
        </p:nvSpPr>
        <p:spPr>
          <a:xfrm>
            <a:off x="8448982" y="6310711"/>
            <a:ext cx="1073889" cy="39340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Back</a:t>
            </a:r>
            <a:endParaRPr lang="en-AE" dirty="0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A24D3DDD-0F50-8B13-B5F9-1C2AB2031372}"/>
              </a:ext>
            </a:extLst>
          </p:cNvPr>
          <p:cNvSpPr/>
          <p:nvPr/>
        </p:nvSpPr>
        <p:spPr>
          <a:xfrm>
            <a:off x="4996923" y="6310712"/>
            <a:ext cx="3267758" cy="39340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Go to Services &amp; Assets Page</a:t>
            </a:r>
            <a:endParaRPr lang="en-AE" dirty="0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417DA53C-05B1-E5A1-22D7-A0ADA08A49B8}"/>
              </a:ext>
            </a:extLst>
          </p:cNvPr>
          <p:cNvSpPr txBox="1"/>
          <p:nvPr/>
        </p:nvSpPr>
        <p:spPr>
          <a:xfrm>
            <a:off x="121836" y="6319498"/>
            <a:ext cx="4591671" cy="307777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Consolidated vulnerability level to be calculated</a:t>
            </a:r>
            <a:endParaRPr lang="en-AE" sz="1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074" name="Picture 2" descr="Scenario - Free cinema icons">
            <a:extLst>
              <a:ext uri="{FF2B5EF4-FFF2-40B4-BE49-F238E27FC236}">
                <a16:creationId xmlns:a16="http://schemas.microsoft.com/office/drawing/2014/main" id="{4703B4EA-6ABA-15B2-D6F0-1B81887B509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17297" y="4060173"/>
            <a:ext cx="480426" cy="4804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6787C978-AB40-0DD2-C2B8-6A50D862C2EA}"/>
              </a:ext>
            </a:extLst>
          </p:cNvPr>
          <p:cNvSpPr txBox="1"/>
          <p:nvPr/>
        </p:nvSpPr>
        <p:spPr>
          <a:xfrm>
            <a:off x="7396154" y="3051570"/>
            <a:ext cx="4390239" cy="27084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Service: S1</a:t>
            </a:r>
          </a:p>
          <a:p>
            <a:r>
              <a:rPr lang="en-US" sz="1000" dirty="0"/>
              <a:t>Asset Component: </a:t>
            </a:r>
            <a:r>
              <a:rPr lang="en-US" sz="1000" b="1" dirty="0">
                <a:latin typeface="Arial" panose="020B0604020202020204" pitchFamily="34" charset="0"/>
                <a:cs typeface="Arial" panose="020B0604020202020204" pitchFamily="34" charset="0"/>
              </a:rPr>
              <a:t>PCI CHD of Visa debit cards</a:t>
            </a:r>
          </a:p>
          <a:p>
            <a:endParaRPr lang="en-US" sz="10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000" b="1" u="sng" dirty="0">
                <a:latin typeface="Arial" panose="020B0604020202020204" pitchFamily="34" charset="0"/>
                <a:cs typeface="Arial" panose="020B0604020202020204" pitchFamily="34" charset="0"/>
              </a:rPr>
              <a:t>Risk Sources (Threats)</a:t>
            </a:r>
          </a:p>
          <a:p>
            <a:r>
              <a:rPr lang="en-US" sz="1000" b="1" dirty="0" err="1">
                <a:latin typeface="Arial" panose="020B0604020202020204" pitchFamily="34" charset="0"/>
                <a:cs typeface="Arial" panose="020B0604020202020204" pitchFamily="34" charset="0"/>
              </a:rPr>
              <a:t>Xxxxxx</a:t>
            </a:r>
            <a:endParaRPr lang="en-US" sz="10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000" b="1" dirty="0" err="1">
                <a:latin typeface="Arial" panose="020B0604020202020204" pitchFamily="34" charset="0"/>
                <a:cs typeface="Arial" panose="020B0604020202020204" pitchFamily="34" charset="0"/>
              </a:rPr>
              <a:t>Xxxxxx</a:t>
            </a:r>
            <a:endParaRPr lang="en-US" sz="10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000" b="1" dirty="0" err="1">
                <a:latin typeface="Arial" panose="020B0604020202020204" pitchFamily="34" charset="0"/>
                <a:cs typeface="Arial" panose="020B0604020202020204" pitchFamily="34" charset="0"/>
              </a:rPr>
              <a:t>Xxxxxx</a:t>
            </a:r>
            <a:endParaRPr lang="en-US" sz="10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10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000" b="1" u="sng" dirty="0">
                <a:latin typeface="Arial" panose="020B0604020202020204" pitchFamily="34" charset="0"/>
                <a:cs typeface="Arial" panose="020B0604020202020204" pitchFamily="34" charset="0"/>
              </a:rPr>
              <a:t>Target Objectives</a:t>
            </a:r>
          </a:p>
          <a:p>
            <a:r>
              <a:rPr lang="en-US" sz="1000" b="1" dirty="0" err="1">
                <a:latin typeface="Arial" panose="020B0604020202020204" pitchFamily="34" charset="0"/>
                <a:cs typeface="Arial" panose="020B0604020202020204" pitchFamily="34" charset="0"/>
              </a:rPr>
              <a:t>Xxxxx</a:t>
            </a:r>
            <a:endParaRPr lang="en-US" sz="10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000" b="1" dirty="0" err="1">
                <a:latin typeface="Arial" panose="020B0604020202020204" pitchFamily="34" charset="0"/>
                <a:cs typeface="Arial" panose="020B0604020202020204" pitchFamily="34" charset="0"/>
              </a:rPr>
              <a:t>Xxxxx</a:t>
            </a:r>
            <a:endParaRPr lang="en-US" sz="10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10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000" b="1" dirty="0">
                <a:latin typeface="Arial" panose="020B0604020202020204" pitchFamily="34" charset="0"/>
                <a:cs typeface="Arial" panose="020B0604020202020204" pitchFamily="34" charset="0"/>
              </a:rPr>
              <a:t>Operational Risk Scenario 1</a:t>
            </a:r>
          </a:p>
          <a:p>
            <a:endParaRPr lang="en-US" sz="10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10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AE" sz="10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AE" sz="1000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40166940-DDA4-499A-D24C-C6A84E1C042B}"/>
              </a:ext>
            </a:extLst>
          </p:cNvPr>
          <p:cNvSpPr/>
          <p:nvPr/>
        </p:nvSpPr>
        <p:spPr>
          <a:xfrm>
            <a:off x="7535492" y="5085037"/>
            <a:ext cx="4181233" cy="393405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E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BC5C10BB-B6A0-77B9-FB9A-FB5DE6637807}"/>
              </a:ext>
            </a:extLst>
          </p:cNvPr>
          <p:cNvSpPr/>
          <p:nvPr/>
        </p:nvSpPr>
        <p:spPr>
          <a:xfrm>
            <a:off x="10553279" y="4687148"/>
            <a:ext cx="1083834" cy="35833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/>
              <a:t>Add scenario</a:t>
            </a:r>
            <a:endParaRPr lang="en-AE" sz="900" dirty="0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21D2E821-57AA-23DC-E9BE-1E791F207BDD}"/>
              </a:ext>
            </a:extLst>
          </p:cNvPr>
          <p:cNvSpPr/>
          <p:nvPr/>
        </p:nvSpPr>
        <p:spPr>
          <a:xfrm>
            <a:off x="10553279" y="4129867"/>
            <a:ext cx="1083834" cy="35833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/>
              <a:t>Save</a:t>
            </a:r>
            <a:endParaRPr lang="en-AE" sz="900" dirty="0"/>
          </a:p>
        </p:txBody>
      </p:sp>
    </p:spTree>
    <p:extLst>
      <p:ext uri="{BB962C8B-B14F-4D97-AF65-F5344CB8AC3E}">
        <p14:creationId xmlns:p14="http://schemas.microsoft.com/office/powerpoint/2010/main" val="355851075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BA0A7C-0CA2-8B51-7314-1D0DBBC5C7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3692BB1-1848-FA8E-AD19-77B0900DFF69}"/>
              </a:ext>
            </a:extLst>
          </p:cNvPr>
          <p:cNvSpPr txBox="1"/>
          <p:nvPr/>
        </p:nvSpPr>
        <p:spPr>
          <a:xfrm>
            <a:off x="157534" y="2291254"/>
            <a:ext cx="11684001" cy="307777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Information Security Risk Management Framework:  ISO 27005:2022 QUANTITATIVE – ASSET-based with operational risk scenarios</a:t>
            </a:r>
            <a:endParaRPr lang="en-AE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1E66F6F-17F1-4054-06A5-40B65352EA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29"/>
            <a:ext cx="12192000" cy="134162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B68DBC9-E04E-E2B7-5FF7-72A83A0FD6A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838" y="1349649"/>
            <a:ext cx="4275992" cy="33175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E01F592-A5EC-2905-A014-6D84D2DE5C76}"/>
              </a:ext>
            </a:extLst>
          </p:cNvPr>
          <p:cNvSpPr txBox="1"/>
          <p:nvPr/>
        </p:nvSpPr>
        <p:spPr>
          <a:xfrm>
            <a:off x="93736" y="2623175"/>
            <a:ext cx="11761215" cy="461665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By considering both the risk sources (threats) in the environment of an asset component and the vulnerabilities of the asset component, evaluate the likelihood that a DATA CONFIDENTIALITY exploit will occur in a finite timeframe</a:t>
            </a:r>
            <a:endParaRPr lang="en-AE" sz="1200" b="1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38" name="Table 37">
            <a:extLst>
              <a:ext uri="{FF2B5EF4-FFF2-40B4-BE49-F238E27FC236}">
                <a16:creationId xmlns:a16="http://schemas.microsoft.com/office/drawing/2014/main" id="{909E30C3-C179-1BD2-07AB-379334E85F0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61063237"/>
              </p:ext>
            </p:extLst>
          </p:nvPr>
        </p:nvGraphicFramePr>
        <p:xfrm>
          <a:off x="159724" y="1668618"/>
          <a:ext cx="11684000" cy="5181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460500">
                  <a:extLst>
                    <a:ext uri="{9D8B030D-6E8A-4147-A177-3AD203B41FA5}">
                      <a16:colId xmlns:a16="http://schemas.microsoft.com/office/drawing/2014/main" val="2713550951"/>
                    </a:ext>
                  </a:extLst>
                </a:gridCol>
                <a:gridCol w="644660">
                  <a:extLst>
                    <a:ext uri="{9D8B030D-6E8A-4147-A177-3AD203B41FA5}">
                      <a16:colId xmlns:a16="http://schemas.microsoft.com/office/drawing/2014/main" val="2522429615"/>
                    </a:ext>
                  </a:extLst>
                </a:gridCol>
                <a:gridCol w="975360">
                  <a:extLst>
                    <a:ext uri="{9D8B030D-6E8A-4147-A177-3AD203B41FA5}">
                      <a16:colId xmlns:a16="http://schemas.microsoft.com/office/drawing/2014/main" val="2856555388"/>
                    </a:ext>
                  </a:extLst>
                </a:gridCol>
                <a:gridCol w="1018903">
                  <a:extLst>
                    <a:ext uri="{9D8B030D-6E8A-4147-A177-3AD203B41FA5}">
                      <a16:colId xmlns:a16="http://schemas.microsoft.com/office/drawing/2014/main" val="2399358289"/>
                    </a:ext>
                  </a:extLst>
                </a:gridCol>
                <a:gridCol w="957943">
                  <a:extLst>
                    <a:ext uri="{9D8B030D-6E8A-4147-A177-3AD203B41FA5}">
                      <a16:colId xmlns:a16="http://schemas.microsoft.com/office/drawing/2014/main" val="244556393"/>
                    </a:ext>
                  </a:extLst>
                </a:gridCol>
                <a:gridCol w="984068">
                  <a:extLst>
                    <a:ext uri="{9D8B030D-6E8A-4147-A177-3AD203B41FA5}">
                      <a16:colId xmlns:a16="http://schemas.microsoft.com/office/drawing/2014/main" val="720004741"/>
                    </a:ext>
                  </a:extLst>
                </a:gridCol>
                <a:gridCol w="1201783">
                  <a:extLst>
                    <a:ext uri="{9D8B030D-6E8A-4147-A177-3AD203B41FA5}">
                      <a16:colId xmlns:a16="http://schemas.microsoft.com/office/drawing/2014/main" val="4268014146"/>
                    </a:ext>
                  </a:extLst>
                </a:gridCol>
                <a:gridCol w="4440783">
                  <a:extLst>
                    <a:ext uri="{9D8B030D-6E8A-4147-A177-3AD203B41FA5}">
                      <a16:colId xmlns:a16="http://schemas.microsoft.com/office/drawing/2014/main" val="116687783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4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Service</a:t>
                      </a:r>
                      <a:endParaRPr lang="en-AE" sz="1400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S1</a:t>
                      </a:r>
                      <a:endParaRPr lang="en-AE" sz="1400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Asset Group</a:t>
                      </a:r>
                      <a:endParaRPr lang="en-AE" sz="1400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AE" sz="1400" b="1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Asset Category</a:t>
                      </a:r>
                      <a:endParaRPr lang="en-AE" sz="1400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PCI CHD</a:t>
                      </a:r>
                      <a:endParaRPr lang="en-AE" sz="1400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Asset Component</a:t>
                      </a:r>
                      <a:endParaRPr lang="en-AE" sz="1400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PCI CHD of Visa debit cards</a:t>
                      </a:r>
                      <a:endParaRPr lang="en-AE" sz="1400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6498387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87B88131-3468-1F07-ED50-84F47DDBF241}"/>
              </a:ext>
            </a:extLst>
          </p:cNvPr>
          <p:cNvSpPr txBox="1"/>
          <p:nvPr/>
        </p:nvSpPr>
        <p:spPr>
          <a:xfrm>
            <a:off x="157534" y="3108591"/>
            <a:ext cx="3850734" cy="307777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sz="1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Consolidated level of risk sources (threats)</a:t>
            </a:r>
            <a:endParaRPr lang="en-AE" sz="1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75F0D2E-A88E-B3AC-4BC7-B3F2F44CE54D}"/>
              </a:ext>
            </a:extLst>
          </p:cNvPr>
          <p:cNvSpPr txBox="1"/>
          <p:nvPr/>
        </p:nvSpPr>
        <p:spPr>
          <a:xfrm>
            <a:off x="157534" y="3472997"/>
            <a:ext cx="2925801" cy="307777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sz="1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Consolidated vulnerability level</a:t>
            </a:r>
            <a:endParaRPr lang="en-AE" sz="1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3475FFEF-1624-44A8-F8EF-021B3FC38964}"/>
              </a:ext>
            </a:extLst>
          </p:cNvPr>
          <p:cNvSpPr/>
          <p:nvPr/>
        </p:nvSpPr>
        <p:spPr>
          <a:xfrm>
            <a:off x="4284921" y="3108591"/>
            <a:ext cx="4306189" cy="307777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Display from previous </a:t>
            </a:r>
            <a:r>
              <a:rPr lang="en-US" b="1" dirty="0"/>
              <a:t>calculated</a:t>
            </a:r>
            <a:r>
              <a:rPr lang="en-US" dirty="0"/>
              <a:t> value</a:t>
            </a:r>
            <a:endParaRPr lang="en-AE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B277302F-BF56-B9C1-0A31-F2C17ABE4967}"/>
              </a:ext>
            </a:extLst>
          </p:cNvPr>
          <p:cNvSpPr txBox="1"/>
          <p:nvPr/>
        </p:nvSpPr>
        <p:spPr>
          <a:xfrm>
            <a:off x="148841" y="3853896"/>
            <a:ext cx="7020127" cy="307777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sz="1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Likelihood that a DATA CONFIDENTIALITY exploit will occur in a finite timeframe</a:t>
            </a:r>
            <a:endParaRPr lang="en-AE" sz="1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85E4D39B-37D2-08ED-AA1A-BD8010CC5F4B}"/>
              </a:ext>
            </a:extLst>
          </p:cNvPr>
          <p:cNvSpPr txBox="1"/>
          <p:nvPr/>
        </p:nvSpPr>
        <p:spPr>
          <a:xfrm>
            <a:off x="148841" y="4221564"/>
            <a:ext cx="1138389" cy="307777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sz="1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Time frame</a:t>
            </a:r>
            <a:endParaRPr lang="en-AE" sz="1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1BE4CD8E-8F67-F641-3589-9890BB98DBBA}"/>
              </a:ext>
            </a:extLst>
          </p:cNvPr>
          <p:cNvSpPr/>
          <p:nvPr/>
        </p:nvSpPr>
        <p:spPr>
          <a:xfrm>
            <a:off x="1448309" y="4231117"/>
            <a:ext cx="2685541" cy="307777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Numeric input field</a:t>
            </a:r>
            <a:endParaRPr lang="en-AE" dirty="0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6F249C08-6B05-4956-A870-20FF75D75CCD}"/>
              </a:ext>
            </a:extLst>
          </p:cNvPr>
          <p:cNvSpPr/>
          <p:nvPr/>
        </p:nvSpPr>
        <p:spPr>
          <a:xfrm>
            <a:off x="4284921" y="4241269"/>
            <a:ext cx="850605" cy="307777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dirty="0"/>
              <a:t>Days</a:t>
            </a:r>
            <a:endParaRPr lang="en-AE" dirty="0"/>
          </a:p>
        </p:txBody>
      </p:sp>
      <p:graphicFrame>
        <p:nvGraphicFramePr>
          <p:cNvPr id="30" name="Table 29">
            <a:extLst>
              <a:ext uri="{FF2B5EF4-FFF2-40B4-BE49-F238E27FC236}">
                <a16:creationId xmlns:a16="http://schemas.microsoft.com/office/drawing/2014/main" id="{43A29C13-A177-9073-9D41-CDBD7582260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90749465"/>
              </p:ext>
            </p:extLst>
          </p:nvPr>
        </p:nvGraphicFramePr>
        <p:xfrm>
          <a:off x="162753" y="4818175"/>
          <a:ext cx="953841" cy="2072640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953841">
                  <a:extLst>
                    <a:ext uri="{9D8B030D-6E8A-4147-A177-3AD203B41FA5}">
                      <a16:colId xmlns:a16="http://schemas.microsoft.com/office/drawing/2014/main" val="2568573592"/>
                    </a:ext>
                  </a:extLst>
                </a:gridCol>
              </a:tblGrid>
              <a:tr h="200124">
                <a:tc>
                  <a:txBody>
                    <a:bodyPr/>
                    <a:lstStyle/>
                    <a:p>
                      <a:pPr algn="ctr"/>
                      <a:r>
                        <a:rPr lang="en-US" sz="1000" dirty="0"/>
                        <a:t>Calculate</a:t>
                      </a:r>
                      <a:endParaRPr lang="en-AE" sz="1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97192365"/>
                  </a:ext>
                </a:extLst>
              </a:tr>
              <a:tr h="343069">
                <a:tc>
                  <a:txBody>
                    <a:bodyPr/>
                    <a:lstStyle/>
                    <a:p>
                      <a:endParaRPr lang="en-A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29103498"/>
                  </a:ext>
                </a:extLst>
              </a:tr>
              <a:tr h="343069">
                <a:tc>
                  <a:txBody>
                    <a:bodyPr/>
                    <a:lstStyle/>
                    <a:p>
                      <a:endParaRPr lang="en-A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53888139"/>
                  </a:ext>
                </a:extLst>
              </a:tr>
              <a:tr h="343069">
                <a:tc>
                  <a:txBody>
                    <a:bodyPr/>
                    <a:lstStyle/>
                    <a:p>
                      <a:endParaRPr lang="en-A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09232184"/>
                  </a:ext>
                </a:extLst>
              </a:tr>
              <a:tr h="343069">
                <a:tc>
                  <a:txBody>
                    <a:bodyPr/>
                    <a:lstStyle/>
                    <a:p>
                      <a:endParaRPr lang="en-A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36908383"/>
                  </a:ext>
                </a:extLst>
              </a:tr>
              <a:tr h="343069">
                <a:tc>
                  <a:txBody>
                    <a:bodyPr/>
                    <a:lstStyle/>
                    <a:p>
                      <a:endParaRPr lang="en-A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53143104"/>
                  </a:ext>
                </a:extLst>
              </a:tr>
            </a:tbl>
          </a:graphicData>
        </a:graphic>
      </p:graphicFrame>
      <p:sp>
        <p:nvSpPr>
          <p:cNvPr id="31" name="Oval 30">
            <a:extLst>
              <a:ext uri="{FF2B5EF4-FFF2-40B4-BE49-F238E27FC236}">
                <a16:creationId xmlns:a16="http://schemas.microsoft.com/office/drawing/2014/main" id="{7842237F-F650-3B5B-62B4-E3925CE07663}"/>
              </a:ext>
            </a:extLst>
          </p:cNvPr>
          <p:cNvSpPr/>
          <p:nvPr/>
        </p:nvSpPr>
        <p:spPr>
          <a:xfrm>
            <a:off x="395492" y="5154063"/>
            <a:ext cx="191589" cy="130629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E"/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6B45F40E-216D-FBB7-BB45-06B54E8BA917}"/>
              </a:ext>
            </a:extLst>
          </p:cNvPr>
          <p:cNvSpPr/>
          <p:nvPr/>
        </p:nvSpPr>
        <p:spPr>
          <a:xfrm>
            <a:off x="395492" y="5501785"/>
            <a:ext cx="191589" cy="130629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E"/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D5CDCB87-CCDC-0237-5340-8F8252FC167A}"/>
              </a:ext>
            </a:extLst>
          </p:cNvPr>
          <p:cNvSpPr/>
          <p:nvPr/>
        </p:nvSpPr>
        <p:spPr>
          <a:xfrm>
            <a:off x="395492" y="5872521"/>
            <a:ext cx="191589" cy="130629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E"/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18D00EA2-6B5C-0CB6-30B4-FDF6480D8BB9}"/>
              </a:ext>
            </a:extLst>
          </p:cNvPr>
          <p:cNvSpPr/>
          <p:nvPr/>
        </p:nvSpPr>
        <p:spPr>
          <a:xfrm>
            <a:off x="395492" y="6220243"/>
            <a:ext cx="191589" cy="130629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E"/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D713BEED-C2CE-0A60-37E1-6A808170C049}"/>
              </a:ext>
            </a:extLst>
          </p:cNvPr>
          <p:cNvSpPr/>
          <p:nvPr/>
        </p:nvSpPr>
        <p:spPr>
          <a:xfrm>
            <a:off x="395492" y="6590979"/>
            <a:ext cx="191589" cy="130629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E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1470F86D-A3EE-7017-4EE6-FD962DCFBB41}"/>
              </a:ext>
            </a:extLst>
          </p:cNvPr>
          <p:cNvSpPr/>
          <p:nvPr/>
        </p:nvSpPr>
        <p:spPr>
          <a:xfrm>
            <a:off x="9850475" y="6411127"/>
            <a:ext cx="1073889" cy="39340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Save</a:t>
            </a:r>
            <a:endParaRPr lang="en-AE" sz="1200" dirty="0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A3DF8B9B-0730-E5E6-D65E-CBB4DC6802E6}"/>
              </a:ext>
            </a:extLst>
          </p:cNvPr>
          <p:cNvSpPr/>
          <p:nvPr/>
        </p:nvSpPr>
        <p:spPr>
          <a:xfrm>
            <a:off x="11038345" y="6411127"/>
            <a:ext cx="1073889" cy="39340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Next</a:t>
            </a:r>
            <a:endParaRPr lang="en-AE" sz="1200" dirty="0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0084A752-7CD5-6F76-269A-0A72AC120D84}"/>
              </a:ext>
            </a:extLst>
          </p:cNvPr>
          <p:cNvSpPr/>
          <p:nvPr/>
        </p:nvSpPr>
        <p:spPr>
          <a:xfrm>
            <a:off x="8675823" y="6411127"/>
            <a:ext cx="1073889" cy="39340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Back</a:t>
            </a:r>
            <a:endParaRPr lang="en-AE" sz="1200" dirty="0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00692981-D1A8-DAA1-AB42-0827B084411B}"/>
              </a:ext>
            </a:extLst>
          </p:cNvPr>
          <p:cNvSpPr/>
          <p:nvPr/>
        </p:nvSpPr>
        <p:spPr>
          <a:xfrm>
            <a:off x="6496481" y="6411127"/>
            <a:ext cx="2094629" cy="39340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Go to Services &amp; Assets Page</a:t>
            </a:r>
            <a:endParaRPr lang="en-AE" sz="1200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B2F3B11-71EE-D17E-04C0-8F0062CA1055}"/>
              </a:ext>
            </a:extLst>
          </p:cNvPr>
          <p:cNvSpPr/>
          <p:nvPr/>
        </p:nvSpPr>
        <p:spPr>
          <a:xfrm>
            <a:off x="4284921" y="3495964"/>
            <a:ext cx="4306189" cy="307777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Display from previous </a:t>
            </a:r>
            <a:r>
              <a:rPr lang="en-US" b="1" dirty="0"/>
              <a:t>calculated</a:t>
            </a:r>
            <a:r>
              <a:rPr lang="en-US" dirty="0"/>
              <a:t> value</a:t>
            </a:r>
            <a:endParaRPr lang="en-AE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61CB9B7-7998-1A87-AF4E-1059B62857DF}"/>
              </a:ext>
            </a:extLst>
          </p:cNvPr>
          <p:cNvSpPr txBox="1"/>
          <p:nvPr/>
        </p:nvSpPr>
        <p:spPr>
          <a:xfrm>
            <a:off x="158849" y="4508455"/>
            <a:ext cx="2172133" cy="307777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sz="1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Select Likelihood Value</a:t>
            </a:r>
            <a:endParaRPr lang="en-AE" sz="1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654E9C9-54DD-4B1E-5C34-C828C5155DBC}"/>
              </a:ext>
            </a:extLst>
          </p:cNvPr>
          <p:cNvSpPr/>
          <p:nvPr/>
        </p:nvSpPr>
        <p:spPr>
          <a:xfrm>
            <a:off x="6960399" y="5981102"/>
            <a:ext cx="5025659" cy="27817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View Risk Assessment of all asset components</a:t>
            </a:r>
            <a:endParaRPr lang="en-AE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C1421C0-DD96-606A-6FA7-40295A88ED66}"/>
              </a:ext>
            </a:extLst>
          </p:cNvPr>
          <p:cNvSpPr txBox="1"/>
          <p:nvPr/>
        </p:nvSpPr>
        <p:spPr>
          <a:xfrm>
            <a:off x="9162076" y="5634557"/>
            <a:ext cx="820679" cy="369332"/>
          </a:xfrm>
          <a:prstGeom prst="rect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p. 14</a:t>
            </a:r>
            <a:endParaRPr lang="en-AE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8F18880-AE48-DBB5-E5A6-356DBAE1A36F}"/>
              </a:ext>
            </a:extLst>
          </p:cNvPr>
          <p:cNvSpPr/>
          <p:nvPr/>
        </p:nvSpPr>
        <p:spPr>
          <a:xfrm>
            <a:off x="6960399" y="5158038"/>
            <a:ext cx="5025659" cy="27817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View Risk Assessment of all services</a:t>
            </a:r>
            <a:endParaRPr lang="en-AE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C0DD968-08C1-B90F-A22E-D4215D5E8003}"/>
              </a:ext>
            </a:extLst>
          </p:cNvPr>
          <p:cNvSpPr txBox="1"/>
          <p:nvPr/>
        </p:nvSpPr>
        <p:spPr>
          <a:xfrm>
            <a:off x="9162076" y="4811493"/>
            <a:ext cx="820679" cy="369332"/>
          </a:xfrm>
          <a:prstGeom prst="rect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p. 15</a:t>
            </a:r>
            <a:endParaRPr lang="en-AE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0E08A42-5E32-303B-EBC6-D8F3CF0D50FF}"/>
              </a:ext>
            </a:extLst>
          </p:cNvPr>
          <p:cNvSpPr txBox="1"/>
          <p:nvPr/>
        </p:nvSpPr>
        <p:spPr>
          <a:xfrm>
            <a:off x="6142254" y="4243813"/>
            <a:ext cx="51090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highlight>
                  <a:srgbClr val="FFFF0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This value is the y-axis value of the table on p. 8</a:t>
            </a:r>
            <a:endParaRPr lang="en-AE" dirty="0">
              <a:highlight>
                <a:srgbClr val="FFFF00"/>
              </a:highlight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D988C9CD-D69D-0C15-ED24-636751289018}"/>
              </a:ext>
            </a:extLst>
          </p:cNvPr>
          <p:cNvGrpSpPr/>
          <p:nvPr/>
        </p:nvGrpSpPr>
        <p:grpSpPr>
          <a:xfrm>
            <a:off x="1356841" y="4791271"/>
            <a:ext cx="5025659" cy="2094967"/>
            <a:chOff x="4845921" y="1253215"/>
            <a:chExt cx="6763694" cy="2029108"/>
          </a:xfrm>
        </p:grpSpPr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1C16E2CA-0585-831A-4175-789D87AAD9BF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845921" y="1253215"/>
              <a:ext cx="6763694" cy="2019582"/>
            </a:xfrm>
            <a:prstGeom prst="rect">
              <a:avLst/>
            </a:prstGeom>
          </p:spPr>
        </p:pic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9DCE8AF5-2D11-6430-F52E-50112298A43E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9860934" y="1253215"/>
              <a:ext cx="1724742" cy="2029108"/>
            </a:xfrm>
            <a:prstGeom prst="rect">
              <a:avLst/>
            </a:prstGeom>
          </p:spPr>
        </p:pic>
      </p:grp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94DE21CC-B408-049F-C3D9-9540C3CE8753}"/>
              </a:ext>
            </a:extLst>
          </p:cNvPr>
          <p:cNvCxnSpPr>
            <a:cxnSpLocks/>
            <a:stCxn id="17" idx="1"/>
          </p:cNvCxnSpPr>
          <p:nvPr/>
        </p:nvCxnSpPr>
        <p:spPr>
          <a:xfrm flipH="1">
            <a:off x="718035" y="4428479"/>
            <a:ext cx="5424219" cy="72558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3989906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C6B573-0D62-5154-24AA-0B7904FB68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7E5B63D-38C6-0B45-19C8-D25A4C3F024E}"/>
              </a:ext>
            </a:extLst>
          </p:cNvPr>
          <p:cNvSpPr txBox="1"/>
          <p:nvPr/>
        </p:nvSpPr>
        <p:spPr>
          <a:xfrm>
            <a:off x="157534" y="2790989"/>
            <a:ext cx="11684001" cy="307777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Information Security Risk Management Framework:  ISO 27005:2022 QUANTITATIVE – ASSET-based with operational risk scenarios</a:t>
            </a:r>
            <a:endParaRPr lang="en-AE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7CF7919-FCEE-5682-A490-0358E8DDAD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03564"/>
            <a:ext cx="12192000" cy="134162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D797072-6F6D-8862-17DC-3B8560B2D72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838" y="1849384"/>
            <a:ext cx="4275992" cy="33175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B39BF2E-D49E-6720-07BF-8F18EC723159}"/>
              </a:ext>
            </a:extLst>
          </p:cNvPr>
          <p:cNvSpPr txBox="1"/>
          <p:nvPr/>
        </p:nvSpPr>
        <p:spPr>
          <a:xfrm>
            <a:off x="93736" y="3122910"/>
            <a:ext cx="11761215" cy="276999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Assessment of risk to DATA CONFIDENTIALITY</a:t>
            </a:r>
            <a:endParaRPr lang="en-AE" sz="1200" b="1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38" name="Table 37">
            <a:extLst>
              <a:ext uri="{FF2B5EF4-FFF2-40B4-BE49-F238E27FC236}">
                <a16:creationId xmlns:a16="http://schemas.microsoft.com/office/drawing/2014/main" id="{FC62F223-1E66-F854-A86C-5F5A4C06874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53666989"/>
              </p:ext>
            </p:extLst>
          </p:nvPr>
        </p:nvGraphicFramePr>
        <p:xfrm>
          <a:off x="159724" y="2168353"/>
          <a:ext cx="11684000" cy="5181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460500">
                  <a:extLst>
                    <a:ext uri="{9D8B030D-6E8A-4147-A177-3AD203B41FA5}">
                      <a16:colId xmlns:a16="http://schemas.microsoft.com/office/drawing/2014/main" val="2713550951"/>
                    </a:ext>
                  </a:extLst>
                </a:gridCol>
                <a:gridCol w="644660">
                  <a:extLst>
                    <a:ext uri="{9D8B030D-6E8A-4147-A177-3AD203B41FA5}">
                      <a16:colId xmlns:a16="http://schemas.microsoft.com/office/drawing/2014/main" val="2522429615"/>
                    </a:ext>
                  </a:extLst>
                </a:gridCol>
                <a:gridCol w="975360">
                  <a:extLst>
                    <a:ext uri="{9D8B030D-6E8A-4147-A177-3AD203B41FA5}">
                      <a16:colId xmlns:a16="http://schemas.microsoft.com/office/drawing/2014/main" val="2856555388"/>
                    </a:ext>
                  </a:extLst>
                </a:gridCol>
                <a:gridCol w="1018903">
                  <a:extLst>
                    <a:ext uri="{9D8B030D-6E8A-4147-A177-3AD203B41FA5}">
                      <a16:colId xmlns:a16="http://schemas.microsoft.com/office/drawing/2014/main" val="2399358289"/>
                    </a:ext>
                  </a:extLst>
                </a:gridCol>
                <a:gridCol w="957943">
                  <a:extLst>
                    <a:ext uri="{9D8B030D-6E8A-4147-A177-3AD203B41FA5}">
                      <a16:colId xmlns:a16="http://schemas.microsoft.com/office/drawing/2014/main" val="244556393"/>
                    </a:ext>
                  </a:extLst>
                </a:gridCol>
                <a:gridCol w="984068">
                  <a:extLst>
                    <a:ext uri="{9D8B030D-6E8A-4147-A177-3AD203B41FA5}">
                      <a16:colId xmlns:a16="http://schemas.microsoft.com/office/drawing/2014/main" val="720004741"/>
                    </a:ext>
                  </a:extLst>
                </a:gridCol>
                <a:gridCol w="1201783">
                  <a:extLst>
                    <a:ext uri="{9D8B030D-6E8A-4147-A177-3AD203B41FA5}">
                      <a16:colId xmlns:a16="http://schemas.microsoft.com/office/drawing/2014/main" val="4268014146"/>
                    </a:ext>
                  </a:extLst>
                </a:gridCol>
                <a:gridCol w="4440783">
                  <a:extLst>
                    <a:ext uri="{9D8B030D-6E8A-4147-A177-3AD203B41FA5}">
                      <a16:colId xmlns:a16="http://schemas.microsoft.com/office/drawing/2014/main" val="116687783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4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Service</a:t>
                      </a:r>
                      <a:endParaRPr lang="en-AE" sz="1400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S1</a:t>
                      </a:r>
                      <a:endParaRPr lang="en-AE" sz="1400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Asset Group</a:t>
                      </a:r>
                      <a:endParaRPr lang="en-AE" sz="1400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AE" sz="1400" b="1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Asset Category</a:t>
                      </a:r>
                      <a:endParaRPr lang="en-AE" sz="1400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PCI CHD</a:t>
                      </a:r>
                      <a:endParaRPr lang="en-AE" sz="1400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Asset Component</a:t>
                      </a:r>
                      <a:endParaRPr lang="en-AE" sz="1400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PCI CHD of Visa debit cards</a:t>
                      </a:r>
                      <a:endParaRPr lang="en-AE" sz="1400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6498387"/>
                  </a:ext>
                </a:extLst>
              </a:tr>
            </a:tbl>
          </a:graphicData>
        </a:graphic>
      </p:graphicFrame>
      <p:sp>
        <p:nvSpPr>
          <p:cNvPr id="36" name="Rectangle 35">
            <a:extLst>
              <a:ext uri="{FF2B5EF4-FFF2-40B4-BE49-F238E27FC236}">
                <a16:creationId xmlns:a16="http://schemas.microsoft.com/office/drawing/2014/main" id="{9E913768-7045-CA1A-470F-9C547594500E}"/>
              </a:ext>
            </a:extLst>
          </p:cNvPr>
          <p:cNvSpPr/>
          <p:nvPr/>
        </p:nvSpPr>
        <p:spPr>
          <a:xfrm>
            <a:off x="3502835" y="6384853"/>
            <a:ext cx="1073889" cy="39340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Save</a:t>
            </a:r>
            <a:endParaRPr lang="en-AE" sz="1200" dirty="0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36C4C168-BE5E-C79B-CC93-EE4ABEB72CEB}"/>
              </a:ext>
            </a:extLst>
          </p:cNvPr>
          <p:cNvSpPr/>
          <p:nvPr/>
        </p:nvSpPr>
        <p:spPr>
          <a:xfrm>
            <a:off x="4690705" y="6384853"/>
            <a:ext cx="1073889" cy="39340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Next</a:t>
            </a:r>
            <a:endParaRPr lang="en-AE" sz="1200" dirty="0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CC27BEDD-45DE-C8D1-4B96-F858D7771EA9}"/>
              </a:ext>
            </a:extLst>
          </p:cNvPr>
          <p:cNvSpPr/>
          <p:nvPr/>
        </p:nvSpPr>
        <p:spPr>
          <a:xfrm>
            <a:off x="2328183" y="6384853"/>
            <a:ext cx="1073889" cy="39340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Back</a:t>
            </a:r>
            <a:endParaRPr lang="en-AE" sz="1200" dirty="0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A1050668-CBAB-7EA2-0746-8E76552E7AC1}"/>
              </a:ext>
            </a:extLst>
          </p:cNvPr>
          <p:cNvSpPr/>
          <p:nvPr/>
        </p:nvSpPr>
        <p:spPr>
          <a:xfrm>
            <a:off x="148841" y="6384853"/>
            <a:ext cx="2094629" cy="39340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Go to Services &amp; Assets Page</a:t>
            </a:r>
            <a:endParaRPr lang="en-AE" sz="1200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74ADB87-FDFA-4E99-4BC1-AB28FAB3C300}"/>
              </a:ext>
            </a:extLst>
          </p:cNvPr>
          <p:cNvSpPr/>
          <p:nvPr/>
        </p:nvSpPr>
        <p:spPr>
          <a:xfrm>
            <a:off x="9415849" y="5193944"/>
            <a:ext cx="2644347" cy="62354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View Risk Assessment of all asset components</a:t>
            </a:r>
            <a:endParaRPr lang="en-AE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0658ED5-DF0D-48F8-9FED-0BB83EA906F5}"/>
              </a:ext>
            </a:extLst>
          </p:cNvPr>
          <p:cNvSpPr txBox="1"/>
          <p:nvPr/>
        </p:nvSpPr>
        <p:spPr>
          <a:xfrm>
            <a:off x="11034272" y="4722747"/>
            <a:ext cx="820679" cy="369332"/>
          </a:xfrm>
          <a:prstGeom prst="rect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p. 14</a:t>
            </a:r>
            <a:endParaRPr lang="en-AE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53254B1-D021-0215-D558-63302CF611EE}"/>
              </a:ext>
            </a:extLst>
          </p:cNvPr>
          <p:cNvSpPr/>
          <p:nvPr/>
        </p:nvSpPr>
        <p:spPr>
          <a:xfrm>
            <a:off x="9415849" y="3859539"/>
            <a:ext cx="2644347" cy="62354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View Risk Assessment of all services</a:t>
            </a:r>
            <a:endParaRPr lang="en-AE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64F5FE8-3B2D-A4F4-49A7-45C7D48D3FAE}"/>
              </a:ext>
            </a:extLst>
          </p:cNvPr>
          <p:cNvSpPr txBox="1"/>
          <p:nvPr/>
        </p:nvSpPr>
        <p:spPr>
          <a:xfrm>
            <a:off x="10929090" y="3413381"/>
            <a:ext cx="820679" cy="369332"/>
          </a:xfrm>
          <a:prstGeom prst="rect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p. 15</a:t>
            </a:r>
            <a:endParaRPr lang="en-AE" dirty="0"/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91465083-E54D-F258-0F1B-663AF94E4F1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46383894"/>
              </p:ext>
            </p:extLst>
          </p:nvPr>
        </p:nvGraphicFramePr>
        <p:xfrm>
          <a:off x="157534" y="3424053"/>
          <a:ext cx="9063929" cy="29667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294847">
                  <a:extLst>
                    <a:ext uri="{9D8B030D-6E8A-4147-A177-3AD203B41FA5}">
                      <a16:colId xmlns:a16="http://schemas.microsoft.com/office/drawing/2014/main" val="2253245753"/>
                    </a:ext>
                  </a:extLst>
                </a:gridCol>
                <a:gridCol w="1294847">
                  <a:extLst>
                    <a:ext uri="{9D8B030D-6E8A-4147-A177-3AD203B41FA5}">
                      <a16:colId xmlns:a16="http://schemas.microsoft.com/office/drawing/2014/main" val="2365709512"/>
                    </a:ext>
                  </a:extLst>
                </a:gridCol>
                <a:gridCol w="1294847">
                  <a:extLst>
                    <a:ext uri="{9D8B030D-6E8A-4147-A177-3AD203B41FA5}">
                      <a16:colId xmlns:a16="http://schemas.microsoft.com/office/drawing/2014/main" val="1631215599"/>
                    </a:ext>
                  </a:extLst>
                </a:gridCol>
                <a:gridCol w="1294847">
                  <a:extLst>
                    <a:ext uri="{9D8B030D-6E8A-4147-A177-3AD203B41FA5}">
                      <a16:colId xmlns:a16="http://schemas.microsoft.com/office/drawing/2014/main" val="2205472017"/>
                    </a:ext>
                  </a:extLst>
                </a:gridCol>
                <a:gridCol w="1294847">
                  <a:extLst>
                    <a:ext uri="{9D8B030D-6E8A-4147-A177-3AD203B41FA5}">
                      <a16:colId xmlns:a16="http://schemas.microsoft.com/office/drawing/2014/main" val="2744099965"/>
                    </a:ext>
                  </a:extLst>
                </a:gridCol>
                <a:gridCol w="1294847">
                  <a:extLst>
                    <a:ext uri="{9D8B030D-6E8A-4147-A177-3AD203B41FA5}">
                      <a16:colId xmlns:a16="http://schemas.microsoft.com/office/drawing/2014/main" val="236114228"/>
                    </a:ext>
                  </a:extLst>
                </a:gridCol>
                <a:gridCol w="1294847">
                  <a:extLst>
                    <a:ext uri="{9D8B030D-6E8A-4147-A177-3AD203B41FA5}">
                      <a16:colId xmlns:a16="http://schemas.microsoft.com/office/drawing/2014/main" val="129605017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AE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 gridSpan="6"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Consequence</a:t>
                      </a:r>
                      <a:endParaRPr lang="en-AE" sz="1600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AE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AE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AE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AE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A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477438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Likelihood</a:t>
                      </a:r>
                      <a:endParaRPr lang="en-AE" sz="1600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</a:t>
                      </a:r>
                      <a:endParaRPr lang="en-AE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  <a:endParaRPr lang="en-AE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  <a:endParaRPr lang="en-AE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  <a:endParaRPr lang="en-AE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  <a:endParaRPr lang="en-AE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  <a:endParaRPr lang="en-AE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5057748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</a:t>
                      </a:r>
                      <a:endParaRPr lang="en-AE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36</a:t>
                      </a:r>
                      <a:endParaRPr lang="en-AE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30</a:t>
                      </a:r>
                      <a:endParaRPr lang="en-AE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24</a:t>
                      </a:r>
                      <a:endParaRPr lang="en-AE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18</a:t>
                      </a:r>
                      <a:endParaRPr lang="en-AE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12</a:t>
                      </a:r>
                      <a:endParaRPr lang="en-AE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</a:t>
                      </a:r>
                      <a:endParaRPr lang="en-AE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2220142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  <a:endParaRPr lang="en-AE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30</a:t>
                      </a:r>
                      <a:endParaRPr lang="en-AE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25</a:t>
                      </a:r>
                      <a:endParaRPr lang="en-AE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20</a:t>
                      </a:r>
                      <a:endParaRPr lang="en-AE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15</a:t>
                      </a:r>
                      <a:endParaRPr lang="en-AE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</a:t>
                      </a:r>
                      <a:endParaRPr lang="en-AE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  <a:endParaRPr lang="en-AE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2495184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  <a:endParaRPr lang="en-AE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24</a:t>
                      </a:r>
                      <a:endParaRPr lang="en-AE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20</a:t>
                      </a:r>
                      <a:endParaRPr lang="en-AE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16</a:t>
                      </a:r>
                      <a:endParaRPr lang="en-AE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12</a:t>
                      </a:r>
                      <a:endParaRPr lang="en-AE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</a:t>
                      </a:r>
                      <a:endParaRPr lang="en-AE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  <a:endParaRPr lang="en-AE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2916043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  <a:endParaRPr lang="en-AE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18</a:t>
                      </a:r>
                      <a:endParaRPr lang="en-AE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15</a:t>
                      </a:r>
                      <a:endParaRPr lang="en-AE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12</a:t>
                      </a:r>
                      <a:endParaRPr lang="en-AE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</a:t>
                      </a:r>
                      <a:endParaRPr lang="en-AE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</a:t>
                      </a:r>
                      <a:endParaRPr lang="en-AE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  <a:endParaRPr lang="en-AE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404602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  <a:endParaRPr lang="en-AE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12</a:t>
                      </a:r>
                      <a:endParaRPr lang="en-AE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</a:t>
                      </a:r>
                      <a:endParaRPr lang="en-AE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</a:t>
                      </a:r>
                      <a:endParaRPr lang="en-AE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</a:t>
                      </a:r>
                      <a:endParaRPr lang="en-AE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  <a:endParaRPr lang="en-AE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  <a:endParaRPr lang="en-AE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9344326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  <a:endParaRPr lang="en-AE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</a:t>
                      </a:r>
                      <a:endParaRPr lang="en-AE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  <a:endParaRPr lang="en-AE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  <a:endParaRPr lang="en-AE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  <a:endParaRPr lang="en-AE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  <a:endParaRPr lang="en-AE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  <a:endParaRPr lang="en-AE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98523148"/>
                  </a:ext>
                </a:extLst>
              </a:tr>
            </a:tbl>
          </a:graphicData>
        </a:graphic>
      </p:graphicFrame>
      <p:sp>
        <p:nvSpPr>
          <p:cNvPr id="11" name="Oval 10">
            <a:extLst>
              <a:ext uri="{FF2B5EF4-FFF2-40B4-BE49-F238E27FC236}">
                <a16:creationId xmlns:a16="http://schemas.microsoft.com/office/drawing/2014/main" id="{6317437B-91EF-537E-15C8-462E1770AAC6}"/>
              </a:ext>
            </a:extLst>
          </p:cNvPr>
          <p:cNvSpPr/>
          <p:nvPr/>
        </p:nvSpPr>
        <p:spPr>
          <a:xfrm>
            <a:off x="4213654" y="4584357"/>
            <a:ext cx="1073889" cy="393405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233439762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B71930-08D5-6301-4A9A-9BA64F946E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2B9DB83-A7FF-CCA2-B27A-E4ECAD9A1AA8}"/>
              </a:ext>
            </a:extLst>
          </p:cNvPr>
          <p:cNvSpPr txBox="1"/>
          <p:nvPr/>
        </p:nvSpPr>
        <p:spPr>
          <a:xfrm>
            <a:off x="157534" y="2291254"/>
            <a:ext cx="11684001" cy="307777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Information Security Risk Management Framework:  ISO 27005:2022 QUANTITATIVE – ASSET-based with operational risk scenarios</a:t>
            </a:r>
            <a:endParaRPr lang="en-AE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81EA38E-7CC0-7071-0DB9-47A9D3AAB1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29"/>
            <a:ext cx="12192000" cy="1341623"/>
          </a:xfrm>
          <a:prstGeom prst="rect">
            <a:avLst/>
          </a:prstGeom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AFEC031A-3CB4-AA94-91F0-8C225B2E52B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838" y="1349649"/>
            <a:ext cx="4275992" cy="331758"/>
          </a:xfrm>
          <a:prstGeom prst="rect">
            <a:avLst/>
          </a:prstGeom>
        </p:spPr>
      </p:pic>
      <p:sp>
        <p:nvSpPr>
          <p:cNvPr id="31" name="TextBox 30">
            <a:extLst>
              <a:ext uri="{FF2B5EF4-FFF2-40B4-BE49-F238E27FC236}">
                <a16:creationId xmlns:a16="http://schemas.microsoft.com/office/drawing/2014/main" id="{B1F7A8C7-A81A-08CE-2661-CDBB1736DEE7}"/>
              </a:ext>
            </a:extLst>
          </p:cNvPr>
          <p:cNvSpPr txBox="1"/>
          <p:nvPr/>
        </p:nvSpPr>
        <p:spPr>
          <a:xfrm>
            <a:off x="93736" y="2623175"/>
            <a:ext cx="11761215" cy="461665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By considering both the risk sources (threats) in the environment of an asset component and the vulnerabilities of the asset component, evaluate the likelihood that a DATA INTEGRITY exploit will occur in a finite timeframe</a:t>
            </a:r>
            <a:endParaRPr lang="en-AE" sz="1200" b="1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32" name="Table 31">
            <a:extLst>
              <a:ext uri="{FF2B5EF4-FFF2-40B4-BE49-F238E27FC236}">
                <a16:creationId xmlns:a16="http://schemas.microsoft.com/office/drawing/2014/main" id="{E9419A29-77C8-C726-4D10-AEE82971582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55608796"/>
              </p:ext>
            </p:extLst>
          </p:nvPr>
        </p:nvGraphicFramePr>
        <p:xfrm>
          <a:off x="159724" y="1668618"/>
          <a:ext cx="11684000" cy="5181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460500">
                  <a:extLst>
                    <a:ext uri="{9D8B030D-6E8A-4147-A177-3AD203B41FA5}">
                      <a16:colId xmlns:a16="http://schemas.microsoft.com/office/drawing/2014/main" val="2713550951"/>
                    </a:ext>
                  </a:extLst>
                </a:gridCol>
                <a:gridCol w="644660">
                  <a:extLst>
                    <a:ext uri="{9D8B030D-6E8A-4147-A177-3AD203B41FA5}">
                      <a16:colId xmlns:a16="http://schemas.microsoft.com/office/drawing/2014/main" val="2522429615"/>
                    </a:ext>
                  </a:extLst>
                </a:gridCol>
                <a:gridCol w="975360">
                  <a:extLst>
                    <a:ext uri="{9D8B030D-6E8A-4147-A177-3AD203B41FA5}">
                      <a16:colId xmlns:a16="http://schemas.microsoft.com/office/drawing/2014/main" val="2856555388"/>
                    </a:ext>
                  </a:extLst>
                </a:gridCol>
                <a:gridCol w="1018903">
                  <a:extLst>
                    <a:ext uri="{9D8B030D-6E8A-4147-A177-3AD203B41FA5}">
                      <a16:colId xmlns:a16="http://schemas.microsoft.com/office/drawing/2014/main" val="2399358289"/>
                    </a:ext>
                  </a:extLst>
                </a:gridCol>
                <a:gridCol w="957943">
                  <a:extLst>
                    <a:ext uri="{9D8B030D-6E8A-4147-A177-3AD203B41FA5}">
                      <a16:colId xmlns:a16="http://schemas.microsoft.com/office/drawing/2014/main" val="244556393"/>
                    </a:ext>
                  </a:extLst>
                </a:gridCol>
                <a:gridCol w="984068">
                  <a:extLst>
                    <a:ext uri="{9D8B030D-6E8A-4147-A177-3AD203B41FA5}">
                      <a16:colId xmlns:a16="http://schemas.microsoft.com/office/drawing/2014/main" val="720004741"/>
                    </a:ext>
                  </a:extLst>
                </a:gridCol>
                <a:gridCol w="1201783">
                  <a:extLst>
                    <a:ext uri="{9D8B030D-6E8A-4147-A177-3AD203B41FA5}">
                      <a16:colId xmlns:a16="http://schemas.microsoft.com/office/drawing/2014/main" val="4268014146"/>
                    </a:ext>
                  </a:extLst>
                </a:gridCol>
                <a:gridCol w="4440783">
                  <a:extLst>
                    <a:ext uri="{9D8B030D-6E8A-4147-A177-3AD203B41FA5}">
                      <a16:colId xmlns:a16="http://schemas.microsoft.com/office/drawing/2014/main" val="116687783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4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Service</a:t>
                      </a:r>
                      <a:endParaRPr lang="en-AE" sz="1400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S1</a:t>
                      </a:r>
                      <a:endParaRPr lang="en-AE" sz="1400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Asset Group</a:t>
                      </a:r>
                      <a:endParaRPr lang="en-AE" sz="1400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AE" sz="1400" b="1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Asset Category</a:t>
                      </a:r>
                      <a:endParaRPr lang="en-AE" sz="1400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PCI CHD</a:t>
                      </a:r>
                      <a:endParaRPr lang="en-AE" sz="1400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Asset Component</a:t>
                      </a:r>
                      <a:endParaRPr lang="en-AE" sz="1400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PCI CHD of Visa debit cards</a:t>
                      </a:r>
                      <a:endParaRPr lang="en-AE" sz="1400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6498387"/>
                  </a:ext>
                </a:extLst>
              </a:tr>
            </a:tbl>
          </a:graphicData>
        </a:graphic>
      </p:graphicFrame>
      <p:sp>
        <p:nvSpPr>
          <p:cNvPr id="33" name="TextBox 32">
            <a:extLst>
              <a:ext uri="{FF2B5EF4-FFF2-40B4-BE49-F238E27FC236}">
                <a16:creationId xmlns:a16="http://schemas.microsoft.com/office/drawing/2014/main" id="{2B4856B4-D933-9484-AC85-E884D3D14AA3}"/>
              </a:ext>
            </a:extLst>
          </p:cNvPr>
          <p:cNvSpPr txBox="1"/>
          <p:nvPr/>
        </p:nvSpPr>
        <p:spPr>
          <a:xfrm>
            <a:off x="157534" y="3108591"/>
            <a:ext cx="3850734" cy="307777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sz="1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Consolidated level of risk sources (threats)</a:t>
            </a:r>
            <a:endParaRPr lang="en-AE" sz="1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32F4EB51-43B8-4979-1CDD-5C463F5C4E2A}"/>
              </a:ext>
            </a:extLst>
          </p:cNvPr>
          <p:cNvSpPr txBox="1"/>
          <p:nvPr/>
        </p:nvSpPr>
        <p:spPr>
          <a:xfrm>
            <a:off x="157534" y="3472997"/>
            <a:ext cx="2925801" cy="307777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sz="1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Consolidated vulnerability level</a:t>
            </a:r>
            <a:endParaRPr lang="en-AE" sz="1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D86AF366-984A-7BD8-8E06-D3D4504B40F5}"/>
              </a:ext>
            </a:extLst>
          </p:cNvPr>
          <p:cNvSpPr/>
          <p:nvPr/>
        </p:nvSpPr>
        <p:spPr>
          <a:xfrm>
            <a:off x="4284921" y="3108591"/>
            <a:ext cx="4306189" cy="307777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Display from previous </a:t>
            </a:r>
            <a:r>
              <a:rPr lang="en-US" b="1" dirty="0"/>
              <a:t>calculated</a:t>
            </a:r>
            <a:r>
              <a:rPr lang="en-US" dirty="0"/>
              <a:t> value</a:t>
            </a:r>
            <a:endParaRPr lang="en-AE" dirty="0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8A04E846-0AB0-D04D-B5FE-D7332D4E68B0}"/>
              </a:ext>
            </a:extLst>
          </p:cNvPr>
          <p:cNvSpPr txBox="1"/>
          <p:nvPr/>
        </p:nvSpPr>
        <p:spPr>
          <a:xfrm>
            <a:off x="148841" y="3853896"/>
            <a:ext cx="6362896" cy="307777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sz="1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Likelihood that a DATA INTEGRITY exploit will occur in a finite timeframe</a:t>
            </a:r>
            <a:endParaRPr lang="en-AE" sz="1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EE9F1933-486C-CBAA-B1A3-A348D0371DD2}"/>
              </a:ext>
            </a:extLst>
          </p:cNvPr>
          <p:cNvSpPr txBox="1"/>
          <p:nvPr/>
        </p:nvSpPr>
        <p:spPr>
          <a:xfrm>
            <a:off x="148841" y="4221564"/>
            <a:ext cx="1138389" cy="307777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sz="1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Time frame</a:t>
            </a:r>
            <a:endParaRPr lang="en-AE" sz="1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9D0964E5-A422-56D7-8C17-61051D45CE27}"/>
              </a:ext>
            </a:extLst>
          </p:cNvPr>
          <p:cNvSpPr/>
          <p:nvPr/>
        </p:nvSpPr>
        <p:spPr>
          <a:xfrm>
            <a:off x="1448309" y="4231117"/>
            <a:ext cx="2685541" cy="307777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Numeric input field</a:t>
            </a:r>
            <a:endParaRPr lang="en-AE" dirty="0"/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B29A534C-0B0F-9BE4-A4ED-2A42200D181A}"/>
              </a:ext>
            </a:extLst>
          </p:cNvPr>
          <p:cNvSpPr/>
          <p:nvPr/>
        </p:nvSpPr>
        <p:spPr>
          <a:xfrm>
            <a:off x="4284921" y="4241269"/>
            <a:ext cx="850605" cy="307777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dirty="0"/>
              <a:t>Days</a:t>
            </a:r>
            <a:endParaRPr lang="en-AE" dirty="0"/>
          </a:p>
        </p:txBody>
      </p:sp>
      <p:graphicFrame>
        <p:nvGraphicFramePr>
          <p:cNvPr id="45" name="Table 44">
            <a:extLst>
              <a:ext uri="{FF2B5EF4-FFF2-40B4-BE49-F238E27FC236}">
                <a16:creationId xmlns:a16="http://schemas.microsoft.com/office/drawing/2014/main" id="{A066DB71-C2ED-9E19-2A8E-46997AF2F37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64063565"/>
              </p:ext>
            </p:extLst>
          </p:nvPr>
        </p:nvGraphicFramePr>
        <p:xfrm>
          <a:off x="162753" y="4818175"/>
          <a:ext cx="953841" cy="2072640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953841">
                  <a:extLst>
                    <a:ext uri="{9D8B030D-6E8A-4147-A177-3AD203B41FA5}">
                      <a16:colId xmlns:a16="http://schemas.microsoft.com/office/drawing/2014/main" val="2568573592"/>
                    </a:ext>
                  </a:extLst>
                </a:gridCol>
              </a:tblGrid>
              <a:tr h="200124">
                <a:tc>
                  <a:txBody>
                    <a:bodyPr/>
                    <a:lstStyle/>
                    <a:p>
                      <a:pPr algn="ctr"/>
                      <a:r>
                        <a:rPr lang="en-US" sz="1000" dirty="0"/>
                        <a:t>Calculate</a:t>
                      </a:r>
                      <a:endParaRPr lang="en-AE" sz="1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97192365"/>
                  </a:ext>
                </a:extLst>
              </a:tr>
              <a:tr h="343069">
                <a:tc>
                  <a:txBody>
                    <a:bodyPr/>
                    <a:lstStyle/>
                    <a:p>
                      <a:endParaRPr lang="en-A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29103498"/>
                  </a:ext>
                </a:extLst>
              </a:tr>
              <a:tr h="343069">
                <a:tc>
                  <a:txBody>
                    <a:bodyPr/>
                    <a:lstStyle/>
                    <a:p>
                      <a:endParaRPr lang="en-A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53888139"/>
                  </a:ext>
                </a:extLst>
              </a:tr>
              <a:tr h="343069">
                <a:tc>
                  <a:txBody>
                    <a:bodyPr/>
                    <a:lstStyle/>
                    <a:p>
                      <a:endParaRPr lang="en-A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09232184"/>
                  </a:ext>
                </a:extLst>
              </a:tr>
              <a:tr h="343069">
                <a:tc>
                  <a:txBody>
                    <a:bodyPr/>
                    <a:lstStyle/>
                    <a:p>
                      <a:endParaRPr lang="en-A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36908383"/>
                  </a:ext>
                </a:extLst>
              </a:tr>
              <a:tr h="343069">
                <a:tc>
                  <a:txBody>
                    <a:bodyPr/>
                    <a:lstStyle/>
                    <a:p>
                      <a:endParaRPr lang="en-A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53143104"/>
                  </a:ext>
                </a:extLst>
              </a:tr>
            </a:tbl>
          </a:graphicData>
        </a:graphic>
      </p:graphicFrame>
      <p:sp>
        <p:nvSpPr>
          <p:cNvPr id="46" name="Oval 45">
            <a:extLst>
              <a:ext uri="{FF2B5EF4-FFF2-40B4-BE49-F238E27FC236}">
                <a16:creationId xmlns:a16="http://schemas.microsoft.com/office/drawing/2014/main" id="{074433D3-EC08-6406-61EF-C2A3B41EEED3}"/>
              </a:ext>
            </a:extLst>
          </p:cNvPr>
          <p:cNvSpPr/>
          <p:nvPr/>
        </p:nvSpPr>
        <p:spPr>
          <a:xfrm>
            <a:off x="395492" y="5154063"/>
            <a:ext cx="191589" cy="130629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E"/>
          </a:p>
        </p:txBody>
      </p:sp>
      <p:sp>
        <p:nvSpPr>
          <p:cNvPr id="47" name="Oval 46">
            <a:extLst>
              <a:ext uri="{FF2B5EF4-FFF2-40B4-BE49-F238E27FC236}">
                <a16:creationId xmlns:a16="http://schemas.microsoft.com/office/drawing/2014/main" id="{8AA7FE61-B2C4-0541-DE3D-DA291E830BA7}"/>
              </a:ext>
            </a:extLst>
          </p:cNvPr>
          <p:cNvSpPr/>
          <p:nvPr/>
        </p:nvSpPr>
        <p:spPr>
          <a:xfrm>
            <a:off x="395492" y="5501785"/>
            <a:ext cx="191589" cy="130629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E"/>
          </a:p>
        </p:txBody>
      </p:sp>
      <p:sp>
        <p:nvSpPr>
          <p:cNvPr id="48" name="Oval 47">
            <a:extLst>
              <a:ext uri="{FF2B5EF4-FFF2-40B4-BE49-F238E27FC236}">
                <a16:creationId xmlns:a16="http://schemas.microsoft.com/office/drawing/2014/main" id="{E949B5D4-EA61-1F62-B360-C1663871F92B}"/>
              </a:ext>
            </a:extLst>
          </p:cNvPr>
          <p:cNvSpPr/>
          <p:nvPr/>
        </p:nvSpPr>
        <p:spPr>
          <a:xfrm>
            <a:off x="395492" y="5872521"/>
            <a:ext cx="191589" cy="130629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E"/>
          </a:p>
        </p:txBody>
      </p:sp>
      <p:sp>
        <p:nvSpPr>
          <p:cNvPr id="49" name="Oval 48">
            <a:extLst>
              <a:ext uri="{FF2B5EF4-FFF2-40B4-BE49-F238E27FC236}">
                <a16:creationId xmlns:a16="http://schemas.microsoft.com/office/drawing/2014/main" id="{397851FF-069B-4CDC-1F95-E41C5C07B0CE}"/>
              </a:ext>
            </a:extLst>
          </p:cNvPr>
          <p:cNvSpPr/>
          <p:nvPr/>
        </p:nvSpPr>
        <p:spPr>
          <a:xfrm>
            <a:off x="395492" y="6220243"/>
            <a:ext cx="191589" cy="130629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E"/>
          </a:p>
        </p:txBody>
      </p:sp>
      <p:sp>
        <p:nvSpPr>
          <p:cNvPr id="50" name="Oval 49">
            <a:extLst>
              <a:ext uri="{FF2B5EF4-FFF2-40B4-BE49-F238E27FC236}">
                <a16:creationId xmlns:a16="http://schemas.microsoft.com/office/drawing/2014/main" id="{590D6BCB-1586-183D-069C-BC73B5581AF0}"/>
              </a:ext>
            </a:extLst>
          </p:cNvPr>
          <p:cNvSpPr/>
          <p:nvPr/>
        </p:nvSpPr>
        <p:spPr>
          <a:xfrm>
            <a:off x="395492" y="6590979"/>
            <a:ext cx="191589" cy="130629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E"/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C3EE4FBD-6229-F9BB-2501-4DD2A2367BCC}"/>
              </a:ext>
            </a:extLst>
          </p:cNvPr>
          <p:cNvSpPr/>
          <p:nvPr/>
        </p:nvSpPr>
        <p:spPr>
          <a:xfrm>
            <a:off x="9850475" y="6411127"/>
            <a:ext cx="1073889" cy="39340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Save</a:t>
            </a:r>
            <a:endParaRPr lang="en-AE" sz="1200" dirty="0"/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B2FA5992-B295-03D2-BDAF-607743CC860D}"/>
              </a:ext>
            </a:extLst>
          </p:cNvPr>
          <p:cNvSpPr/>
          <p:nvPr/>
        </p:nvSpPr>
        <p:spPr>
          <a:xfrm>
            <a:off x="11038345" y="6411127"/>
            <a:ext cx="1073889" cy="39340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Next</a:t>
            </a:r>
            <a:endParaRPr lang="en-AE" sz="1200" dirty="0"/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776D82B2-23B6-7575-4B75-696F75B2F6DF}"/>
              </a:ext>
            </a:extLst>
          </p:cNvPr>
          <p:cNvSpPr/>
          <p:nvPr/>
        </p:nvSpPr>
        <p:spPr>
          <a:xfrm>
            <a:off x="8675823" y="6411127"/>
            <a:ext cx="1073889" cy="39340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Back</a:t>
            </a:r>
            <a:endParaRPr lang="en-AE" sz="1200" dirty="0"/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77AB8519-6D23-5B86-22FA-E4862E56DEA0}"/>
              </a:ext>
            </a:extLst>
          </p:cNvPr>
          <p:cNvSpPr/>
          <p:nvPr/>
        </p:nvSpPr>
        <p:spPr>
          <a:xfrm>
            <a:off x="6496481" y="6411127"/>
            <a:ext cx="2094629" cy="39340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Go to Services &amp; Assets Page</a:t>
            </a:r>
            <a:endParaRPr lang="en-AE" sz="1200" dirty="0"/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0B2FD10A-C8F5-6821-249F-9D828663F838}"/>
              </a:ext>
            </a:extLst>
          </p:cNvPr>
          <p:cNvSpPr/>
          <p:nvPr/>
        </p:nvSpPr>
        <p:spPr>
          <a:xfrm>
            <a:off x="4284921" y="3495964"/>
            <a:ext cx="4306189" cy="307777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Display from previous </a:t>
            </a:r>
            <a:r>
              <a:rPr lang="en-US" b="1" dirty="0"/>
              <a:t>calculated</a:t>
            </a:r>
            <a:r>
              <a:rPr lang="en-US" dirty="0"/>
              <a:t> value</a:t>
            </a:r>
            <a:endParaRPr lang="en-AE" dirty="0"/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11AA22B1-2B7B-1F64-A3DC-C38041B17DF9}"/>
              </a:ext>
            </a:extLst>
          </p:cNvPr>
          <p:cNvSpPr txBox="1"/>
          <p:nvPr/>
        </p:nvSpPr>
        <p:spPr>
          <a:xfrm>
            <a:off x="158849" y="4508455"/>
            <a:ext cx="2172133" cy="307777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sz="1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Select Likelihood Value</a:t>
            </a:r>
            <a:endParaRPr lang="en-AE" sz="1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426E57CC-4E2C-B21A-F99E-7C4D1DB53AB4}"/>
              </a:ext>
            </a:extLst>
          </p:cNvPr>
          <p:cNvSpPr/>
          <p:nvPr/>
        </p:nvSpPr>
        <p:spPr>
          <a:xfrm>
            <a:off x="6960399" y="5981102"/>
            <a:ext cx="5025659" cy="27817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View Risk Assessment of all asset components</a:t>
            </a:r>
            <a:endParaRPr lang="en-AE" dirty="0"/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9CDA7CC5-989A-73BD-7C72-D79999C75D72}"/>
              </a:ext>
            </a:extLst>
          </p:cNvPr>
          <p:cNvSpPr txBox="1"/>
          <p:nvPr/>
        </p:nvSpPr>
        <p:spPr>
          <a:xfrm>
            <a:off x="9162076" y="5634557"/>
            <a:ext cx="820679" cy="369332"/>
          </a:xfrm>
          <a:prstGeom prst="rect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p. 14</a:t>
            </a:r>
            <a:endParaRPr lang="en-AE" dirty="0"/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A3896DDC-51DA-03F3-C942-5EC3EBA32818}"/>
              </a:ext>
            </a:extLst>
          </p:cNvPr>
          <p:cNvSpPr/>
          <p:nvPr/>
        </p:nvSpPr>
        <p:spPr>
          <a:xfrm>
            <a:off x="6960399" y="5158038"/>
            <a:ext cx="5025659" cy="27817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View Risk Assessment of all services</a:t>
            </a:r>
            <a:endParaRPr lang="en-AE" dirty="0"/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43AD466C-8EDE-8DB3-30EF-9B0F9B56A267}"/>
              </a:ext>
            </a:extLst>
          </p:cNvPr>
          <p:cNvSpPr txBox="1"/>
          <p:nvPr/>
        </p:nvSpPr>
        <p:spPr>
          <a:xfrm>
            <a:off x="9162076" y="4811493"/>
            <a:ext cx="820679" cy="369332"/>
          </a:xfrm>
          <a:prstGeom prst="rect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p. 15</a:t>
            </a:r>
            <a:endParaRPr lang="en-AE" dirty="0"/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E698AB3E-B924-DCA4-6F62-40940B25F4AA}"/>
              </a:ext>
            </a:extLst>
          </p:cNvPr>
          <p:cNvSpPr txBox="1"/>
          <p:nvPr/>
        </p:nvSpPr>
        <p:spPr>
          <a:xfrm>
            <a:off x="6142254" y="4243813"/>
            <a:ext cx="5237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highlight>
                  <a:srgbClr val="FFFF0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This value is the y-axis value of the table on p. 10</a:t>
            </a:r>
            <a:endParaRPr lang="en-AE" dirty="0">
              <a:highlight>
                <a:srgbClr val="FFFF00"/>
              </a:highlight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62" name="Group 61">
            <a:extLst>
              <a:ext uri="{FF2B5EF4-FFF2-40B4-BE49-F238E27FC236}">
                <a16:creationId xmlns:a16="http://schemas.microsoft.com/office/drawing/2014/main" id="{335FB19E-F1E8-4D2A-6C08-18F7A9C9C47A}"/>
              </a:ext>
            </a:extLst>
          </p:cNvPr>
          <p:cNvGrpSpPr/>
          <p:nvPr/>
        </p:nvGrpSpPr>
        <p:grpSpPr>
          <a:xfrm>
            <a:off x="1356841" y="4791271"/>
            <a:ext cx="5025659" cy="2094967"/>
            <a:chOff x="4845921" y="1253215"/>
            <a:chExt cx="6763694" cy="2029108"/>
          </a:xfrm>
        </p:grpSpPr>
        <p:pic>
          <p:nvPicPr>
            <p:cNvPr id="63" name="Picture 62">
              <a:extLst>
                <a:ext uri="{FF2B5EF4-FFF2-40B4-BE49-F238E27FC236}">
                  <a16:creationId xmlns:a16="http://schemas.microsoft.com/office/drawing/2014/main" id="{944764B3-0914-F7E8-1C81-0C57AF3EEB3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845921" y="1253215"/>
              <a:ext cx="6763694" cy="2019582"/>
            </a:xfrm>
            <a:prstGeom prst="rect">
              <a:avLst/>
            </a:prstGeom>
          </p:spPr>
        </p:pic>
        <p:pic>
          <p:nvPicPr>
            <p:cNvPr id="64" name="Picture 63">
              <a:extLst>
                <a:ext uri="{FF2B5EF4-FFF2-40B4-BE49-F238E27FC236}">
                  <a16:creationId xmlns:a16="http://schemas.microsoft.com/office/drawing/2014/main" id="{7D1A9240-CFBA-461F-BB73-0CA092B02D01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9860934" y="1253215"/>
              <a:ext cx="1724742" cy="2029108"/>
            </a:xfrm>
            <a:prstGeom prst="rect">
              <a:avLst/>
            </a:prstGeom>
          </p:spPr>
        </p:pic>
      </p:grpSp>
      <p:cxnSp>
        <p:nvCxnSpPr>
          <p:cNvPr id="65" name="Straight Arrow Connector 64">
            <a:extLst>
              <a:ext uri="{FF2B5EF4-FFF2-40B4-BE49-F238E27FC236}">
                <a16:creationId xmlns:a16="http://schemas.microsoft.com/office/drawing/2014/main" id="{EED6C558-67E5-11D0-2EF6-CB6DE5C4F1B0}"/>
              </a:ext>
            </a:extLst>
          </p:cNvPr>
          <p:cNvCxnSpPr>
            <a:cxnSpLocks/>
            <a:stCxn id="61" idx="1"/>
          </p:cNvCxnSpPr>
          <p:nvPr/>
        </p:nvCxnSpPr>
        <p:spPr>
          <a:xfrm flipH="1">
            <a:off x="718035" y="4428479"/>
            <a:ext cx="5424219" cy="72558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9717948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C2BAD1-9B71-EE05-96D6-8D246E26E2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676E5D5-611D-898B-C251-FD00BA364167}"/>
              </a:ext>
            </a:extLst>
          </p:cNvPr>
          <p:cNvSpPr txBox="1"/>
          <p:nvPr/>
        </p:nvSpPr>
        <p:spPr>
          <a:xfrm>
            <a:off x="157534" y="2790989"/>
            <a:ext cx="11684001" cy="307777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Information Security Risk Management Framework:  ISO 27005:2022 QUANTITATIVE – ASSET-based with operational risk scenarios</a:t>
            </a:r>
            <a:endParaRPr lang="en-AE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D9D6072-519F-21CA-85EA-C3785023EA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4770"/>
            <a:ext cx="12192000" cy="134162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105B66A-2309-489F-890F-384F36AA1AD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838" y="1849384"/>
            <a:ext cx="4275992" cy="33175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BDFFCE9-5576-0A81-B610-96E40C40C2EE}"/>
              </a:ext>
            </a:extLst>
          </p:cNvPr>
          <p:cNvSpPr txBox="1"/>
          <p:nvPr/>
        </p:nvSpPr>
        <p:spPr>
          <a:xfrm>
            <a:off x="93736" y="3122910"/>
            <a:ext cx="11761215" cy="276999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Assessment of risk to DATA INTEGRITY</a:t>
            </a:r>
            <a:endParaRPr lang="en-AE" sz="1200" b="1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38" name="Table 37">
            <a:extLst>
              <a:ext uri="{FF2B5EF4-FFF2-40B4-BE49-F238E27FC236}">
                <a16:creationId xmlns:a16="http://schemas.microsoft.com/office/drawing/2014/main" id="{9F8729F0-BD8D-D0E9-5C86-0DE3BBB02C1B}"/>
              </a:ext>
            </a:extLst>
          </p:cNvPr>
          <p:cNvGraphicFramePr>
            <a:graphicFrameLocks noGrp="1"/>
          </p:cNvGraphicFramePr>
          <p:nvPr/>
        </p:nvGraphicFramePr>
        <p:xfrm>
          <a:off x="159724" y="2168353"/>
          <a:ext cx="11684000" cy="5181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460500">
                  <a:extLst>
                    <a:ext uri="{9D8B030D-6E8A-4147-A177-3AD203B41FA5}">
                      <a16:colId xmlns:a16="http://schemas.microsoft.com/office/drawing/2014/main" val="2713550951"/>
                    </a:ext>
                  </a:extLst>
                </a:gridCol>
                <a:gridCol w="644660">
                  <a:extLst>
                    <a:ext uri="{9D8B030D-6E8A-4147-A177-3AD203B41FA5}">
                      <a16:colId xmlns:a16="http://schemas.microsoft.com/office/drawing/2014/main" val="2522429615"/>
                    </a:ext>
                  </a:extLst>
                </a:gridCol>
                <a:gridCol w="975360">
                  <a:extLst>
                    <a:ext uri="{9D8B030D-6E8A-4147-A177-3AD203B41FA5}">
                      <a16:colId xmlns:a16="http://schemas.microsoft.com/office/drawing/2014/main" val="2856555388"/>
                    </a:ext>
                  </a:extLst>
                </a:gridCol>
                <a:gridCol w="1018903">
                  <a:extLst>
                    <a:ext uri="{9D8B030D-6E8A-4147-A177-3AD203B41FA5}">
                      <a16:colId xmlns:a16="http://schemas.microsoft.com/office/drawing/2014/main" val="2399358289"/>
                    </a:ext>
                  </a:extLst>
                </a:gridCol>
                <a:gridCol w="957943">
                  <a:extLst>
                    <a:ext uri="{9D8B030D-6E8A-4147-A177-3AD203B41FA5}">
                      <a16:colId xmlns:a16="http://schemas.microsoft.com/office/drawing/2014/main" val="244556393"/>
                    </a:ext>
                  </a:extLst>
                </a:gridCol>
                <a:gridCol w="984068">
                  <a:extLst>
                    <a:ext uri="{9D8B030D-6E8A-4147-A177-3AD203B41FA5}">
                      <a16:colId xmlns:a16="http://schemas.microsoft.com/office/drawing/2014/main" val="720004741"/>
                    </a:ext>
                  </a:extLst>
                </a:gridCol>
                <a:gridCol w="1201783">
                  <a:extLst>
                    <a:ext uri="{9D8B030D-6E8A-4147-A177-3AD203B41FA5}">
                      <a16:colId xmlns:a16="http://schemas.microsoft.com/office/drawing/2014/main" val="4268014146"/>
                    </a:ext>
                  </a:extLst>
                </a:gridCol>
                <a:gridCol w="4440783">
                  <a:extLst>
                    <a:ext uri="{9D8B030D-6E8A-4147-A177-3AD203B41FA5}">
                      <a16:colId xmlns:a16="http://schemas.microsoft.com/office/drawing/2014/main" val="116687783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4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Service</a:t>
                      </a:r>
                      <a:endParaRPr lang="en-AE" sz="1400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S1</a:t>
                      </a:r>
                      <a:endParaRPr lang="en-AE" sz="1400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Asset Group</a:t>
                      </a:r>
                      <a:endParaRPr lang="en-AE" sz="1400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AE" sz="1400" b="1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Asset Category</a:t>
                      </a:r>
                      <a:endParaRPr lang="en-AE" sz="1400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PCI CHD</a:t>
                      </a:r>
                      <a:endParaRPr lang="en-AE" sz="1400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Asset Component</a:t>
                      </a:r>
                      <a:endParaRPr lang="en-AE" sz="1400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PCI CHD of Visa debit cards</a:t>
                      </a:r>
                      <a:endParaRPr lang="en-AE" sz="1400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6498387"/>
                  </a:ext>
                </a:extLst>
              </a:tr>
            </a:tbl>
          </a:graphicData>
        </a:graphic>
      </p:graphicFrame>
      <p:sp>
        <p:nvSpPr>
          <p:cNvPr id="36" name="Rectangle 35">
            <a:extLst>
              <a:ext uri="{FF2B5EF4-FFF2-40B4-BE49-F238E27FC236}">
                <a16:creationId xmlns:a16="http://schemas.microsoft.com/office/drawing/2014/main" id="{EABE412C-528F-8BEE-E0FB-A98DA82E7F17}"/>
              </a:ext>
            </a:extLst>
          </p:cNvPr>
          <p:cNvSpPr/>
          <p:nvPr/>
        </p:nvSpPr>
        <p:spPr>
          <a:xfrm>
            <a:off x="3502835" y="6384853"/>
            <a:ext cx="1073889" cy="39340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Save</a:t>
            </a:r>
            <a:endParaRPr lang="en-AE" sz="1200" dirty="0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BE01D768-FEF2-64DE-5125-08297E32DB0E}"/>
              </a:ext>
            </a:extLst>
          </p:cNvPr>
          <p:cNvSpPr/>
          <p:nvPr/>
        </p:nvSpPr>
        <p:spPr>
          <a:xfrm>
            <a:off x="4690705" y="6384853"/>
            <a:ext cx="1073889" cy="39340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Next</a:t>
            </a:r>
            <a:endParaRPr lang="en-AE" sz="1200" dirty="0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E5120691-27EA-8765-CCC9-0EF730F13549}"/>
              </a:ext>
            </a:extLst>
          </p:cNvPr>
          <p:cNvSpPr/>
          <p:nvPr/>
        </p:nvSpPr>
        <p:spPr>
          <a:xfrm>
            <a:off x="2328183" y="6384853"/>
            <a:ext cx="1073889" cy="39340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Back</a:t>
            </a:r>
            <a:endParaRPr lang="en-AE" sz="1200" dirty="0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3907E538-3726-A820-667F-7F3C3D9227FC}"/>
              </a:ext>
            </a:extLst>
          </p:cNvPr>
          <p:cNvSpPr/>
          <p:nvPr/>
        </p:nvSpPr>
        <p:spPr>
          <a:xfrm>
            <a:off x="148841" y="6384853"/>
            <a:ext cx="2094629" cy="39340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Go to Services &amp; Assets Page</a:t>
            </a:r>
            <a:endParaRPr lang="en-AE" sz="1200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639D9BE-E894-ACFF-D3C8-53105CFC1070}"/>
              </a:ext>
            </a:extLst>
          </p:cNvPr>
          <p:cNvSpPr/>
          <p:nvPr/>
        </p:nvSpPr>
        <p:spPr>
          <a:xfrm>
            <a:off x="9415849" y="5193944"/>
            <a:ext cx="2644347" cy="62354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View Risk Assessment of all asset components</a:t>
            </a:r>
            <a:endParaRPr lang="en-AE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3DF76D9-A694-FF9D-FBE3-6449BF7E9B4A}"/>
              </a:ext>
            </a:extLst>
          </p:cNvPr>
          <p:cNvSpPr txBox="1"/>
          <p:nvPr/>
        </p:nvSpPr>
        <p:spPr>
          <a:xfrm>
            <a:off x="11034272" y="4722747"/>
            <a:ext cx="820679" cy="369332"/>
          </a:xfrm>
          <a:prstGeom prst="rect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p. 14</a:t>
            </a:r>
            <a:endParaRPr lang="en-AE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4C71BFA-084D-21C9-A407-57F3E38E0E91}"/>
              </a:ext>
            </a:extLst>
          </p:cNvPr>
          <p:cNvSpPr/>
          <p:nvPr/>
        </p:nvSpPr>
        <p:spPr>
          <a:xfrm>
            <a:off x="9415849" y="3859539"/>
            <a:ext cx="2644347" cy="62354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View Risk Assessment of all services</a:t>
            </a:r>
            <a:endParaRPr lang="en-AE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081B0D2-B2E8-6771-0982-295880E63D58}"/>
              </a:ext>
            </a:extLst>
          </p:cNvPr>
          <p:cNvSpPr txBox="1"/>
          <p:nvPr/>
        </p:nvSpPr>
        <p:spPr>
          <a:xfrm>
            <a:off x="10929090" y="3413381"/>
            <a:ext cx="820679" cy="369332"/>
          </a:xfrm>
          <a:prstGeom prst="rect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p. 15</a:t>
            </a:r>
            <a:endParaRPr lang="en-AE" dirty="0"/>
          </a:p>
        </p:txBody>
      </p:sp>
      <p:graphicFrame>
        <p:nvGraphicFramePr>
          <p:cNvPr id="16" name="Table 15">
            <a:extLst>
              <a:ext uri="{FF2B5EF4-FFF2-40B4-BE49-F238E27FC236}">
                <a16:creationId xmlns:a16="http://schemas.microsoft.com/office/drawing/2014/main" id="{74D6A826-9842-C40B-5C87-8A212269C7F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54241296"/>
              </p:ext>
            </p:extLst>
          </p:nvPr>
        </p:nvGraphicFramePr>
        <p:xfrm>
          <a:off x="157534" y="3424053"/>
          <a:ext cx="9063929" cy="29667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294847">
                  <a:extLst>
                    <a:ext uri="{9D8B030D-6E8A-4147-A177-3AD203B41FA5}">
                      <a16:colId xmlns:a16="http://schemas.microsoft.com/office/drawing/2014/main" val="2253245753"/>
                    </a:ext>
                  </a:extLst>
                </a:gridCol>
                <a:gridCol w="1294847">
                  <a:extLst>
                    <a:ext uri="{9D8B030D-6E8A-4147-A177-3AD203B41FA5}">
                      <a16:colId xmlns:a16="http://schemas.microsoft.com/office/drawing/2014/main" val="2365709512"/>
                    </a:ext>
                  </a:extLst>
                </a:gridCol>
                <a:gridCol w="1294847">
                  <a:extLst>
                    <a:ext uri="{9D8B030D-6E8A-4147-A177-3AD203B41FA5}">
                      <a16:colId xmlns:a16="http://schemas.microsoft.com/office/drawing/2014/main" val="1631215599"/>
                    </a:ext>
                  </a:extLst>
                </a:gridCol>
                <a:gridCol w="1294847">
                  <a:extLst>
                    <a:ext uri="{9D8B030D-6E8A-4147-A177-3AD203B41FA5}">
                      <a16:colId xmlns:a16="http://schemas.microsoft.com/office/drawing/2014/main" val="2205472017"/>
                    </a:ext>
                  </a:extLst>
                </a:gridCol>
                <a:gridCol w="1294847">
                  <a:extLst>
                    <a:ext uri="{9D8B030D-6E8A-4147-A177-3AD203B41FA5}">
                      <a16:colId xmlns:a16="http://schemas.microsoft.com/office/drawing/2014/main" val="2744099965"/>
                    </a:ext>
                  </a:extLst>
                </a:gridCol>
                <a:gridCol w="1294847">
                  <a:extLst>
                    <a:ext uri="{9D8B030D-6E8A-4147-A177-3AD203B41FA5}">
                      <a16:colId xmlns:a16="http://schemas.microsoft.com/office/drawing/2014/main" val="236114228"/>
                    </a:ext>
                  </a:extLst>
                </a:gridCol>
                <a:gridCol w="1294847">
                  <a:extLst>
                    <a:ext uri="{9D8B030D-6E8A-4147-A177-3AD203B41FA5}">
                      <a16:colId xmlns:a16="http://schemas.microsoft.com/office/drawing/2014/main" val="129605017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AE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 gridSpan="6"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Consequence</a:t>
                      </a:r>
                      <a:endParaRPr lang="en-AE" sz="1600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AE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AE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AE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AE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A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477438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Likelihood</a:t>
                      </a:r>
                      <a:endParaRPr lang="en-AE" sz="1600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</a:t>
                      </a:r>
                      <a:endParaRPr lang="en-AE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  <a:endParaRPr lang="en-AE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  <a:endParaRPr lang="en-AE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  <a:endParaRPr lang="en-AE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  <a:endParaRPr lang="en-AE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  <a:endParaRPr lang="en-AE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5057748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</a:t>
                      </a:r>
                      <a:endParaRPr lang="en-AE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36</a:t>
                      </a:r>
                      <a:endParaRPr lang="en-AE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30</a:t>
                      </a:r>
                      <a:endParaRPr lang="en-AE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24</a:t>
                      </a:r>
                      <a:endParaRPr lang="en-AE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18</a:t>
                      </a:r>
                      <a:endParaRPr lang="en-AE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12</a:t>
                      </a:r>
                      <a:endParaRPr lang="en-AE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</a:t>
                      </a:r>
                      <a:endParaRPr lang="en-AE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2220142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  <a:endParaRPr lang="en-AE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30</a:t>
                      </a:r>
                      <a:endParaRPr lang="en-AE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25</a:t>
                      </a:r>
                      <a:endParaRPr lang="en-AE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20</a:t>
                      </a:r>
                      <a:endParaRPr lang="en-AE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15</a:t>
                      </a:r>
                      <a:endParaRPr lang="en-AE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</a:t>
                      </a:r>
                      <a:endParaRPr lang="en-AE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  <a:endParaRPr lang="en-AE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2495184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  <a:endParaRPr lang="en-AE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24</a:t>
                      </a:r>
                      <a:endParaRPr lang="en-AE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20</a:t>
                      </a:r>
                      <a:endParaRPr lang="en-AE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16</a:t>
                      </a:r>
                      <a:endParaRPr lang="en-AE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12</a:t>
                      </a:r>
                      <a:endParaRPr lang="en-AE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</a:t>
                      </a:r>
                      <a:endParaRPr lang="en-AE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  <a:endParaRPr lang="en-AE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2916043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  <a:endParaRPr lang="en-AE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18</a:t>
                      </a:r>
                      <a:endParaRPr lang="en-AE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15</a:t>
                      </a:r>
                      <a:endParaRPr lang="en-AE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12</a:t>
                      </a:r>
                      <a:endParaRPr lang="en-AE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</a:t>
                      </a:r>
                      <a:endParaRPr lang="en-AE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</a:t>
                      </a:r>
                      <a:endParaRPr lang="en-AE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  <a:endParaRPr lang="en-AE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404602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  <a:endParaRPr lang="en-AE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12</a:t>
                      </a:r>
                      <a:endParaRPr lang="en-AE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</a:t>
                      </a:r>
                      <a:endParaRPr lang="en-AE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</a:t>
                      </a:r>
                      <a:endParaRPr lang="en-AE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</a:t>
                      </a:r>
                      <a:endParaRPr lang="en-AE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  <a:endParaRPr lang="en-AE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  <a:endParaRPr lang="en-AE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9344326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  <a:endParaRPr lang="en-AE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</a:t>
                      </a:r>
                      <a:endParaRPr lang="en-AE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  <a:endParaRPr lang="en-AE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  <a:endParaRPr lang="en-AE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  <a:endParaRPr lang="en-AE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  <a:endParaRPr lang="en-AE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  <a:endParaRPr lang="en-AE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98523148"/>
                  </a:ext>
                </a:extLst>
              </a:tr>
            </a:tbl>
          </a:graphicData>
        </a:graphic>
      </p:graphicFrame>
      <p:sp>
        <p:nvSpPr>
          <p:cNvPr id="17" name="Oval 16">
            <a:extLst>
              <a:ext uri="{FF2B5EF4-FFF2-40B4-BE49-F238E27FC236}">
                <a16:creationId xmlns:a16="http://schemas.microsoft.com/office/drawing/2014/main" id="{887F7E41-DA12-3193-48E9-39C2A3A667D7}"/>
              </a:ext>
            </a:extLst>
          </p:cNvPr>
          <p:cNvSpPr/>
          <p:nvPr/>
        </p:nvSpPr>
        <p:spPr>
          <a:xfrm>
            <a:off x="5462429" y="5253908"/>
            <a:ext cx="1073889" cy="393405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377302349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875E6D-465A-2D92-5B89-C8B5DB915F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3E6F8B8-31A6-5AFF-DE38-34074BDEE84B}"/>
              </a:ext>
            </a:extLst>
          </p:cNvPr>
          <p:cNvSpPr txBox="1"/>
          <p:nvPr/>
        </p:nvSpPr>
        <p:spPr>
          <a:xfrm>
            <a:off x="157534" y="2291254"/>
            <a:ext cx="11684001" cy="307777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Information Security Risk Management Framework:  ISO 27005:2022 QUANTITATIVE – ASSET-based with operational risk scenarios</a:t>
            </a:r>
            <a:endParaRPr lang="en-AE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26D06A5-7F1E-4EBD-9101-B0070A241B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29"/>
            <a:ext cx="12192000" cy="1341623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A7261B93-368D-A9B7-DEB1-6589D3693B4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838" y="1349649"/>
            <a:ext cx="4275992" cy="331758"/>
          </a:xfrm>
          <a:prstGeom prst="rect">
            <a:avLst/>
          </a:prstGeom>
        </p:spPr>
      </p:pic>
      <p:sp>
        <p:nvSpPr>
          <p:cNvPr id="31" name="TextBox 30">
            <a:extLst>
              <a:ext uri="{FF2B5EF4-FFF2-40B4-BE49-F238E27FC236}">
                <a16:creationId xmlns:a16="http://schemas.microsoft.com/office/drawing/2014/main" id="{9634CF34-966C-3DE0-182E-C5BB34F2197F}"/>
              </a:ext>
            </a:extLst>
          </p:cNvPr>
          <p:cNvSpPr txBox="1"/>
          <p:nvPr/>
        </p:nvSpPr>
        <p:spPr>
          <a:xfrm>
            <a:off x="93736" y="2623175"/>
            <a:ext cx="11761215" cy="461665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By considering both the risk sources (threats) in the environment of an asset component and the vulnerabilities of the asset component, evaluate the likelihood that a DATA AVAILABILITY exploit will occur in a finite timeframe</a:t>
            </a:r>
            <a:endParaRPr lang="en-AE" sz="1200" b="1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32" name="Table 31">
            <a:extLst>
              <a:ext uri="{FF2B5EF4-FFF2-40B4-BE49-F238E27FC236}">
                <a16:creationId xmlns:a16="http://schemas.microsoft.com/office/drawing/2014/main" id="{BE2CE1A7-C119-0514-CD75-8EDCFA1D6D2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55608796"/>
              </p:ext>
            </p:extLst>
          </p:nvPr>
        </p:nvGraphicFramePr>
        <p:xfrm>
          <a:off x="159724" y="1668618"/>
          <a:ext cx="11684000" cy="5181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460500">
                  <a:extLst>
                    <a:ext uri="{9D8B030D-6E8A-4147-A177-3AD203B41FA5}">
                      <a16:colId xmlns:a16="http://schemas.microsoft.com/office/drawing/2014/main" val="2713550951"/>
                    </a:ext>
                  </a:extLst>
                </a:gridCol>
                <a:gridCol w="644660">
                  <a:extLst>
                    <a:ext uri="{9D8B030D-6E8A-4147-A177-3AD203B41FA5}">
                      <a16:colId xmlns:a16="http://schemas.microsoft.com/office/drawing/2014/main" val="2522429615"/>
                    </a:ext>
                  </a:extLst>
                </a:gridCol>
                <a:gridCol w="975360">
                  <a:extLst>
                    <a:ext uri="{9D8B030D-6E8A-4147-A177-3AD203B41FA5}">
                      <a16:colId xmlns:a16="http://schemas.microsoft.com/office/drawing/2014/main" val="2856555388"/>
                    </a:ext>
                  </a:extLst>
                </a:gridCol>
                <a:gridCol w="1018903">
                  <a:extLst>
                    <a:ext uri="{9D8B030D-6E8A-4147-A177-3AD203B41FA5}">
                      <a16:colId xmlns:a16="http://schemas.microsoft.com/office/drawing/2014/main" val="2399358289"/>
                    </a:ext>
                  </a:extLst>
                </a:gridCol>
                <a:gridCol w="957943">
                  <a:extLst>
                    <a:ext uri="{9D8B030D-6E8A-4147-A177-3AD203B41FA5}">
                      <a16:colId xmlns:a16="http://schemas.microsoft.com/office/drawing/2014/main" val="244556393"/>
                    </a:ext>
                  </a:extLst>
                </a:gridCol>
                <a:gridCol w="984068">
                  <a:extLst>
                    <a:ext uri="{9D8B030D-6E8A-4147-A177-3AD203B41FA5}">
                      <a16:colId xmlns:a16="http://schemas.microsoft.com/office/drawing/2014/main" val="720004741"/>
                    </a:ext>
                  </a:extLst>
                </a:gridCol>
                <a:gridCol w="1201783">
                  <a:extLst>
                    <a:ext uri="{9D8B030D-6E8A-4147-A177-3AD203B41FA5}">
                      <a16:colId xmlns:a16="http://schemas.microsoft.com/office/drawing/2014/main" val="4268014146"/>
                    </a:ext>
                  </a:extLst>
                </a:gridCol>
                <a:gridCol w="4440783">
                  <a:extLst>
                    <a:ext uri="{9D8B030D-6E8A-4147-A177-3AD203B41FA5}">
                      <a16:colId xmlns:a16="http://schemas.microsoft.com/office/drawing/2014/main" val="116687783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4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Service</a:t>
                      </a:r>
                      <a:endParaRPr lang="en-AE" sz="1400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S1</a:t>
                      </a:r>
                      <a:endParaRPr lang="en-AE" sz="1400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Asset Group</a:t>
                      </a:r>
                      <a:endParaRPr lang="en-AE" sz="1400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AE" sz="1400" b="1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Asset Category</a:t>
                      </a:r>
                      <a:endParaRPr lang="en-AE" sz="1400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PCI CHD</a:t>
                      </a:r>
                      <a:endParaRPr lang="en-AE" sz="1400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Asset Component</a:t>
                      </a:r>
                      <a:endParaRPr lang="en-AE" sz="1400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PCI CHD of Visa debit cards</a:t>
                      </a:r>
                      <a:endParaRPr lang="en-AE" sz="1400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6498387"/>
                  </a:ext>
                </a:extLst>
              </a:tr>
            </a:tbl>
          </a:graphicData>
        </a:graphic>
      </p:graphicFrame>
      <p:sp>
        <p:nvSpPr>
          <p:cNvPr id="33" name="TextBox 32">
            <a:extLst>
              <a:ext uri="{FF2B5EF4-FFF2-40B4-BE49-F238E27FC236}">
                <a16:creationId xmlns:a16="http://schemas.microsoft.com/office/drawing/2014/main" id="{3F2AB09E-A5FB-A8D1-87C0-B043BC3AF0CA}"/>
              </a:ext>
            </a:extLst>
          </p:cNvPr>
          <p:cNvSpPr txBox="1"/>
          <p:nvPr/>
        </p:nvSpPr>
        <p:spPr>
          <a:xfrm>
            <a:off x="157534" y="3108591"/>
            <a:ext cx="3850734" cy="307777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sz="1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Consolidated level of risk sources (threats)</a:t>
            </a:r>
            <a:endParaRPr lang="en-AE" sz="1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E8D94ADB-0344-6712-585A-239156A9B19C}"/>
              </a:ext>
            </a:extLst>
          </p:cNvPr>
          <p:cNvSpPr txBox="1"/>
          <p:nvPr/>
        </p:nvSpPr>
        <p:spPr>
          <a:xfrm>
            <a:off x="157534" y="3472997"/>
            <a:ext cx="2925801" cy="307777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sz="1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Consolidated vulnerability level</a:t>
            </a:r>
            <a:endParaRPr lang="en-AE" sz="1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5ABB15B6-9E9E-7D87-3B52-90464D3705A5}"/>
              </a:ext>
            </a:extLst>
          </p:cNvPr>
          <p:cNvSpPr/>
          <p:nvPr/>
        </p:nvSpPr>
        <p:spPr>
          <a:xfrm>
            <a:off x="4284921" y="3108591"/>
            <a:ext cx="4306189" cy="307777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Display from previous </a:t>
            </a:r>
            <a:r>
              <a:rPr lang="en-US" b="1" dirty="0"/>
              <a:t>calculated</a:t>
            </a:r>
            <a:r>
              <a:rPr lang="en-US" dirty="0"/>
              <a:t> value</a:t>
            </a:r>
            <a:endParaRPr lang="en-AE" dirty="0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F4A6C9DA-3C96-FBCB-54B6-26B3C6DC38FD}"/>
              </a:ext>
            </a:extLst>
          </p:cNvPr>
          <p:cNvSpPr txBox="1"/>
          <p:nvPr/>
        </p:nvSpPr>
        <p:spPr>
          <a:xfrm>
            <a:off x="148841" y="3853896"/>
            <a:ext cx="6608476" cy="307777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sz="1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Likelihood that a DATA AVAILABILITY exploit will occur in a finite timeframe</a:t>
            </a:r>
            <a:endParaRPr lang="en-AE" sz="1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A9A8D026-6A02-D132-EC3F-82B45224C18D}"/>
              </a:ext>
            </a:extLst>
          </p:cNvPr>
          <p:cNvSpPr txBox="1"/>
          <p:nvPr/>
        </p:nvSpPr>
        <p:spPr>
          <a:xfrm>
            <a:off x="148841" y="4221564"/>
            <a:ext cx="1138389" cy="307777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sz="1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Time frame</a:t>
            </a:r>
            <a:endParaRPr lang="en-AE" sz="1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B8C06202-6E00-4E2F-7740-875A84187AC9}"/>
              </a:ext>
            </a:extLst>
          </p:cNvPr>
          <p:cNvSpPr/>
          <p:nvPr/>
        </p:nvSpPr>
        <p:spPr>
          <a:xfrm>
            <a:off x="1448309" y="4231117"/>
            <a:ext cx="2685541" cy="307777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Numeric input field</a:t>
            </a:r>
            <a:endParaRPr lang="en-AE" dirty="0"/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FFDEDE79-6F1D-5FEC-51B7-AD5CAFCE7CFD}"/>
              </a:ext>
            </a:extLst>
          </p:cNvPr>
          <p:cNvSpPr/>
          <p:nvPr/>
        </p:nvSpPr>
        <p:spPr>
          <a:xfrm>
            <a:off x="4284921" y="4241269"/>
            <a:ext cx="850605" cy="307777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dirty="0"/>
              <a:t>Days</a:t>
            </a:r>
            <a:endParaRPr lang="en-AE" dirty="0"/>
          </a:p>
        </p:txBody>
      </p:sp>
      <p:graphicFrame>
        <p:nvGraphicFramePr>
          <p:cNvPr id="45" name="Table 44">
            <a:extLst>
              <a:ext uri="{FF2B5EF4-FFF2-40B4-BE49-F238E27FC236}">
                <a16:creationId xmlns:a16="http://schemas.microsoft.com/office/drawing/2014/main" id="{806371D0-4B59-9E56-1176-88799BE57A7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64063565"/>
              </p:ext>
            </p:extLst>
          </p:nvPr>
        </p:nvGraphicFramePr>
        <p:xfrm>
          <a:off x="162753" y="4818175"/>
          <a:ext cx="953841" cy="2072640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953841">
                  <a:extLst>
                    <a:ext uri="{9D8B030D-6E8A-4147-A177-3AD203B41FA5}">
                      <a16:colId xmlns:a16="http://schemas.microsoft.com/office/drawing/2014/main" val="2568573592"/>
                    </a:ext>
                  </a:extLst>
                </a:gridCol>
              </a:tblGrid>
              <a:tr h="200124">
                <a:tc>
                  <a:txBody>
                    <a:bodyPr/>
                    <a:lstStyle/>
                    <a:p>
                      <a:pPr algn="ctr"/>
                      <a:r>
                        <a:rPr lang="en-US" sz="1000" dirty="0"/>
                        <a:t>Calculate</a:t>
                      </a:r>
                      <a:endParaRPr lang="en-AE" sz="1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97192365"/>
                  </a:ext>
                </a:extLst>
              </a:tr>
              <a:tr h="343069">
                <a:tc>
                  <a:txBody>
                    <a:bodyPr/>
                    <a:lstStyle/>
                    <a:p>
                      <a:endParaRPr lang="en-A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29103498"/>
                  </a:ext>
                </a:extLst>
              </a:tr>
              <a:tr h="343069">
                <a:tc>
                  <a:txBody>
                    <a:bodyPr/>
                    <a:lstStyle/>
                    <a:p>
                      <a:endParaRPr lang="en-A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53888139"/>
                  </a:ext>
                </a:extLst>
              </a:tr>
              <a:tr h="343069">
                <a:tc>
                  <a:txBody>
                    <a:bodyPr/>
                    <a:lstStyle/>
                    <a:p>
                      <a:endParaRPr lang="en-A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09232184"/>
                  </a:ext>
                </a:extLst>
              </a:tr>
              <a:tr h="343069">
                <a:tc>
                  <a:txBody>
                    <a:bodyPr/>
                    <a:lstStyle/>
                    <a:p>
                      <a:endParaRPr lang="en-A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36908383"/>
                  </a:ext>
                </a:extLst>
              </a:tr>
              <a:tr h="343069">
                <a:tc>
                  <a:txBody>
                    <a:bodyPr/>
                    <a:lstStyle/>
                    <a:p>
                      <a:endParaRPr lang="en-A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53143104"/>
                  </a:ext>
                </a:extLst>
              </a:tr>
            </a:tbl>
          </a:graphicData>
        </a:graphic>
      </p:graphicFrame>
      <p:sp>
        <p:nvSpPr>
          <p:cNvPr id="46" name="Oval 45">
            <a:extLst>
              <a:ext uri="{FF2B5EF4-FFF2-40B4-BE49-F238E27FC236}">
                <a16:creationId xmlns:a16="http://schemas.microsoft.com/office/drawing/2014/main" id="{2FB5B5DC-F0DE-BC0A-48FD-FAF6DC8D07BC}"/>
              </a:ext>
            </a:extLst>
          </p:cNvPr>
          <p:cNvSpPr/>
          <p:nvPr/>
        </p:nvSpPr>
        <p:spPr>
          <a:xfrm>
            <a:off x="395492" y="5154063"/>
            <a:ext cx="191589" cy="130629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E"/>
          </a:p>
        </p:txBody>
      </p:sp>
      <p:sp>
        <p:nvSpPr>
          <p:cNvPr id="47" name="Oval 46">
            <a:extLst>
              <a:ext uri="{FF2B5EF4-FFF2-40B4-BE49-F238E27FC236}">
                <a16:creationId xmlns:a16="http://schemas.microsoft.com/office/drawing/2014/main" id="{DE46D8B6-2D16-D902-0029-083F98B7511B}"/>
              </a:ext>
            </a:extLst>
          </p:cNvPr>
          <p:cNvSpPr/>
          <p:nvPr/>
        </p:nvSpPr>
        <p:spPr>
          <a:xfrm>
            <a:off x="395492" y="5501785"/>
            <a:ext cx="191589" cy="130629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E"/>
          </a:p>
        </p:txBody>
      </p:sp>
      <p:sp>
        <p:nvSpPr>
          <p:cNvPr id="48" name="Oval 47">
            <a:extLst>
              <a:ext uri="{FF2B5EF4-FFF2-40B4-BE49-F238E27FC236}">
                <a16:creationId xmlns:a16="http://schemas.microsoft.com/office/drawing/2014/main" id="{353E3711-619C-781A-F18E-7919A64D7245}"/>
              </a:ext>
            </a:extLst>
          </p:cNvPr>
          <p:cNvSpPr/>
          <p:nvPr/>
        </p:nvSpPr>
        <p:spPr>
          <a:xfrm>
            <a:off x="395492" y="5872521"/>
            <a:ext cx="191589" cy="130629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E"/>
          </a:p>
        </p:txBody>
      </p:sp>
      <p:sp>
        <p:nvSpPr>
          <p:cNvPr id="49" name="Oval 48">
            <a:extLst>
              <a:ext uri="{FF2B5EF4-FFF2-40B4-BE49-F238E27FC236}">
                <a16:creationId xmlns:a16="http://schemas.microsoft.com/office/drawing/2014/main" id="{570703AD-F974-78E6-E27E-401CB0333E67}"/>
              </a:ext>
            </a:extLst>
          </p:cNvPr>
          <p:cNvSpPr/>
          <p:nvPr/>
        </p:nvSpPr>
        <p:spPr>
          <a:xfrm>
            <a:off x="395492" y="6220243"/>
            <a:ext cx="191589" cy="130629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E"/>
          </a:p>
        </p:txBody>
      </p:sp>
      <p:sp>
        <p:nvSpPr>
          <p:cNvPr id="50" name="Oval 49">
            <a:extLst>
              <a:ext uri="{FF2B5EF4-FFF2-40B4-BE49-F238E27FC236}">
                <a16:creationId xmlns:a16="http://schemas.microsoft.com/office/drawing/2014/main" id="{EC84DC45-0158-8573-C91F-A6E907C4754D}"/>
              </a:ext>
            </a:extLst>
          </p:cNvPr>
          <p:cNvSpPr/>
          <p:nvPr/>
        </p:nvSpPr>
        <p:spPr>
          <a:xfrm>
            <a:off x="395492" y="6590979"/>
            <a:ext cx="191589" cy="130629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E"/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0408416E-43A4-26C8-5381-07857EFE7533}"/>
              </a:ext>
            </a:extLst>
          </p:cNvPr>
          <p:cNvSpPr/>
          <p:nvPr/>
        </p:nvSpPr>
        <p:spPr>
          <a:xfrm>
            <a:off x="9850475" y="6411127"/>
            <a:ext cx="1073889" cy="39340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Save</a:t>
            </a:r>
            <a:endParaRPr lang="en-AE" sz="1200" dirty="0"/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C77F1D37-4F71-BBE6-D307-C78C33BF712A}"/>
              </a:ext>
            </a:extLst>
          </p:cNvPr>
          <p:cNvSpPr/>
          <p:nvPr/>
        </p:nvSpPr>
        <p:spPr>
          <a:xfrm>
            <a:off x="11038345" y="6411127"/>
            <a:ext cx="1073889" cy="39340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Next</a:t>
            </a:r>
            <a:endParaRPr lang="en-AE" sz="1200" dirty="0"/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F2EC28BF-DDB8-4D02-C968-3BA483735F8F}"/>
              </a:ext>
            </a:extLst>
          </p:cNvPr>
          <p:cNvSpPr/>
          <p:nvPr/>
        </p:nvSpPr>
        <p:spPr>
          <a:xfrm>
            <a:off x="8675823" y="6411127"/>
            <a:ext cx="1073889" cy="39340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Back</a:t>
            </a:r>
            <a:endParaRPr lang="en-AE" sz="1200" dirty="0"/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A17542D3-DAB4-6609-2728-55E9E10F9F6D}"/>
              </a:ext>
            </a:extLst>
          </p:cNvPr>
          <p:cNvSpPr/>
          <p:nvPr/>
        </p:nvSpPr>
        <p:spPr>
          <a:xfrm>
            <a:off x="6496481" y="6411127"/>
            <a:ext cx="2094629" cy="39340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Go to Services &amp; Assets Page</a:t>
            </a:r>
            <a:endParaRPr lang="en-AE" sz="1200" dirty="0"/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A62AB0C4-B683-365B-047F-E0B25A068F40}"/>
              </a:ext>
            </a:extLst>
          </p:cNvPr>
          <p:cNvSpPr/>
          <p:nvPr/>
        </p:nvSpPr>
        <p:spPr>
          <a:xfrm>
            <a:off x="4284921" y="3495964"/>
            <a:ext cx="4306189" cy="307777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Display from previous </a:t>
            </a:r>
            <a:r>
              <a:rPr lang="en-US" b="1" dirty="0"/>
              <a:t>calculated</a:t>
            </a:r>
            <a:r>
              <a:rPr lang="en-US" dirty="0"/>
              <a:t> value</a:t>
            </a:r>
            <a:endParaRPr lang="en-AE" dirty="0"/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7E49B6B6-B514-883A-C6F1-D7673A2A6470}"/>
              </a:ext>
            </a:extLst>
          </p:cNvPr>
          <p:cNvSpPr txBox="1"/>
          <p:nvPr/>
        </p:nvSpPr>
        <p:spPr>
          <a:xfrm>
            <a:off x="158849" y="4508455"/>
            <a:ext cx="2172133" cy="307777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sz="1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Select Likelihood Value</a:t>
            </a:r>
            <a:endParaRPr lang="en-AE" sz="1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83E709B6-A8AC-A1BB-04C9-53AC7CBEA687}"/>
              </a:ext>
            </a:extLst>
          </p:cNvPr>
          <p:cNvSpPr/>
          <p:nvPr/>
        </p:nvSpPr>
        <p:spPr>
          <a:xfrm>
            <a:off x="6960399" y="5981102"/>
            <a:ext cx="5025659" cy="27817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View Risk Assessment of all asset components</a:t>
            </a:r>
            <a:endParaRPr lang="en-AE" dirty="0"/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1571A918-5644-528C-6A56-29FF2C44EDD6}"/>
              </a:ext>
            </a:extLst>
          </p:cNvPr>
          <p:cNvSpPr txBox="1"/>
          <p:nvPr/>
        </p:nvSpPr>
        <p:spPr>
          <a:xfrm>
            <a:off x="9162076" y="5634557"/>
            <a:ext cx="820679" cy="369332"/>
          </a:xfrm>
          <a:prstGeom prst="rect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p. 14</a:t>
            </a:r>
            <a:endParaRPr lang="en-AE" dirty="0"/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FC935789-C2EB-A692-055B-B18754A21AA8}"/>
              </a:ext>
            </a:extLst>
          </p:cNvPr>
          <p:cNvSpPr/>
          <p:nvPr/>
        </p:nvSpPr>
        <p:spPr>
          <a:xfrm>
            <a:off x="6960399" y="5158038"/>
            <a:ext cx="5025659" cy="27817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View Risk Assessment of all services</a:t>
            </a:r>
            <a:endParaRPr lang="en-AE" dirty="0"/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623605E6-B7EE-DC7C-7CE5-6E157B1739F4}"/>
              </a:ext>
            </a:extLst>
          </p:cNvPr>
          <p:cNvSpPr txBox="1"/>
          <p:nvPr/>
        </p:nvSpPr>
        <p:spPr>
          <a:xfrm>
            <a:off x="9162076" y="4811493"/>
            <a:ext cx="820679" cy="369332"/>
          </a:xfrm>
          <a:prstGeom prst="rect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p. 15</a:t>
            </a:r>
            <a:endParaRPr lang="en-AE" dirty="0"/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0288DC6B-3A91-F0CA-51C3-016611FBFEB2}"/>
              </a:ext>
            </a:extLst>
          </p:cNvPr>
          <p:cNvSpPr txBox="1"/>
          <p:nvPr/>
        </p:nvSpPr>
        <p:spPr>
          <a:xfrm>
            <a:off x="6142254" y="4243813"/>
            <a:ext cx="5237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highlight>
                  <a:srgbClr val="FFFF0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This value is the y-axis value of the table on p. 12</a:t>
            </a:r>
            <a:endParaRPr lang="en-AE" dirty="0">
              <a:highlight>
                <a:srgbClr val="FFFF00"/>
              </a:highlight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62" name="Group 61">
            <a:extLst>
              <a:ext uri="{FF2B5EF4-FFF2-40B4-BE49-F238E27FC236}">
                <a16:creationId xmlns:a16="http://schemas.microsoft.com/office/drawing/2014/main" id="{AC280DE6-6600-4D57-AE81-7ADB0066E3EC}"/>
              </a:ext>
            </a:extLst>
          </p:cNvPr>
          <p:cNvGrpSpPr/>
          <p:nvPr/>
        </p:nvGrpSpPr>
        <p:grpSpPr>
          <a:xfrm>
            <a:off x="1356841" y="4791271"/>
            <a:ext cx="5025659" cy="2094967"/>
            <a:chOff x="4845921" y="1253215"/>
            <a:chExt cx="6763694" cy="2029108"/>
          </a:xfrm>
        </p:grpSpPr>
        <p:pic>
          <p:nvPicPr>
            <p:cNvPr id="63" name="Picture 62">
              <a:extLst>
                <a:ext uri="{FF2B5EF4-FFF2-40B4-BE49-F238E27FC236}">
                  <a16:creationId xmlns:a16="http://schemas.microsoft.com/office/drawing/2014/main" id="{17D0A59F-3E14-F0AD-6D24-9829812B63E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845921" y="1253215"/>
              <a:ext cx="6763694" cy="2019582"/>
            </a:xfrm>
            <a:prstGeom prst="rect">
              <a:avLst/>
            </a:prstGeom>
          </p:spPr>
        </p:pic>
        <p:pic>
          <p:nvPicPr>
            <p:cNvPr id="64" name="Picture 63">
              <a:extLst>
                <a:ext uri="{FF2B5EF4-FFF2-40B4-BE49-F238E27FC236}">
                  <a16:creationId xmlns:a16="http://schemas.microsoft.com/office/drawing/2014/main" id="{6228CFA6-C992-8D96-B749-BA1057C3BD3E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9860934" y="1253215"/>
              <a:ext cx="1724742" cy="2029108"/>
            </a:xfrm>
            <a:prstGeom prst="rect">
              <a:avLst/>
            </a:prstGeom>
          </p:spPr>
        </p:pic>
      </p:grpSp>
      <p:cxnSp>
        <p:nvCxnSpPr>
          <p:cNvPr id="65" name="Straight Arrow Connector 64">
            <a:extLst>
              <a:ext uri="{FF2B5EF4-FFF2-40B4-BE49-F238E27FC236}">
                <a16:creationId xmlns:a16="http://schemas.microsoft.com/office/drawing/2014/main" id="{A8706EB4-D985-A124-DFA2-9B6B0D9FBFC8}"/>
              </a:ext>
            </a:extLst>
          </p:cNvPr>
          <p:cNvCxnSpPr>
            <a:cxnSpLocks/>
            <a:stCxn id="61" idx="1"/>
          </p:cNvCxnSpPr>
          <p:nvPr/>
        </p:nvCxnSpPr>
        <p:spPr>
          <a:xfrm flipH="1">
            <a:off x="718035" y="4428479"/>
            <a:ext cx="5424219" cy="72558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8643402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BF030F-2E6F-901A-41CD-C4BB418E8E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2C1AC03-7D3B-C9C6-AABB-FCE1BF2A3E36}"/>
              </a:ext>
            </a:extLst>
          </p:cNvPr>
          <p:cNvSpPr txBox="1"/>
          <p:nvPr/>
        </p:nvSpPr>
        <p:spPr>
          <a:xfrm>
            <a:off x="157534" y="2790989"/>
            <a:ext cx="11684001" cy="307777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Information Security Risk Management Framework:  ISO 27005:2022 QUANTITATIVE – ASSET-based with operational risk scenarios</a:t>
            </a:r>
            <a:endParaRPr lang="en-AE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CB5DBCB-66A4-2A61-C35D-8E983827B2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03564"/>
            <a:ext cx="12192000" cy="134162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20E5659-4B2D-F2EA-FF16-E6B269BEAE9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838" y="1849384"/>
            <a:ext cx="4275992" cy="33175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51577C3-5AC3-33A4-9C47-B26822DC0CE3}"/>
              </a:ext>
            </a:extLst>
          </p:cNvPr>
          <p:cNvSpPr txBox="1"/>
          <p:nvPr/>
        </p:nvSpPr>
        <p:spPr>
          <a:xfrm>
            <a:off x="93736" y="3122910"/>
            <a:ext cx="11761215" cy="276999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Assessment of risk to DATA AVAILABILITY</a:t>
            </a:r>
            <a:endParaRPr lang="en-AE" sz="1200" b="1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38" name="Table 37">
            <a:extLst>
              <a:ext uri="{FF2B5EF4-FFF2-40B4-BE49-F238E27FC236}">
                <a16:creationId xmlns:a16="http://schemas.microsoft.com/office/drawing/2014/main" id="{E8CC6B4A-92F9-B748-44E9-6C9F21762ADB}"/>
              </a:ext>
            </a:extLst>
          </p:cNvPr>
          <p:cNvGraphicFramePr>
            <a:graphicFrameLocks noGrp="1"/>
          </p:cNvGraphicFramePr>
          <p:nvPr/>
        </p:nvGraphicFramePr>
        <p:xfrm>
          <a:off x="159724" y="2168353"/>
          <a:ext cx="11684000" cy="5181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460500">
                  <a:extLst>
                    <a:ext uri="{9D8B030D-6E8A-4147-A177-3AD203B41FA5}">
                      <a16:colId xmlns:a16="http://schemas.microsoft.com/office/drawing/2014/main" val="2713550951"/>
                    </a:ext>
                  </a:extLst>
                </a:gridCol>
                <a:gridCol w="644660">
                  <a:extLst>
                    <a:ext uri="{9D8B030D-6E8A-4147-A177-3AD203B41FA5}">
                      <a16:colId xmlns:a16="http://schemas.microsoft.com/office/drawing/2014/main" val="2522429615"/>
                    </a:ext>
                  </a:extLst>
                </a:gridCol>
                <a:gridCol w="975360">
                  <a:extLst>
                    <a:ext uri="{9D8B030D-6E8A-4147-A177-3AD203B41FA5}">
                      <a16:colId xmlns:a16="http://schemas.microsoft.com/office/drawing/2014/main" val="2856555388"/>
                    </a:ext>
                  </a:extLst>
                </a:gridCol>
                <a:gridCol w="1018903">
                  <a:extLst>
                    <a:ext uri="{9D8B030D-6E8A-4147-A177-3AD203B41FA5}">
                      <a16:colId xmlns:a16="http://schemas.microsoft.com/office/drawing/2014/main" val="2399358289"/>
                    </a:ext>
                  </a:extLst>
                </a:gridCol>
                <a:gridCol w="957943">
                  <a:extLst>
                    <a:ext uri="{9D8B030D-6E8A-4147-A177-3AD203B41FA5}">
                      <a16:colId xmlns:a16="http://schemas.microsoft.com/office/drawing/2014/main" val="244556393"/>
                    </a:ext>
                  </a:extLst>
                </a:gridCol>
                <a:gridCol w="984068">
                  <a:extLst>
                    <a:ext uri="{9D8B030D-6E8A-4147-A177-3AD203B41FA5}">
                      <a16:colId xmlns:a16="http://schemas.microsoft.com/office/drawing/2014/main" val="720004741"/>
                    </a:ext>
                  </a:extLst>
                </a:gridCol>
                <a:gridCol w="1201783">
                  <a:extLst>
                    <a:ext uri="{9D8B030D-6E8A-4147-A177-3AD203B41FA5}">
                      <a16:colId xmlns:a16="http://schemas.microsoft.com/office/drawing/2014/main" val="4268014146"/>
                    </a:ext>
                  </a:extLst>
                </a:gridCol>
                <a:gridCol w="4440783">
                  <a:extLst>
                    <a:ext uri="{9D8B030D-6E8A-4147-A177-3AD203B41FA5}">
                      <a16:colId xmlns:a16="http://schemas.microsoft.com/office/drawing/2014/main" val="116687783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4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Service</a:t>
                      </a:r>
                      <a:endParaRPr lang="en-AE" sz="1400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S1</a:t>
                      </a:r>
                      <a:endParaRPr lang="en-AE" sz="1400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Asset Group</a:t>
                      </a:r>
                      <a:endParaRPr lang="en-AE" sz="1400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AE" sz="1400" b="1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Asset Category</a:t>
                      </a:r>
                      <a:endParaRPr lang="en-AE" sz="1400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PCI CHD</a:t>
                      </a:r>
                      <a:endParaRPr lang="en-AE" sz="1400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Asset Component</a:t>
                      </a:r>
                      <a:endParaRPr lang="en-AE" sz="1400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PCI CHD of Visa debit cards</a:t>
                      </a:r>
                      <a:endParaRPr lang="en-AE" sz="1400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6498387"/>
                  </a:ext>
                </a:extLst>
              </a:tr>
            </a:tbl>
          </a:graphicData>
        </a:graphic>
      </p:graphicFrame>
      <p:sp>
        <p:nvSpPr>
          <p:cNvPr id="36" name="Rectangle 35">
            <a:extLst>
              <a:ext uri="{FF2B5EF4-FFF2-40B4-BE49-F238E27FC236}">
                <a16:creationId xmlns:a16="http://schemas.microsoft.com/office/drawing/2014/main" id="{9F1BEC1F-2145-15F7-8176-A275D42A7517}"/>
              </a:ext>
            </a:extLst>
          </p:cNvPr>
          <p:cNvSpPr/>
          <p:nvPr/>
        </p:nvSpPr>
        <p:spPr>
          <a:xfrm>
            <a:off x="3502835" y="6384853"/>
            <a:ext cx="1073889" cy="39340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Save</a:t>
            </a:r>
            <a:endParaRPr lang="en-AE" sz="1200" dirty="0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F8562DA9-7149-2C8F-B019-B38960930CD6}"/>
              </a:ext>
            </a:extLst>
          </p:cNvPr>
          <p:cNvSpPr/>
          <p:nvPr/>
        </p:nvSpPr>
        <p:spPr>
          <a:xfrm>
            <a:off x="4690705" y="6384853"/>
            <a:ext cx="1073889" cy="39340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Next</a:t>
            </a:r>
            <a:endParaRPr lang="en-AE" sz="1200" dirty="0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77270F1B-BD06-E7F1-03C8-0D5B01F962BB}"/>
              </a:ext>
            </a:extLst>
          </p:cNvPr>
          <p:cNvSpPr/>
          <p:nvPr/>
        </p:nvSpPr>
        <p:spPr>
          <a:xfrm>
            <a:off x="2328183" y="6384853"/>
            <a:ext cx="1073889" cy="39340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Back</a:t>
            </a:r>
            <a:endParaRPr lang="en-AE" sz="1200" dirty="0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2DAA5738-9BFA-022E-E605-616CD1EB364B}"/>
              </a:ext>
            </a:extLst>
          </p:cNvPr>
          <p:cNvSpPr/>
          <p:nvPr/>
        </p:nvSpPr>
        <p:spPr>
          <a:xfrm>
            <a:off x="148841" y="6384853"/>
            <a:ext cx="2094629" cy="39340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Go to Services &amp; Assets Page</a:t>
            </a:r>
            <a:endParaRPr lang="en-AE" sz="1200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D8368A6-F232-5C6D-0BC3-855E2AA60561}"/>
              </a:ext>
            </a:extLst>
          </p:cNvPr>
          <p:cNvSpPr/>
          <p:nvPr/>
        </p:nvSpPr>
        <p:spPr>
          <a:xfrm>
            <a:off x="9415849" y="5193944"/>
            <a:ext cx="2644347" cy="62354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View Risk Assessment of all asset components</a:t>
            </a:r>
            <a:endParaRPr lang="en-AE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D12DE3F-D45E-BBC9-9DDA-8B6DC54E802B}"/>
              </a:ext>
            </a:extLst>
          </p:cNvPr>
          <p:cNvSpPr txBox="1"/>
          <p:nvPr/>
        </p:nvSpPr>
        <p:spPr>
          <a:xfrm>
            <a:off x="11034272" y="4722747"/>
            <a:ext cx="820679" cy="369332"/>
          </a:xfrm>
          <a:prstGeom prst="rect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p. 14</a:t>
            </a:r>
            <a:endParaRPr lang="en-AE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69AC0A9-5E12-6B46-CAD4-A4E3C32BB3B7}"/>
              </a:ext>
            </a:extLst>
          </p:cNvPr>
          <p:cNvSpPr/>
          <p:nvPr/>
        </p:nvSpPr>
        <p:spPr>
          <a:xfrm>
            <a:off x="9415849" y="3859539"/>
            <a:ext cx="2644347" cy="62354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View Risk Assessment of all services</a:t>
            </a:r>
            <a:endParaRPr lang="en-AE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058539C-E144-0EF8-5FF7-6B198174C6D2}"/>
              </a:ext>
            </a:extLst>
          </p:cNvPr>
          <p:cNvSpPr txBox="1"/>
          <p:nvPr/>
        </p:nvSpPr>
        <p:spPr>
          <a:xfrm>
            <a:off x="10929090" y="3413381"/>
            <a:ext cx="820679" cy="369332"/>
          </a:xfrm>
          <a:prstGeom prst="rect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p. 15</a:t>
            </a:r>
            <a:endParaRPr lang="en-AE" dirty="0"/>
          </a:p>
        </p:txBody>
      </p:sp>
      <p:graphicFrame>
        <p:nvGraphicFramePr>
          <p:cNvPr id="16" name="Table 15">
            <a:extLst>
              <a:ext uri="{FF2B5EF4-FFF2-40B4-BE49-F238E27FC236}">
                <a16:creationId xmlns:a16="http://schemas.microsoft.com/office/drawing/2014/main" id="{591BDCE4-C44D-C5B4-1423-FA7A3C932B1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54241296"/>
              </p:ext>
            </p:extLst>
          </p:nvPr>
        </p:nvGraphicFramePr>
        <p:xfrm>
          <a:off x="157534" y="3424053"/>
          <a:ext cx="9063929" cy="29667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294847">
                  <a:extLst>
                    <a:ext uri="{9D8B030D-6E8A-4147-A177-3AD203B41FA5}">
                      <a16:colId xmlns:a16="http://schemas.microsoft.com/office/drawing/2014/main" val="2253245753"/>
                    </a:ext>
                  </a:extLst>
                </a:gridCol>
                <a:gridCol w="1294847">
                  <a:extLst>
                    <a:ext uri="{9D8B030D-6E8A-4147-A177-3AD203B41FA5}">
                      <a16:colId xmlns:a16="http://schemas.microsoft.com/office/drawing/2014/main" val="2365709512"/>
                    </a:ext>
                  </a:extLst>
                </a:gridCol>
                <a:gridCol w="1294847">
                  <a:extLst>
                    <a:ext uri="{9D8B030D-6E8A-4147-A177-3AD203B41FA5}">
                      <a16:colId xmlns:a16="http://schemas.microsoft.com/office/drawing/2014/main" val="1631215599"/>
                    </a:ext>
                  </a:extLst>
                </a:gridCol>
                <a:gridCol w="1294847">
                  <a:extLst>
                    <a:ext uri="{9D8B030D-6E8A-4147-A177-3AD203B41FA5}">
                      <a16:colId xmlns:a16="http://schemas.microsoft.com/office/drawing/2014/main" val="2205472017"/>
                    </a:ext>
                  </a:extLst>
                </a:gridCol>
                <a:gridCol w="1294847">
                  <a:extLst>
                    <a:ext uri="{9D8B030D-6E8A-4147-A177-3AD203B41FA5}">
                      <a16:colId xmlns:a16="http://schemas.microsoft.com/office/drawing/2014/main" val="2744099965"/>
                    </a:ext>
                  </a:extLst>
                </a:gridCol>
                <a:gridCol w="1294847">
                  <a:extLst>
                    <a:ext uri="{9D8B030D-6E8A-4147-A177-3AD203B41FA5}">
                      <a16:colId xmlns:a16="http://schemas.microsoft.com/office/drawing/2014/main" val="236114228"/>
                    </a:ext>
                  </a:extLst>
                </a:gridCol>
                <a:gridCol w="1294847">
                  <a:extLst>
                    <a:ext uri="{9D8B030D-6E8A-4147-A177-3AD203B41FA5}">
                      <a16:colId xmlns:a16="http://schemas.microsoft.com/office/drawing/2014/main" val="129605017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AE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 gridSpan="6"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Consequence</a:t>
                      </a:r>
                      <a:endParaRPr lang="en-AE" sz="1600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AE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AE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AE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AE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A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477438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Likelihood</a:t>
                      </a:r>
                      <a:endParaRPr lang="en-AE" sz="1600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</a:t>
                      </a:r>
                      <a:endParaRPr lang="en-AE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  <a:endParaRPr lang="en-AE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  <a:endParaRPr lang="en-AE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  <a:endParaRPr lang="en-AE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  <a:endParaRPr lang="en-AE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  <a:endParaRPr lang="en-AE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5057748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</a:t>
                      </a:r>
                      <a:endParaRPr lang="en-AE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36</a:t>
                      </a:r>
                      <a:endParaRPr lang="en-AE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30</a:t>
                      </a:r>
                      <a:endParaRPr lang="en-AE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24</a:t>
                      </a:r>
                      <a:endParaRPr lang="en-AE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18</a:t>
                      </a:r>
                      <a:endParaRPr lang="en-AE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12</a:t>
                      </a:r>
                      <a:endParaRPr lang="en-AE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</a:t>
                      </a:r>
                      <a:endParaRPr lang="en-AE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2220142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  <a:endParaRPr lang="en-AE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30</a:t>
                      </a:r>
                      <a:endParaRPr lang="en-AE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25</a:t>
                      </a:r>
                      <a:endParaRPr lang="en-AE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20</a:t>
                      </a:r>
                      <a:endParaRPr lang="en-AE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15</a:t>
                      </a:r>
                      <a:endParaRPr lang="en-AE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</a:t>
                      </a:r>
                      <a:endParaRPr lang="en-AE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  <a:endParaRPr lang="en-AE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2495184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  <a:endParaRPr lang="en-AE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24</a:t>
                      </a:r>
                      <a:endParaRPr lang="en-AE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20</a:t>
                      </a:r>
                      <a:endParaRPr lang="en-AE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16</a:t>
                      </a:r>
                      <a:endParaRPr lang="en-AE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12</a:t>
                      </a:r>
                      <a:endParaRPr lang="en-AE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</a:t>
                      </a:r>
                      <a:endParaRPr lang="en-AE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  <a:endParaRPr lang="en-AE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2916043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  <a:endParaRPr lang="en-AE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18</a:t>
                      </a:r>
                      <a:endParaRPr lang="en-AE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15</a:t>
                      </a:r>
                      <a:endParaRPr lang="en-AE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12</a:t>
                      </a:r>
                      <a:endParaRPr lang="en-AE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</a:t>
                      </a:r>
                      <a:endParaRPr lang="en-AE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</a:t>
                      </a:r>
                      <a:endParaRPr lang="en-AE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  <a:endParaRPr lang="en-AE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404602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  <a:endParaRPr lang="en-AE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12</a:t>
                      </a:r>
                      <a:endParaRPr lang="en-AE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</a:t>
                      </a:r>
                      <a:endParaRPr lang="en-AE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</a:t>
                      </a:r>
                      <a:endParaRPr lang="en-AE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</a:t>
                      </a:r>
                      <a:endParaRPr lang="en-AE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  <a:endParaRPr lang="en-AE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  <a:endParaRPr lang="en-AE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9344326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  <a:endParaRPr lang="en-AE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</a:t>
                      </a:r>
                      <a:endParaRPr lang="en-AE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  <a:endParaRPr lang="en-AE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  <a:endParaRPr lang="en-AE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  <a:endParaRPr lang="en-AE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  <a:endParaRPr lang="en-AE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  <a:endParaRPr lang="en-AE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98523148"/>
                  </a:ext>
                </a:extLst>
              </a:tr>
            </a:tbl>
          </a:graphicData>
        </a:graphic>
      </p:graphicFrame>
      <p:sp>
        <p:nvSpPr>
          <p:cNvPr id="17" name="Oval 16">
            <a:extLst>
              <a:ext uri="{FF2B5EF4-FFF2-40B4-BE49-F238E27FC236}">
                <a16:creationId xmlns:a16="http://schemas.microsoft.com/office/drawing/2014/main" id="{BC6EBEDE-7C26-7C6A-936A-33E660BE6F42}"/>
              </a:ext>
            </a:extLst>
          </p:cNvPr>
          <p:cNvSpPr/>
          <p:nvPr/>
        </p:nvSpPr>
        <p:spPr>
          <a:xfrm>
            <a:off x="1507525" y="4171311"/>
            <a:ext cx="1073889" cy="393405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190382705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345BE8-BE74-A0E5-0AF5-A50880DCB7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3104A05-C256-3939-1962-B8D376A36FE9}"/>
              </a:ext>
            </a:extLst>
          </p:cNvPr>
          <p:cNvSpPr txBox="1"/>
          <p:nvPr/>
        </p:nvSpPr>
        <p:spPr>
          <a:xfrm>
            <a:off x="157534" y="2790989"/>
            <a:ext cx="11684001" cy="307777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Information Security Risk Management Framework:  ISO 27005:2022 QUANTITATIVE – ASSET-based with operational risk scenarios</a:t>
            </a:r>
            <a:endParaRPr lang="en-AE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8289A08-A2A8-D0A8-1123-A3C9EE8605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03564"/>
            <a:ext cx="12192000" cy="134162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D738779-2506-018C-A5AF-F41E8C567F6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838" y="1849384"/>
            <a:ext cx="4275992" cy="33175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5CDCF21-BCE0-F19E-9B0F-C4EA746CE395}"/>
              </a:ext>
            </a:extLst>
          </p:cNvPr>
          <p:cNvSpPr txBox="1"/>
          <p:nvPr/>
        </p:nvSpPr>
        <p:spPr>
          <a:xfrm>
            <a:off x="93736" y="3122910"/>
            <a:ext cx="11761215" cy="276999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Assessment of risk to: </a:t>
            </a:r>
            <a:endParaRPr lang="en-AE" sz="1200" b="1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38" name="Table 37">
            <a:extLst>
              <a:ext uri="{FF2B5EF4-FFF2-40B4-BE49-F238E27FC236}">
                <a16:creationId xmlns:a16="http://schemas.microsoft.com/office/drawing/2014/main" id="{457FF830-8208-A630-C71C-F41BD112575B}"/>
              </a:ext>
            </a:extLst>
          </p:cNvPr>
          <p:cNvGraphicFramePr>
            <a:graphicFrameLocks noGrp="1"/>
          </p:cNvGraphicFramePr>
          <p:nvPr/>
        </p:nvGraphicFramePr>
        <p:xfrm>
          <a:off x="159724" y="2168353"/>
          <a:ext cx="11684000" cy="5181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460500">
                  <a:extLst>
                    <a:ext uri="{9D8B030D-6E8A-4147-A177-3AD203B41FA5}">
                      <a16:colId xmlns:a16="http://schemas.microsoft.com/office/drawing/2014/main" val="2713550951"/>
                    </a:ext>
                  </a:extLst>
                </a:gridCol>
                <a:gridCol w="644660">
                  <a:extLst>
                    <a:ext uri="{9D8B030D-6E8A-4147-A177-3AD203B41FA5}">
                      <a16:colId xmlns:a16="http://schemas.microsoft.com/office/drawing/2014/main" val="2522429615"/>
                    </a:ext>
                  </a:extLst>
                </a:gridCol>
                <a:gridCol w="975360">
                  <a:extLst>
                    <a:ext uri="{9D8B030D-6E8A-4147-A177-3AD203B41FA5}">
                      <a16:colId xmlns:a16="http://schemas.microsoft.com/office/drawing/2014/main" val="2856555388"/>
                    </a:ext>
                  </a:extLst>
                </a:gridCol>
                <a:gridCol w="1018903">
                  <a:extLst>
                    <a:ext uri="{9D8B030D-6E8A-4147-A177-3AD203B41FA5}">
                      <a16:colId xmlns:a16="http://schemas.microsoft.com/office/drawing/2014/main" val="2399358289"/>
                    </a:ext>
                  </a:extLst>
                </a:gridCol>
                <a:gridCol w="957943">
                  <a:extLst>
                    <a:ext uri="{9D8B030D-6E8A-4147-A177-3AD203B41FA5}">
                      <a16:colId xmlns:a16="http://schemas.microsoft.com/office/drawing/2014/main" val="244556393"/>
                    </a:ext>
                  </a:extLst>
                </a:gridCol>
                <a:gridCol w="984068">
                  <a:extLst>
                    <a:ext uri="{9D8B030D-6E8A-4147-A177-3AD203B41FA5}">
                      <a16:colId xmlns:a16="http://schemas.microsoft.com/office/drawing/2014/main" val="720004741"/>
                    </a:ext>
                  </a:extLst>
                </a:gridCol>
                <a:gridCol w="1201783">
                  <a:extLst>
                    <a:ext uri="{9D8B030D-6E8A-4147-A177-3AD203B41FA5}">
                      <a16:colId xmlns:a16="http://schemas.microsoft.com/office/drawing/2014/main" val="4268014146"/>
                    </a:ext>
                  </a:extLst>
                </a:gridCol>
                <a:gridCol w="4440783">
                  <a:extLst>
                    <a:ext uri="{9D8B030D-6E8A-4147-A177-3AD203B41FA5}">
                      <a16:colId xmlns:a16="http://schemas.microsoft.com/office/drawing/2014/main" val="116687783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4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Service</a:t>
                      </a:r>
                      <a:endParaRPr lang="en-AE" sz="1400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S1</a:t>
                      </a:r>
                      <a:endParaRPr lang="en-AE" sz="1400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Asset Group</a:t>
                      </a:r>
                      <a:endParaRPr lang="en-AE" sz="1400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AE" sz="1400" b="1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Asset Category</a:t>
                      </a:r>
                      <a:endParaRPr lang="en-AE" sz="1400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PCI CHD</a:t>
                      </a:r>
                      <a:endParaRPr lang="en-AE" sz="1400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Asset Component</a:t>
                      </a:r>
                      <a:endParaRPr lang="en-AE" sz="1400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PCI CHD of Visa debit cards</a:t>
                      </a:r>
                      <a:endParaRPr lang="en-AE" sz="1400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6498387"/>
                  </a:ext>
                </a:extLst>
              </a:tr>
            </a:tbl>
          </a:graphicData>
        </a:graphic>
      </p:graphicFrame>
      <p:sp>
        <p:nvSpPr>
          <p:cNvPr id="36" name="Rectangle 35">
            <a:extLst>
              <a:ext uri="{FF2B5EF4-FFF2-40B4-BE49-F238E27FC236}">
                <a16:creationId xmlns:a16="http://schemas.microsoft.com/office/drawing/2014/main" id="{0DC0DF73-E10A-F1A3-BCF4-16E3D6C2DE9E}"/>
              </a:ext>
            </a:extLst>
          </p:cNvPr>
          <p:cNvSpPr/>
          <p:nvPr/>
        </p:nvSpPr>
        <p:spPr>
          <a:xfrm>
            <a:off x="3502835" y="6384853"/>
            <a:ext cx="1073889" cy="39340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Save</a:t>
            </a:r>
            <a:endParaRPr lang="en-AE" sz="1200" dirty="0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C9E2201B-99AB-7657-8FF3-019BC57A2810}"/>
              </a:ext>
            </a:extLst>
          </p:cNvPr>
          <p:cNvSpPr/>
          <p:nvPr/>
        </p:nvSpPr>
        <p:spPr>
          <a:xfrm>
            <a:off x="4690705" y="6384853"/>
            <a:ext cx="1073889" cy="39340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Next</a:t>
            </a:r>
            <a:endParaRPr lang="en-AE" sz="1200" dirty="0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F9D7224E-BD62-C19A-5266-66800AC9F424}"/>
              </a:ext>
            </a:extLst>
          </p:cNvPr>
          <p:cNvSpPr/>
          <p:nvPr/>
        </p:nvSpPr>
        <p:spPr>
          <a:xfrm>
            <a:off x="2328183" y="6384853"/>
            <a:ext cx="1073889" cy="39340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Back</a:t>
            </a:r>
            <a:endParaRPr lang="en-AE" sz="1200" dirty="0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371A6EE2-A422-D815-A8F2-30C6E4023234}"/>
              </a:ext>
            </a:extLst>
          </p:cNvPr>
          <p:cNvSpPr/>
          <p:nvPr/>
        </p:nvSpPr>
        <p:spPr>
          <a:xfrm>
            <a:off x="148841" y="6384853"/>
            <a:ext cx="2094629" cy="39340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Go to Services &amp; Assets Page</a:t>
            </a:r>
            <a:endParaRPr lang="en-AE" sz="12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23E849D-5A4C-664A-A160-C2F4AB6C810C}"/>
              </a:ext>
            </a:extLst>
          </p:cNvPr>
          <p:cNvSpPr txBox="1"/>
          <p:nvPr/>
        </p:nvSpPr>
        <p:spPr>
          <a:xfrm>
            <a:off x="148841" y="3529586"/>
            <a:ext cx="3665405" cy="276999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2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DATA CONFIDENTIALITY</a:t>
            </a:r>
            <a:endParaRPr lang="en-AE" sz="1200" b="1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A383705-D76A-2B49-BDB5-E198F791BE8C}"/>
              </a:ext>
            </a:extLst>
          </p:cNvPr>
          <p:cNvSpPr txBox="1"/>
          <p:nvPr/>
        </p:nvSpPr>
        <p:spPr>
          <a:xfrm>
            <a:off x="3862861" y="3529586"/>
            <a:ext cx="3665405" cy="276999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2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DATA INTEGRITY</a:t>
            </a:r>
            <a:endParaRPr lang="en-AE" sz="1200" b="1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D6657EC-A61A-451E-730A-691380018729}"/>
              </a:ext>
            </a:extLst>
          </p:cNvPr>
          <p:cNvSpPr txBox="1"/>
          <p:nvPr/>
        </p:nvSpPr>
        <p:spPr>
          <a:xfrm>
            <a:off x="7595200" y="3533130"/>
            <a:ext cx="3598472" cy="276999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2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DATA AVAILABILITY</a:t>
            </a:r>
            <a:endParaRPr lang="en-AE" sz="1200" b="1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74E45CB-E4FA-9094-A5CE-C6F05DA92C35}"/>
              </a:ext>
            </a:extLst>
          </p:cNvPr>
          <p:cNvSpPr/>
          <p:nvPr/>
        </p:nvSpPr>
        <p:spPr>
          <a:xfrm>
            <a:off x="5885356" y="6500087"/>
            <a:ext cx="5025659" cy="27817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View Risk Assessment of all asset components</a:t>
            </a:r>
            <a:endParaRPr lang="en-AE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F71B5E7-8E44-DB92-7AD2-E59AB478036E}"/>
              </a:ext>
            </a:extLst>
          </p:cNvPr>
          <p:cNvSpPr txBox="1"/>
          <p:nvPr/>
        </p:nvSpPr>
        <p:spPr>
          <a:xfrm>
            <a:off x="8087033" y="6153542"/>
            <a:ext cx="820679" cy="369332"/>
          </a:xfrm>
          <a:prstGeom prst="rect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p. 14</a:t>
            </a:r>
            <a:endParaRPr lang="en-AE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F711E71-5E62-0908-2E84-0749B38F677B}"/>
              </a:ext>
            </a:extLst>
          </p:cNvPr>
          <p:cNvSpPr/>
          <p:nvPr/>
        </p:nvSpPr>
        <p:spPr>
          <a:xfrm>
            <a:off x="5885356" y="5677023"/>
            <a:ext cx="5025659" cy="27817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View Risk Assessment of all services</a:t>
            </a:r>
            <a:endParaRPr lang="en-AE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E3A0B1C-CA48-0C33-996A-D29485B10B9F}"/>
              </a:ext>
            </a:extLst>
          </p:cNvPr>
          <p:cNvSpPr txBox="1"/>
          <p:nvPr/>
        </p:nvSpPr>
        <p:spPr>
          <a:xfrm>
            <a:off x="8087033" y="5330478"/>
            <a:ext cx="820679" cy="369332"/>
          </a:xfrm>
          <a:prstGeom prst="rect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p. 15</a:t>
            </a:r>
            <a:endParaRPr lang="en-AE" dirty="0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8B480427-0CA6-083A-812F-D42A2A7B929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8841" y="3852176"/>
            <a:ext cx="3972295" cy="1308081"/>
          </a:xfrm>
          <a:prstGeom prst="rect">
            <a:avLst/>
          </a:prstGeom>
        </p:spPr>
      </p:pic>
      <p:sp>
        <p:nvSpPr>
          <p:cNvPr id="15" name="Oval 14">
            <a:extLst>
              <a:ext uri="{FF2B5EF4-FFF2-40B4-BE49-F238E27FC236}">
                <a16:creationId xmlns:a16="http://schemas.microsoft.com/office/drawing/2014/main" id="{6FAF7241-1860-B9D0-1C9B-32B7255EE8A6}"/>
              </a:ext>
            </a:extLst>
          </p:cNvPr>
          <p:cNvSpPr/>
          <p:nvPr/>
        </p:nvSpPr>
        <p:spPr>
          <a:xfrm>
            <a:off x="1699953" y="4226227"/>
            <a:ext cx="507151" cy="209296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AE">
              <a:solidFill>
                <a:srgbClr val="C00000"/>
              </a:solidFill>
            </a:endParaRPr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7F881B3C-A90D-1AA6-AC22-FB0FEB46306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71060" y="3852176"/>
            <a:ext cx="3972295" cy="1308081"/>
          </a:xfrm>
          <a:prstGeom prst="rect">
            <a:avLst/>
          </a:prstGeom>
        </p:spPr>
      </p:pic>
      <p:sp>
        <p:nvSpPr>
          <p:cNvPr id="14" name="Oval 13">
            <a:extLst>
              <a:ext uri="{FF2B5EF4-FFF2-40B4-BE49-F238E27FC236}">
                <a16:creationId xmlns:a16="http://schemas.microsoft.com/office/drawing/2014/main" id="{5B62E6B7-63A9-134D-FBE3-CFCA14A37415}"/>
              </a:ext>
            </a:extLst>
          </p:cNvPr>
          <p:cNvSpPr/>
          <p:nvPr/>
        </p:nvSpPr>
        <p:spPr>
          <a:xfrm>
            <a:off x="6874199" y="4683085"/>
            <a:ext cx="507151" cy="209296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AE">
              <a:solidFill>
                <a:srgbClr val="FFC000"/>
              </a:solidFill>
            </a:endParaRP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B045336F-BF03-4FF9-765B-3A07DA0F802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93279" y="3852176"/>
            <a:ext cx="3972295" cy="1308081"/>
          </a:xfrm>
          <a:prstGeom prst="rect">
            <a:avLst/>
          </a:prstGeom>
        </p:spPr>
      </p:pic>
      <p:sp>
        <p:nvSpPr>
          <p:cNvPr id="13" name="Oval 12">
            <a:extLst>
              <a:ext uri="{FF2B5EF4-FFF2-40B4-BE49-F238E27FC236}">
                <a16:creationId xmlns:a16="http://schemas.microsoft.com/office/drawing/2014/main" id="{CF589E98-75F4-CD90-6A17-71A4F26272E9}"/>
              </a:ext>
            </a:extLst>
          </p:cNvPr>
          <p:cNvSpPr/>
          <p:nvPr/>
        </p:nvSpPr>
        <p:spPr>
          <a:xfrm>
            <a:off x="8907712" y="4238031"/>
            <a:ext cx="507151" cy="209296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AE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2165722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73B610-3DAC-C28E-48E6-490D647268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E407CA3-64A9-4D5D-40B9-FE3EBBB086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704790"/>
            <a:ext cx="12192000" cy="3162909"/>
          </a:xfrm>
          <a:prstGeom prst="rect">
            <a:avLst/>
          </a:prstGeom>
        </p:spPr>
      </p:pic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32907829-9156-7162-863D-111B673179A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68875955"/>
              </p:ext>
            </p:extLst>
          </p:nvPr>
        </p:nvGraphicFramePr>
        <p:xfrm>
          <a:off x="2801553" y="2711605"/>
          <a:ext cx="2112318" cy="37084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112318">
                  <a:extLst>
                    <a:ext uri="{9D8B030D-6E8A-4147-A177-3AD203B41FA5}">
                      <a16:colId xmlns:a16="http://schemas.microsoft.com/office/drawing/2014/main" val="244749268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PII</a:t>
                      </a:r>
                      <a:endParaRPr lang="en-A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6739301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PCI Account Data</a:t>
                      </a:r>
                      <a:endParaRPr lang="en-A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0868956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PCI CHD</a:t>
                      </a:r>
                      <a:endParaRPr lang="en-A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5181304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PCI SAD</a:t>
                      </a:r>
                      <a:endParaRPr lang="en-A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927226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Other data</a:t>
                      </a:r>
                      <a:endParaRPr lang="en-A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393629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Technology</a:t>
                      </a:r>
                      <a:endParaRPr lang="en-A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263084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Organization</a:t>
                      </a:r>
                      <a:endParaRPr lang="en-A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856504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People</a:t>
                      </a:r>
                      <a:endParaRPr lang="en-A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945467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Physical</a:t>
                      </a:r>
                      <a:endParaRPr lang="en-A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4003897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Service Provider</a:t>
                      </a:r>
                      <a:endParaRPr lang="en-A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5800577"/>
                  </a:ext>
                </a:extLst>
              </a:tr>
            </a:tbl>
          </a:graphicData>
        </a:graphic>
      </p:graphicFrame>
      <p:sp>
        <p:nvSpPr>
          <p:cNvPr id="15" name="Isosceles Triangle 14">
            <a:extLst>
              <a:ext uri="{FF2B5EF4-FFF2-40B4-BE49-F238E27FC236}">
                <a16:creationId xmlns:a16="http://schemas.microsoft.com/office/drawing/2014/main" id="{05185360-81AC-F286-3916-A6281B289ABB}"/>
              </a:ext>
            </a:extLst>
          </p:cNvPr>
          <p:cNvSpPr/>
          <p:nvPr/>
        </p:nvSpPr>
        <p:spPr>
          <a:xfrm rot="10800000">
            <a:off x="4586752" y="2745073"/>
            <a:ext cx="321275" cy="369332"/>
          </a:xfrm>
          <a:prstGeom prst="triangl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E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03635F2-6D30-D722-3FFA-8D9FBBCE60F6}"/>
              </a:ext>
            </a:extLst>
          </p:cNvPr>
          <p:cNvSpPr/>
          <p:nvPr/>
        </p:nvSpPr>
        <p:spPr>
          <a:xfrm>
            <a:off x="6772941" y="595423"/>
            <a:ext cx="5419060" cy="626257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E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75C002EB-F122-F50A-4927-2FB17A8EE40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55440277"/>
              </p:ext>
            </p:extLst>
          </p:nvPr>
        </p:nvGraphicFramePr>
        <p:xfrm>
          <a:off x="6763536" y="2237725"/>
          <a:ext cx="4896882" cy="255181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32294">
                  <a:extLst>
                    <a:ext uri="{9D8B030D-6E8A-4147-A177-3AD203B41FA5}">
                      <a16:colId xmlns:a16="http://schemas.microsoft.com/office/drawing/2014/main" val="990712142"/>
                    </a:ext>
                  </a:extLst>
                </a:gridCol>
                <a:gridCol w="1632294">
                  <a:extLst>
                    <a:ext uri="{9D8B030D-6E8A-4147-A177-3AD203B41FA5}">
                      <a16:colId xmlns:a16="http://schemas.microsoft.com/office/drawing/2014/main" val="118259067"/>
                    </a:ext>
                  </a:extLst>
                </a:gridCol>
                <a:gridCol w="1632294">
                  <a:extLst>
                    <a:ext uri="{9D8B030D-6E8A-4147-A177-3AD203B41FA5}">
                      <a16:colId xmlns:a16="http://schemas.microsoft.com/office/drawing/2014/main" val="1402044931"/>
                    </a:ext>
                  </a:extLst>
                </a:gridCol>
              </a:tblGrid>
              <a:tr h="425303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Data Confidentiality</a:t>
                      </a:r>
                      <a:endParaRPr lang="en-AE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Data Integrity</a:t>
                      </a:r>
                      <a:endParaRPr lang="en-AE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Data Availability</a:t>
                      </a:r>
                      <a:endParaRPr lang="en-AE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18013612"/>
                  </a:ext>
                </a:extLst>
              </a:tr>
              <a:tr h="425303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24</a:t>
                      </a:r>
                      <a:endParaRPr lang="en-A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15</a:t>
                      </a:r>
                      <a:endParaRPr lang="en-A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12</a:t>
                      </a:r>
                      <a:endParaRPr lang="en-A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28016015"/>
                  </a:ext>
                </a:extLst>
              </a:tr>
              <a:tr h="425303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20</a:t>
                      </a:r>
                      <a:endParaRPr kumimoji="0" lang="en-AE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20</a:t>
                      </a:r>
                      <a:endParaRPr kumimoji="0" lang="en-AE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20</a:t>
                      </a:r>
                      <a:endParaRPr kumimoji="0" lang="en-AE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384995"/>
                  </a:ext>
                </a:extLst>
              </a:tr>
              <a:tr h="425303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36</a:t>
                      </a:r>
                      <a:endParaRPr kumimoji="0" lang="en-AE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36</a:t>
                      </a:r>
                      <a:endParaRPr kumimoji="0" lang="en-AE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8</a:t>
                      </a:r>
                      <a:endParaRPr kumimoji="0" lang="en-AE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70756965"/>
                  </a:ext>
                </a:extLst>
              </a:tr>
              <a:tr h="425303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5</a:t>
                      </a:r>
                      <a:endParaRPr kumimoji="0" lang="en-AE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5</a:t>
                      </a:r>
                      <a:endParaRPr kumimoji="0" lang="en-AE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5</a:t>
                      </a:r>
                      <a:endParaRPr kumimoji="0" lang="en-AE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01179924"/>
                  </a:ext>
                </a:extLst>
              </a:tr>
              <a:tr h="425303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18</a:t>
                      </a:r>
                      <a:endParaRPr lang="en-A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18</a:t>
                      </a:r>
                      <a:endParaRPr lang="en-A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18</a:t>
                      </a:r>
                      <a:endParaRPr lang="en-A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34291723"/>
                  </a:ext>
                </a:extLst>
              </a:tr>
            </a:tbl>
          </a:graphicData>
        </a:graphic>
      </p:graphicFrame>
      <p:sp>
        <p:nvSpPr>
          <p:cNvPr id="8" name="Rectangle 7">
            <a:extLst>
              <a:ext uri="{FF2B5EF4-FFF2-40B4-BE49-F238E27FC236}">
                <a16:creationId xmlns:a16="http://schemas.microsoft.com/office/drawing/2014/main" id="{1FD35797-9DBF-DBD2-9E0A-0F507FE3182C}"/>
              </a:ext>
            </a:extLst>
          </p:cNvPr>
          <p:cNvSpPr/>
          <p:nvPr/>
        </p:nvSpPr>
        <p:spPr>
          <a:xfrm>
            <a:off x="6763536" y="1791157"/>
            <a:ext cx="4896882" cy="36841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Information Security Risk Assessment</a:t>
            </a:r>
            <a:endParaRPr lang="en-AE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6E10167-0CF6-3CB1-C3F6-121A44F82E02}"/>
              </a:ext>
            </a:extLst>
          </p:cNvPr>
          <p:cNvSpPr/>
          <p:nvPr/>
        </p:nvSpPr>
        <p:spPr>
          <a:xfrm>
            <a:off x="2328183" y="6384853"/>
            <a:ext cx="1073889" cy="39340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Back</a:t>
            </a:r>
            <a:endParaRPr lang="en-AE" sz="1200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8E8B67C7-E94B-8B00-D748-D0B5BE4CE98A}"/>
              </a:ext>
            </a:extLst>
          </p:cNvPr>
          <p:cNvSpPr/>
          <p:nvPr/>
        </p:nvSpPr>
        <p:spPr>
          <a:xfrm>
            <a:off x="148841" y="6384853"/>
            <a:ext cx="2094629" cy="39340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Go to Services &amp; Assets Page</a:t>
            </a:r>
            <a:endParaRPr lang="en-AE" sz="1200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4E8613E-3ADA-139C-F183-B582FDA6331C}"/>
              </a:ext>
            </a:extLst>
          </p:cNvPr>
          <p:cNvSpPr/>
          <p:nvPr/>
        </p:nvSpPr>
        <p:spPr>
          <a:xfrm>
            <a:off x="5885356" y="6393718"/>
            <a:ext cx="5025659" cy="27817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View Risk Assessment of all services</a:t>
            </a:r>
            <a:endParaRPr lang="en-AE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3DA8FF2-1D3B-FE65-725E-D08E0FE419CC}"/>
              </a:ext>
            </a:extLst>
          </p:cNvPr>
          <p:cNvSpPr txBox="1"/>
          <p:nvPr/>
        </p:nvSpPr>
        <p:spPr>
          <a:xfrm>
            <a:off x="8087033" y="6047173"/>
            <a:ext cx="820679" cy="369332"/>
          </a:xfrm>
          <a:prstGeom prst="rect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p. 15</a:t>
            </a:r>
            <a:endParaRPr lang="en-AE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50D5A98-194B-4BFD-A24E-AC2932881990}"/>
              </a:ext>
            </a:extLst>
          </p:cNvPr>
          <p:cNvSpPr txBox="1"/>
          <p:nvPr/>
        </p:nvSpPr>
        <p:spPr>
          <a:xfrm>
            <a:off x="148841" y="1377629"/>
            <a:ext cx="11948325" cy="307777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Information Security Risk Management Framework:  ISO 27005:2022 QUANTITATIVE – ASSET-based with operational risk scenarios</a:t>
            </a:r>
            <a:endParaRPr lang="en-AE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46130DEB-4BAC-AA49-2265-0FC27C02CEF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914"/>
            <a:ext cx="12192000" cy="13416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66191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D1D044-1102-2B2C-A7DC-716DF8C9E0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Box 15">
            <a:extLst>
              <a:ext uri="{FF2B5EF4-FFF2-40B4-BE49-F238E27FC236}">
                <a16:creationId xmlns:a16="http://schemas.microsoft.com/office/drawing/2014/main" id="{05C6CCEB-EED0-04B1-F840-CB8E4C784161}"/>
              </a:ext>
            </a:extLst>
          </p:cNvPr>
          <p:cNvSpPr txBox="1"/>
          <p:nvPr/>
        </p:nvSpPr>
        <p:spPr>
          <a:xfrm>
            <a:off x="148841" y="1683382"/>
            <a:ext cx="11948325" cy="307777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Information Security Risk Management Framework:  ISO 27005:2022 QUANTITATIVE – ASSET-based with operational risk scenarios</a:t>
            </a:r>
            <a:endParaRPr lang="en-AE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3540222-B5B0-722D-0829-8BE8425B2FB5}"/>
              </a:ext>
            </a:extLst>
          </p:cNvPr>
          <p:cNvSpPr/>
          <p:nvPr/>
        </p:nvSpPr>
        <p:spPr>
          <a:xfrm>
            <a:off x="2328183" y="6384853"/>
            <a:ext cx="1073889" cy="39340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Back</a:t>
            </a:r>
            <a:endParaRPr lang="en-AE" sz="1200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B7638D68-A2AE-6A53-882C-EA4F97B41416}"/>
              </a:ext>
            </a:extLst>
          </p:cNvPr>
          <p:cNvSpPr/>
          <p:nvPr/>
        </p:nvSpPr>
        <p:spPr>
          <a:xfrm>
            <a:off x="148841" y="6384853"/>
            <a:ext cx="2094629" cy="39340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Go to Services &amp; Assets Page</a:t>
            </a:r>
            <a:endParaRPr lang="en-AE" sz="1200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4A62A9E-4F95-FC26-B034-B11BF4B2D063}"/>
              </a:ext>
            </a:extLst>
          </p:cNvPr>
          <p:cNvSpPr/>
          <p:nvPr/>
        </p:nvSpPr>
        <p:spPr>
          <a:xfrm>
            <a:off x="5885356" y="6500087"/>
            <a:ext cx="5025659" cy="27817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View Risk Assessment of all asset components</a:t>
            </a:r>
            <a:endParaRPr lang="en-AE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EBCFB06-FBED-7A22-A6BA-50FF57C94B3C}"/>
              </a:ext>
            </a:extLst>
          </p:cNvPr>
          <p:cNvSpPr txBox="1"/>
          <p:nvPr/>
        </p:nvSpPr>
        <p:spPr>
          <a:xfrm>
            <a:off x="8087033" y="6153542"/>
            <a:ext cx="820679" cy="369332"/>
          </a:xfrm>
          <a:prstGeom prst="rect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p. 14</a:t>
            </a:r>
            <a:endParaRPr lang="en-AE" dirty="0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43CB33EA-4422-61E9-BD4A-8B5633F9FA4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18991768"/>
              </p:ext>
            </p:extLst>
          </p:nvPr>
        </p:nvGraphicFramePr>
        <p:xfrm>
          <a:off x="418465" y="2246543"/>
          <a:ext cx="11048604" cy="22250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578372">
                  <a:extLst>
                    <a:ext uri="{9D8B030D-6E8A-4147-A177-3AD203B41FA5}">
                      <a16:colId xmlns:a16="http://schemas.microsoft.com/office/drawing/2014/main" val="1194570649"/>
                    </a:ext>
                  </a:extLst>
                </a:gridCol>
                <a:gridCol w="1578372">
                  <a:extLst>
                    <a:ext uri="{9D8B030D-6E8A-4147-A177-3AD203B41FA5}">
                      <a16:colId xmlns:a16="http://schemas.microsoft.com/office/drawing/2014/main" val="3687979241"/>
                    </a:ext>
                  </a:extLst>
                </a:gridCol>
                <a:gridCol w="1578372">
                  <a:extLst>
                    <a:ext uri="{9D8B030D-6E8A-4147-A177-3AD203B41FA5}">
                      <a16:colId xmlns:a16="http://schemas.microsoft.com/office/drawing/2014/main" val="1461133717"/>
                    </a:ext>
                  </a:extLst>
                </a:gridCol>
                <a:gridCol w="1578372">
                  <a:extLst>
                    <a:ext uri="{9D8B030D-6E8A-4147-A177-3AD203B41FA5}">
                      <a16:colId xmlns:a16="http://schemas.microsoft.com/office/drawing/2014/main" val="106532289"/>
                    </a:ext>
                  </a:extLst>
                </a:gridCol>
                <a:gridCol w="1578372">
                  <a:extLst>
                    <a:ext uri="{9D8B030D-6E8A-4147-A177-3AD203B41FA5}">
                      <a16:colId xmlns:a16="http://schemas.microsoft.com/office/drawing/2014/main" val="10049118"/>
                    </a:ext>
                  </a:extLst>
                </a:gridCol>
                <a:gridCol w="1578372">
                  <a:extLst>
                    <a:ext uri="{9D8B030D-6E8A-4147-A177-3AD203B41FA5}">
                      <a16:colId xmlns:a16="http://schemas.microsoft.com/office/drawing/2014/main" val="1782952030"/>
                    </a:ext>
                  </a:extLst>
                </a:gridCol>
                <a:gridCol w="1578372">
                  <a:extLst>
                    <a:ext uri="{9D8B030D-6E8A-4147-A177-3AD203B41FA5}">
                      <a16:colId xmlns:a16="http://schemas.microsoft.com/office/drawing/2014/main" val="31875411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AE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 gridSpan="6"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Information Security Risk Assessment</a:t>
                      </a:r>
                      <a:endParaRPr lang="en-AE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AE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AE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AE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AE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AE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161743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AE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Data Confidentiality</a:t>
                      </a:r>
                      <a:endParaRPr lang="en-AE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AE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Data Integrity</a:t>
                      </a:r>
                      <a:endParaRPr lang="en-AE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AE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Data Availability</a:t>
                      </a:r>
                      <a:endParaRPr lang="en-AE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A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023945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AE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Max</a:t>
                      </a:r>
                      <a:endParaRPr lang="en-AE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Min</a:t>
                      </a:r>
                      <a:endParaRPr lang="en-AE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Max</a:t>
                      </a:r>
                      <a:endParaRPr lang="en-AE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Min</a:t>
                      </a:r>
                      <a:endParaRPr lang="en-AE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Max</a:t>
                      </a:r>
                      <a:endParaRPr lang="en-AE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Min</a:t>
                      </a:r>
                      <a:endParaRPr lang="en-AE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898488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Service 1</a:t>
                      </a:r>
                      <a:endParaRPr lang="en-AE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E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E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E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E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E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E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2516803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Service 2</a:t>
                      </a:r>
                      <a:endParaRPr lang="en-AE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E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E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E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E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E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E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036941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Service 3</a:t>
                      </a:r>
                      <a:endParaRPr lang="en-AE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E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E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E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E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E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E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67232796"/>
                  </a:ext>
                </a:extLst>
              </a:tr>
            </a:tbl>
          </a:graphicData>
        </a:graphic>
      </p:graphicFrame>
      <p:pic>
        <p:nvPicPr>
          <p:cNvPr id="9" name="Picture 8">
            <a:extLst>
              <a:ext uri="{FF2B5EF4-FFF2-40B4-BE49-F238E27FC236}">
                <a16:creationId xmlns:a16="http://schemas.microsoft.com/office/drawing/2014/main" id="{FA386E37-6675-2F0A-5762-954521EB30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914"/>
            <a:ext cx="12192000" cy="13416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684697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1257</TotalTime>
  <Words>1714</Words>
  <Application>Microsoft Office PowerPoint</Application>
  <PresentationFormat>Widescreen</PresentationFormat>
  <Paragraphs>513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Kamran Kamran</dc:creator>
  <cp:lastModifiedBy>Kamran Kamran</cp:lastModifiedBy>
  <cp:revision>51</cp:revision>
  <dcterms:created xsi:type="dcterms:W3CDTF">2025-03-18T22:32:48Z</dcterms:created>
  <dcterms:modified xsi:type="dcterms:W3CDTF">2025-03-20T21:34:09Z</dcterms:modified>
</cp:coreProperties>
</file>