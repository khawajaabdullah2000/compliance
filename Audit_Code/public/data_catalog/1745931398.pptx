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7" r:id="rId3"/>
    <p:sldId id="268" r:id="rId4"/>
    <p:sldId id="269" r:id="rId5"/>
    <p:sldId id="270" r:id="rId6"/>
    <p:sldId id="257" r:id="rId7"/>
    <p:sldId id="258" r:id="rId8"/>
    <p:sldId id="259" r:id="rId9"/>
    <p:sldId id="260" r:id="rId10"/>
    <p:sldId id="262" r:id="rId11"/>
    <p:sldId id="263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72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CB221-EBBD-8F38-2B12-AFBED5BF9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7407F-B079-4563-6521-035834F77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32699-EDA1-648D-B4DE-8F8FF5011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5D7F-F80E-476F-BC41-18C597E3B70C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B7B2B-68A3-6B46-1F3C-D6BE5A965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3767E-8DCA-1ECE-A2EA-8F5CBD24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BB020-7555-4135-B994-3DEC4392E4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9685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5A8FF-75C6-CC3B-91CC-00874012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8AC89-EF47-66C7-9826-CD2B33EDF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28930-A43D-ABBE-30B7-4409A8617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5D7F-F80E-476F-BC41-18C597E3B70C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2A632-82F2-0A43-F749-7AF56355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E18DE-2BF8-401F-B18A-96007AB4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BB020-7555-4135-B994-3DEC4392E4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32954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A3F84-EC90-249E-408A-865A41E5F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D91AE-37DD-18F2-B03A-C99B3A633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41A23-6ABF-2E32-CA96-DE70B4AF1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5D7F-F80E-476F-BC41-18C597E3B70C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24493-F718-CF5E-03FC-F21496A1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D7AE8-88C3-158E-010D-AC3D5881C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BB020-7555-4135-B994-3DEC4392E4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3836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70F5-AB7E-3291-0E80-00020FCD8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93E21-85C5-AF8B-5E2A-55D031B9B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9A5E4-5235-CD63-1D42-EE7095BFF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A88A5-3610-015A-A291-DD221A350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5D7F-F80E-476F-BC41-18C597E3B70C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9108E-18CA-69FC-38AD-1AF67A195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34337-F969-16F9-ED38-D24A6589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BB020-7555-4135-B994-3DEC4392E4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66211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7295C-F98F-2CBB-2D6E-974F6A87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62266-023D-8B2D-8CA5-DAA3E68B9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4B7F70-4166-53B6-5770-1C599B07B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05388-795A-50A9-BC4F-4C3B2C30F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1B874F-2926-DD92-800B-A6CF804E1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1EED38-4F5B-EA0D-2A59-F404C43FB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5D7F-F80E-476F-BC41-18C597E3B70C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0AD403-CFF8-E6DA-45DD-C6B136B3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1DAB0C-622C-4D1E-C61D-9BFE7D7CD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BB020-7555-4135-B994-3DEC4392E4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75197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DBBD-BB44-3CC1-9231-693CC0613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6EB9B0-EA9B-9DC1-27DD-0B54A1B6B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5D7F-F80E-476F-BC41-18C597E3B70C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1039F-1F19-266D-F364-620490A14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07562-1A94-50A3-1F59-AE99CF5E3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BB020-7555-4135-B994-3DEC4392E4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7637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7AF650-3A68-FCF7-7063-31F94702F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5D7F-F80E-476F-BC41-18C597E3B70C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251820-D7D2-CCA2-2BBA-B31EA513F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FAE7F-E92A-FD30-9D98-FF34FECA9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BB020-7555-4135-B994-3DEC4392E4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0638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98AB-23E2-ED56-BE38-C7494DC79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7EE5B-9BAF-9E16-C610-6082AD5C4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E6629-34CD-E6CB-1A20-EB87362FB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7117D-9051-753F-433A-7A6D9E067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5D7F-F80E-476F-BC41-18C597E3B70C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94C62-6FAA-C03B-A07F-DE7A40F9B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7C77C-7D15-08F0-6470-ECEFA62CD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BB020-7555-4135-B994-3DEC4392E4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0225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0DB2-931B-6AC3-1F53-44A569941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090069-552C-C913-A194-2BE31A8FB3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DE5C0-9E21-08A2-9233-714B5CBDC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C3375-BE78-435A-FE05-942AE9389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5D7F-F80E-476F-BC41-18C597E3B70C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8607A-2905-173D-F4C5-A511A3BC3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FB8B8-F9CF-BD5B-8FB1-2C5CD743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BB020-7555-4135-B994-3DEC4392E4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5233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9D451-647F-3C3F-A06D-16B46BCAA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0D891-2A4D-2019-88E3-25A8B26C6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A4F55-C97A-DCF3-E868-DD20CBAA6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5D7F-F80E-476F-BC41-18C597E3B70C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92AF-28C9-D0C5-7D51-252449C19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B93B7-E4B8-65B8-D10F-D7C0BA314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BB020-7555-4135-B994-3DEC4392E4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67111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A391F5-D927-7CF0-9FE4-2C2E97ACF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ECDA8-F027-4BD6-AC7D-D69FB7E37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56F17-4938-A205-4DAB-EB717D308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5D7F-F80E-476F-BC41-18C597E3B70C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C261D-FB7B-6FD9-3063-D31D56125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1DCAF-43D0-8797-DFFF-DCF743580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BB020-7555-4135-B994-3DEC4392E4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62316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1983BA-E235-9967-4A14-B820DD00A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1B34D-1EC8-E97C-FCE4-91D3B4900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F2B47-2B5D-E90B-45F6-F96843CB0E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B5D7F-F80E-476F-BC41-18C597E3B70C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12467-8040-89C7-2984-0AFADEE5D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23D9B-3E48-2AD8-7270-A2C9DE7A2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BB020-7555-4135-B994-3DEC4392E4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20871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95826-1368-BE7D-D79B-10F47496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12307E-9F80-DB1E-3D53-0B000129D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7" y="0"/>
            <a:ext cx="1202298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016A2A-54DF-7A17-D1D9-1795B7BEBA6C}"/>
              </a:ext>
            </a:extLst>
          </p:cNvPr>
          <p:cNvSpPr txBox="1"/>
          <p:nvPr/>
        </p:nvSpPr>
        <p:spPr>
          <a:xfrm>
            <a:off x="2248930" y="6092566"/>
            <a:ext cx="4275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+DAMA DMBOK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CD5190-6793-D2A1-F001-0E2C6F9D2F5F}"/>
              </a:ext>
            </a:extLst>
          </p:cNvPr>
          <p:cNvSpPr txBox="1"/>
          <p:nvPr/>
        </p:nvSpPr>
        <p:spPr>
          <a:xfrm>
            <a:off x="2248930" y="6424827"/>
            <a:ext cx="2051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+Audit Standard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904C89-3D4E-3324-9771-397B380146B4}"/>
              </a:ext>
            </a:extLst>
          </p:cNvPr>
          <p:cNvSpPr txBox="1"/>
          <p:nvPr/>
        </p:nvSpPr>
        <p:spPr>
          <a:xfrm>
            <a:off x="1204783" y="0"/>
            <a:ext cx="7234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logged in as Shahmeer</a:t>
            </a:r>
            <a:endParaRPr lang="en-AE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889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D6C25-88BC-300D-64E8-F31A92CBC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CC546AC-E5D6-B3F1-84E7-EB10B316965E}"/>
              </a:ext>
            </a:extLst>
          </p:cNvPr>
          <p:cNvSpPr txBox="1"/>
          <p:nvPr/>
        </p:nvSpPr>
        <p:spPr>
          <a:xfrm>
            <a:off x="1204783" y="0"/>
            <a:ext cx="9595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logged in as organization end user</a:t>
            </a:r>
            <a:endParaRPr lang="en-AE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45D07A-4DD4-2C04-6A59-F048D5CB1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11" y="620915"/>
            <a:ext cx="10164594" cy="437258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44721C-C374-862C-FAF6-9345204BF2A2}"/>
              </a:ext>
            </a:extLst>
          </p:cNvPr>
          <p:cNvCxnSpPr/>
          <p:nvPr/>
        </p:nvCxnSpPr>
        <p:spPr>
          <a:xfrm>
            <a:off x="9798908" y="3429000"/>
            <a:ext cx="7908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F3A55EB-04C3-9A93-B4A5-EEEC12E52510}"/>
              </a:ext>
            </a:extLst>
          </p:cNvPr>
          <p:cNvSpPr txBox="1"/>
          <p:nvPr/>
        </p:nvSpPr>
        <p:spPr>
          <a:xfrm>
            <a:off x="10589741" y="3244334"/>
            <a:ext cx="83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5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955617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631DA-0798-9DE1-CE0C-E05C9D4E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33B915-3C6F-23A6-D187-F6D21F8A0B0D}"/>
              </a:ext>
            </a:extLst>
          </p:cNvPr>
          <p:cNvSpPr txBox="1"/>
          <p:nvPr/>
        </p:nvSpPr>
        <p:spPr>
          <a:xfrm>
            <a:off x="1204783" y="0"/>
            <a:ext cx="9595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logged in as organization end user</a:t>
            </a:r>
            <a:endParaRPr lang="en-AE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6D0F17-F407-4DD7-F785-DCB4ABC5A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915" y="1695208"/>
            <a:ext cx="8202170" cy="3467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305BF5-9047-A09D-42EC-AB976896A5DC}"/>
              </a:ext>
            </a:extLst>
          </p:cNvPr>
          <p:cNvSpPr txBox="1"/>
          <p:nvPr/>
        </p:nvSpPr>
        <p:spPr>
          <a:xfrm>
            <a:off x="7111301" y="3731740"/>
            <a:ext cx="4275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+DAMA DMBOK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F64FF-3902-E76F-6A6B-4885A2D1E03B}"/>
              </a:ext>
            </a:extLst>
          </p:cNvPr>
          <p:cNvSpPr txBox="1"/>
          <p:nvPr/>
        </p:nvSpPr>
        <p:spPr>
          <a:xfrm>
            <a:off x="7111301" y="4054656"/>
            <a:ext cx="2051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+Audit Standard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47761A-BD66-B9C7-9E51-8DC4A4AC96BE}"/>
              </a:ext>
            </a:extLst>
          </p:cNvPr>
          <p:cNvSpPr txBox="1"/>
          <p:nvPr/>
        </p:nvSpPr>
        <p:spPr>
          <a:xfrm>
            <a:off x="3358966" y="3315852"/>
            <a:ext cx="2856483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Governance 2025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4972482-351F-F80F-9FBE-B1E743A6F5F1}"/>
              </a:ext>
            </a:extLst>
          </p:cNvPr>
          <p:cNvCxnSpPr>
            <a:cxnSpLocks/>
          </p:cNvCxnSpPr>
          <p:nvPr/>
        </p:nvCxnSpPr>
        <p:spPr>
          <a:xfrm flipH="1">
            <a:off x="9024866" y="3910914"/>
            <a:ext cx="6875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09A863-C502-CD94-9CC8-F733608B11BB}"/>
              </a:ext>
            </a:extLst>
          </p:cNvPr>
          <p:cNvCxnSpPr>
            <a:cxnSpLocks/>
          </p:cNvCxnSpPr>
          <p:nvPr/>
        </p:nvCxnSpPr>
        <p:spPr>
          <a:xfrm>
            <a:off x="6320468" y="4207476"/>
            <a:ext cx="0" cy="549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1D24961-3C9A-5FE2-5AF1-7288E47198D6}"/>
              </a:ext>
            </a:extLst>
          </p:cNvPr>
          <p:cNvSpPr txBox="1"/>
          <p:nvPr/>
        </p:nvSpPr>
        <p:spPr>
          <a:xfrm>
            <a:off x="5902629" y="4757351"/>
            <a:ext cx="83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6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4164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C71DE-9656-7E90-7163-10742C8D4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3581AA-113C-E50A-9537-FE8F90EACFF6}"/>
              </a:ext>
            </a:extLst>
          </p:cNvPr>
          <p:cNvSpPr txBox="1"/>
          <p:nvPr/>
        </p:nvSpPr>
        <p:spPr>
          <a:xfrm>
            <a:off x="1204783" y="0"/>
            <a:ext cx="9595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logged in as organization end user</a:t>
            </a:r>
            <a:endParaRPr lang="en-AE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E3DB9E-9855-20A7-4DE2-DFF4C4572E6C}"/>
              </a:ext>
            </a:extLst>
          </p:cNvPr>
          <p:cNvSpPr txBox="1"/>
          <p:nvPr/>
        </p:nvSpPr>
        <p:spPr>
          <a:xfrm>
            <a:off x="7111301" y="3731740"/>
            <a:ext cx="4275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+DAMA DMBOK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5584B-B0F5-7B6F-FCDC-F442952A91E6}"/>
              </a:ext>
            </a:extLst>
          </p:cNvPr>
          <p:cNvSpPr txBox="1"/>
          <p:nvPr/>
        </p:nvSpPr>
        <p:spPr>
          <a:xfrm>
            <a:off x="7111301" y="4054656"/>
            <a:ext cx="2051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+Audit Standard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3EECFC-0E0B-2A80-A305-ED382C9A1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58" y="1657102"/>
            <a:ext cx="10564699" cy="35437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C9E79A-F341-9AA8-ECA8-E3AEBAA7C4D0}"/>
              </a:ext>
            </a:extLst>
          </p:cNvPr>
          <p:cNvSpPr txBox="1"/>
          <p:nvPr/>
        </p:nvSpPr>
        <p:spPr>
          <a:xfrm>
            <a:off x="4584347" y="3236515"/>
            <a:ext cx="2613467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DAMA DMBOK</a:t>
            </a:r>
            <a:endParaRPr lang="en-A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BE8257-B0F3-5387-8DAE-99D9086AA7A6}"/>
              </a:ext>
            </a:extLst>
          </p:cNvPr>
          <p:cNvCxnSpPr/>
          <p:nvPr/>
        </p:nvCxnSpPr>
        <p:spPr>
          <a:xfrm>
            <a:off x="826158" y="3429000"/>
            <a:ext cx="5004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91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7D19F-9370-105D-7CD6-A8B146982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5CF9BE-EF8A-A0D6-D2F6-9B71AF639C14}"/>
              </a:ext>
            </a:extLst>
          </p:cNvPr>
          <p:cNvSpPr txBox="1"/>
          <p:nvPr/>
        </p:nvSpPr>
        <p:spPr>
          <a:xfrm>
            <a:off x="1204783" y="0"/>
            <a:ext cx="9595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logged in as organization end user</a:t>
            </a:r>
            <a:endParaRPr lang="en-AE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727CFC-7E21-29E3-1018-4B74F9E4C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11" y="620915"/>
            <a:ext cx="10164594" cy="437258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13675B9-86F7-B6E4-4781-9FAA05599062}"/>
              </a:ext>
            </a:extLst>
          </p:cNvPr>
          <p:cNvCxnSpPr/>
          <p:nvPr/>
        </p:nvCxnSpPr>
        <p:spPr>
          <a:xfrm>
            <a:off x="9700054" y="3861486"/>
            <a:ext cx="7908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683401A-DEBD-D737-C286-B9656F8256AD}"/>
              </a:ext>
            </a:extLst>
          </p:cNvPr>
          <p:cNvSpPr txBox="1"/>
          <p:nvPr/>
        </p:nvSpPr>
        <p:spPr>
          <a:xfrm>
            <a:off x="10490887" y="3676820"/>
            <a:ext cx="83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8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316379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1AAAA-2F76-EF71-1251-74292C2E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F623A8-BE63-0039-8C5A-1AB1BD549FCE}"/>
              </a:ext>
            </a:extLst>
          </p:cNvPr>
          <p:cNvSpPr txBox="1"/>
          <p:nvPr/>
        </p:nvSpPr>
        <p:spPr>
          <a:xfrm>
            <a:off x="392327" y="6389128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dirty="0">
                <a:latin typeface="Arial" panose="020B0604020202020204" pitchFamily="34" charset="0"/>
                <a:cs typeface="Arial" panose="020B0604020202020204" pitchFamily="34" charset="0"/>
              </a:rPr>
              <a:t>Baniazsun007.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5DAABA6-08A4-C08C-855E-B39E68B16786}"/>
              </a:ext>
            </a:extLst>
          </p:cNvPr>
          <p:cNvGrpSpPr/>
          <p:nvPr/>
        </p:nvGrpSpPr>
        <p:grpSpPr>
          <a:xfrm>
            <a:off x="717724" y="228255"/>
            <a:ext cx="10391000" cy="4529094"/>
            <a:chOff x="717724" y="771955"/>
            <a:chExt cx="10391000" cy="452909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62DB6F1-3208-F0E9-28C2-E24F17002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7724" y="771955"/>
              <a:ext cx="10391000" cy="4529094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3DA61A0-5D82-487E-FE79-7FFC53021F27}"/>
                </a:ext>
              </a:extLst>
            </p:cNvPr>
            <p:cNvCxnSpPr/>
            <p:nvPr/>
          </p:nvCxnSpPr>
          <p:spPr>
            <a:xfrm>
              <a:off x="1482811" y="1112108"/>
              <a:ext cx="3200400" cy="0"/>
            </a:xfrm>
            <a:prstGeom prst="line">
              <a:avLst/>
            </a:prstGeom>
            <a:ln w="635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C6291BC-07B5-B8D6-B456-F43823F25E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90238" y="2706130"/>
              <a:ext cx="914400" cy="2298356"/>
            </a:xfrm>
            <a:prstGeom prst="line">
              <a:avLst/>
            </a:prstGeom>
            <a:ln w="635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BF85AE9-1D4D-1CEB-B929-C8336C7C6A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90238" y="2706130"/>
              <a:ext cx="914400" cy="2162432"/>
            </a:xfrm>
            <a:prstGeom prst="line">
              <a:avLst/>
            </a:prstGeom>
            <a:ln w="635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CDDA4A8-37BF-56A2-8598-97DE3B03C973}"/>
              </a:ext>
            </a:extLst>
          </p:cNvPr>
          <p:cNvSpPr txBox="1"/>
          <p:nvPr/>
        </p:nvSpPr>
        <p:spPr>
          <a:xfrm>
            <a:off x="8910236" y="5889705"/>
            <a:ext cx="1219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Page 7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9B1E80A-225B-2DB2-0BE3-401A87E32BA0}"/>
              </a:ext>
            </a:extLst>
          </p:cNvPr>
          <p:cNvGrpSpPr/>
          <p:nvPr/>
        </p:nvGrpSpPr>
        <p:grpSpPr>
          <a:xfrm>
            <a:off x="4168344" y="5639478"/>
            <a:ext cx="7331669" cy="943577"/>
            <a:chOff x="3083011" y="5169235"/>
            <a:chExt cx="7331669" cy="94357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02AF89-EDA1-EDAE-8F1A-1B628DC01C69}"/>
                </a:ext>
              </a:extLst>
            </p:cNvPr>
            <p:cNvSpPr txBox="1"/>
            <p:nvPr/>
          </p:nvSpPr>
          <p:spPr>
            <a:xfrm>
              <a:off x="3083011" y="5169235"/>
              <a:ext cx="379970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Add 2 new columns to the table: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Data Governance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Audit</a:t>
              </a:r>
              <a:endParaRPr lang="en-A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6E6E5FB-AAB1-4DA7-E442-603C130088D2}"/>
                </a:ext>
              </a:extLst>
            </p:cNvPr>
            <p:cNvCxnSpPr/>
            <p:nvPr/>
          </p:nvCxnSpPr>
          <p:spPr>
            <a:xfrm>
              <a:off x="5362828" y="5630900"/>
              <a:ext cx="24713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6FC6E60-9A69-843A-89B1-04A9B6582611}"/>
                </a:ext>
              </a:extLst>
            </p:cNvPr>
            <p:cNvCxnSpPr/>
            <p:nvPr/>
          </p:nvCxnSpPr>
          <p:spPr>
            <a:xfrm>
              <a:off x="4143626" y="5928146"/>
              <a:ext cx="24713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227AFA0-7766-57AA-3F52-E5AC6AFF2992}"/>
                </a:ext>
              </a:extLst>
            </p:cNvPr>
            <p:cNvSpPr txBox="1"/>
            <p:nvPr/>
          </p:nvSpPr>
          <p:spPr>
            <a:xfrm>
              <a:off x="6614977" y="5743480"/>
              <a:ext cx="37997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Page x</a:t>
              </a:r>
              <a:endParaRPr lang="en-A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880B5C0-C6CE-AB54-9AA6-68BDCDEF26B6}"/>
              </a:ext>
            </a:extLst>
          </p:cNvPr>
          <p:cNvSpPr/>
          <p:nvPr/>
        </p:nvSpPr>
        <p:spPr>
          <a:xfrm>
            <a:off x="11108724" y="2125359"/>
            <a:ext cx="914400" cy="6950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Data Catalog</a:t>
            </a:r>
            <a:endParaRPr lang="en-AE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4D584A-1F08-DA0A-C23B-4F86D811582B}"/>
              </a:ext>
            </a:extLst>
          </p:cNvPr>
          <p:cNvSpPr/>
          <p:nvPr/>
        </p:nvSpPr>
        <p:spPr>
          <a:xfrm>
            <a:off x="11108724" y="2843084"/>
            <a:ext cx="914400" cy="16177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4492DBB-F53D-18D8-272A-92D68FD46DF6}"/>
              </a:ext>
            </a:extLst>
          </p:cNvPr>
          <p:cNvCxnSpPr/>
          <p:nvPr/>
        </p:nvCxnSpPr>
        <p:spPr>
          <a:xfrm flipV="1">
            <a:off x="481914" y="3546389"/>
            <a:ext cx="11541210" cy="988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Edit - Free ui icons">
            <a:extLst>
              <a:ext uri="{FF2B5EF4-FFF2-40B4-BE49-F238E27FC236}">
                <a16:creationId xmlns:a16="http://schemas.microsoft.com/office/drawing/2014/main" id="{C90C5E58-D266-0A62-6C09-D874781D0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4839" y="3753534"/>
            <a:ext cx="481011" cy="431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5AC58B6-5592-21A4-8DDF-71A8B393EA5C}"/>
              </a:ext>
            </a:extLst>
          </p:cNvPr>
          <p:cNvCxnSpPr>
            <a:cxnSpLocks/>
          </p:cNvCxnSpPr>
          <p:nvPr/>
        </p:nvCxnSpPr>
        <p:spPr>
          <a:xfrm flipH="1">
            <a:off x="9687973" y="4058763"/>
            <a:ext cx="1644486" cy="1858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823667B-7191-0854-1D87-320BE1978C53}"/>
              </a:ext>
            </a:extLst>
          </p:cNvPr>
          <p:cNvSpPr txBox="1"/>
          <p:nvPr/>
        </p:nvSpPr>
        <p:spPr>
          <a:xfrm>
            <a:off x="727569" y="3651934"/>
            <a:ext cx="1067698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 Governance 2025</a:t>
            </a:r>
            <a:endParaRPr lang="en-A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F763FD-BC45-EB9F-160B-70B91E9E07F6}"/>
              </a:ext>
            </a:extLst>
          </p:cNvPr>
          <p:cNvSpPr txBox="1"/>
          <p:nvPr/>
        </p:nvSpPr>
        <p:spPr>
          <a:xfrm>
            <a:off x="1776278" y="3702217"/>
            <a:ext cx="1111084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DAMA DMBOK</a:t>
            </a:r>
          </a:p>
          <a:p>
            <a:endParaRPr lang="en-A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27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1C8F3-95DD-03D0-5E3F-47BDAC647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745FE65-6499-B22C-7D43-781116F54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8717"/>
            <a:ext cx="12192000" cy="348056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D36D9F-6776-29E7-3E93-2DE93970466B}"/>
              </a:ext>
            </a:extLst>
          </p:cNvPr>
          <p:cNvCxnSpPr>
            <a:cxnSpLocks/>
          </p:cNvCxnSpPr>
          <p:nvPr/>
        </p:nvCxnSpPr>
        <p:spPr>
          <a:xfrm>
            <a:off x="2545492" y="5053911"/>
            <a:ext cx="1680519" cy="0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8FF26AC-8085-D016-4286-9A37BA0CC5D2}"/>
              </a:ext>
            </a:extLst>
          </p:cNvPr>
          <p:cNvSpPr txBox="1"/>
          <p:nvPr/>
        </p:nvSpPr>
        <p:spPr>
          <a:xfrm>
            <a:off x="2545492" y="4684579"/>
            <a:ext cx="2792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catalog</a:t>
            </a:r>
            <a:endParaRPr lang="en-A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07D8FA8-B12A-44B9-55B1-456F17F0664C}"/>
              </a:ext>
            </a:extLst>
          </p:cNvPr>
          <p:cNvCxnSpPr/>
          <p:nvPr/>
        </p:nvCxnSpPr>
        <p:spPr>
          <a:xfrm>
            <a:off x="6096000" y="4976520"/>
            <a:ext cx="0" cy="604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099DB77-62F2-AEFA-920A-C52545E6ACB5}"/>
              </a:ext>
            </a:extLst>
          </p:cNvPr>
          <p:cNvSpPr txBox="1"/>
          <p:nvPr/>
        </p:nvSpPr>
        <p:spPr>
          <a:xfrm>
            <a:off x="5678161" y="5551998"/>
            <a:ext cx="83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8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029559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8AD80-F0BC-294C-B5D9-AF3335EAD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7CBDF6-6C68-9F9A-077E-6A674AC7A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633"/>
            <a:ext cx="12192000" cy="28177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E097E8F-A4C9-18DA-5ACA-F70C204B4005}"/>
              </a:ext>
            </a:extLst>
          </p:cNvPr>
          <p:cNvSpPr/>
          <p:nvPr/>
        </p:nvSpPr>
        <p:spPr>
          <a:xfrm>
            <a:off x="9477634" y="3237470"/>
            <a:ext cx="2471352" cy="51898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Enter Data Catalog+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174BDE-65CE-D68E-C0ED-9C0C26AF1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96850"/>
              </p:ext>
            </p:extLst>
          </p:nvPr>
        </p:nvGraphicFramePr>
        <p:xfrm>
          <a:off x="111212" y="3870637"/>
          <a:ext cx="1094808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160">
                  <a:extLst>
                    <a:ext uri="{9D8B030D-6E8A-4147-A177-3AD203B41FA5}">
                      <a16:colId xmlns:a16="http://schemas.microsoft.com/office/drawing/2014/main" val="380910679"/>
                    </a:ext>
                  </a:extLst>
                </a:gridCol>
                <a:gridCol w="842160">
                  <a:extLst>
                    <a:ext uri="{9D8B030D-6E8A-4147-A177-3AD203B41FA5}">
                      <a16:colId xmlns:a16="http://schemas.microsoft.com/office/drawing/2014/main" val="2298282078"/>
                    </a:ext>
                  </a:extLst>
                </a:gridCol>
                <a:gridCol w="842160">
                  <a:extLst>
                    <a:ext uri="{9D8B030D-6E8A-4147-A177-3AD203B41FA5}">
                      <a16:colId xmlns:a16="http://schemas.microsoft.com/office/drawing/2014/main" val="4239711156"/>
                    </a:ext>
                  </a:extLst>
                </a:gridCol>
                <a:gridCol w="948740">
                  <a:extLst>
                    <a:ext uri="{9D8B030D-6E8A-4147-A177-3AD203B41FA5}">
                      <a16:colId xmlns:a16="http://schemas.microsoft.com/office/drawing/2014/main" val="1746317051"/>
                    </a:ext>
                  </a:extLst>
                </a:gridCol>
                <a:gridCol w="735581">
                  <a:extLst>
                    <a:ext uri="{9D8B030D-6E8A-4147-A177-3AD203B41FA5}">
                      <a16:colId xmlns:a16="http://schemas.microsoft.com/office/drawing/2014/main" val="3435945674"/>
                    </a:ext>
                  </a:extLst>
                </a:gridCol>
                <a:gridCol w="842160">
                  <a:extLst>
                    <a:ext uri="{9D8B030D-6E8A-4147-A177-3AD203B41FA5}">
                      <a16:colId xmlns:a16="http://schemas.microsoft.com/office/drawing/2014/main" val="2831422198"/>
                    </a:ext>
                  </a:extLst>
                </a:gridCol>
                <a:gridCol w="842160">
                  <a:extLst>
                    <a:ext uri="{9D8B030D-6E8A-4147-A177-3AD203B41FA5}">
                      <a16:colId xmlns:a16="http://schemas.microsoft.com/office/drawing/2014/main" val="1117565397"/>
                    </a:ext>
                  </a:extLst>
                </a:gridCol>
                <a:gridCol w="842160">
                  <a:extLst>
                    <a:ext uri="{9D8B030D-6E8A-4147-A177-3AD203B41FA5}">
                      <a16:colId xmlns:a16="http://schemas.microsoft.com/office/drawing/2014/main" val="261504608"/>
                    </a:ext>
                  </a:extLst>
                </a:gridCol>
                <a:gridCol w="842160">
                  <a:extLst>
                    <a:ext uri="{9D8B030D-6E8A-4147-A177-3AD203B41FA5}">
                      <a16:colId xmlns:a16="http://schemas.microsoft.com/office/drawing/2014/main" val="1585814018"/>
                    </a:ext>
                  </a:extLst>
                </a:gridCol>
                <a:gridCol w="1142682">
                  <a:extLst>
                    <a:ext uri="{9D8B030D-6E8A-4147-A177-3AD203B41FA5}">
                      <a16:colId xmlns:a16="http://schemas.microsoft.com/office/drawing/2014/main" val="2423279284"/>
                    </a:ext>
                  </a:extLst>
                </a:gridCol>
                <a:gridCol w="1078909">
                  <a:extLst>
                    <a:ext uri="{9D8B030D-6E8A-4147-A177-3AD203B41FA5}">
                      <a16:colId xmlns:a16="http://schemas.microsoft.com/office/drawing/2014/main" val="2292307094"/>
                    </a:ext>
                  </a:extLst>
                </a:gridCol>
                <a:gridCol w="1147051">
                  <a:extLst>
                    <a:ext uri="{9D8B030D-6E8A-4147-A177-3AD203B41FA5}">
                      <a16:colId xmlns:a16="http://schemas.microsoft.com/office/drawing/2014/main" val="15519352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Dataset ID/</a:t>
                      </a:r>
                    </a:p>
                    <a:p>
                      <a:pPr algn="ctr"/>
                      <a:r>
                        <a:rPr lang="en-US" sz="1400" dirty="0"/>
                        <a:t>Name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 Source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 Type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 Definition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 Owner Dept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 User Dept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 Quality Score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 Lineage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Data Governance Policy</a:t>
                      </a:r>
                      <a:endParaRPr lang="en-A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Confidentiality Classification Tag</a:t>
                      </a:r>
                      <a:endParaRPr lang="en-AE" sz="1000" dirty="0"/>
                    </a:p>
                    <a:p>
                      <a:pPr algn="ctr"/>
                      <a:endParaRPr lang="en-A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Integrity Classification Tag</a:t>
                      </a:r>
                      <a:endParaRPr lang="en-AE" sz="1000" dirty="0"/>
                    </a:p>
                    <a:p>
                      <a:pPr algn="ctr"/>
                      <a:endParaRPr lang="en-A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Availability Classification Tag</a:t>
                      </a:r>
                      <a:endParaRPr lang="en-A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06725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7B66F62-599F-DA94-B65F-20AC28FA8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14" y="5581472"/>
            <a:ext cx="2486372" cy="12765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810359-F79E-5590-9434-9D14F35A748A}"/>
              </a:ext>
            </a:extLst>
          </p:cNvPr>
          <p:cNvSpPr txBox="1"/>
          <p:nvPr/>
        </p:nvSpPr>
        <p:spPr>
          <a:xfrm>
            <a:off x="3060358" y="3561326"/>
            <a:ext cx="5399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Each column should be sortable alphabetically</a:t>
            </a:r>
            <a:endParaRPr lang="en-A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CD7354-9EB4-2D5C-5721-E46B506B329C}"/>
              </a:ext>
            </a:extLst>
          </p:cNvPr>
          <p:cNvSpPr txBox="1"/>
          <p:nvPr/>
        </p:nvSpPr>
        <p:spPr>
          <a:xfrm>
            <a:off x="366559" y="3127630"/>
            <a:ext cx="157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Filter by</a:t>
            </a:r>
            <a:endParaRPr lang="en-AE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5A367228-CBC4-F165-8648-1DFEEA4CB5E1}"/>
              </a:ext>
            </a:extLst>
          </p:cNvPr>
          <p:cNvSpPr/>
          <p:nvPr/>
        </p:nvSpPr>
        <p:spPr>
          <a:xfrm rot="10800000">
            <a:off x="1344827" y="3214030"/>
            <a:ext cx="358345" cy="30137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6C34DA6-76F0-817C-1F0D-EB70AF08D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078067"/>
              </p:ext>
            </p:extLst>
          </p:nvPr>
        </p:nvGraphicFramePr>
        <p:xfrm>
          <a:off x="111212" y="4605680"/>
          <a:ext cx="1094808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160">
                  <a:extLst>
                    <a:ext uri="{9D8B030D-6E8A-4147-A177-3AD203B41FA5}">
                      <a16:colId xmlns:a16="http://schemas.microsoft.com/office/drawing/2014/main" val="380910679"/>
                    </a:ext>
                  </a:extLst>
                </a:gridCol>
                <a:gridCol w="842160">
                  <a:extLst>
                    <a:ext uri="{9D8B030D-6E8A-4147-A177-3AD203B41FA5}">
                      <a16:colId xmlns:a16="http://schemas.microsoft.com/office/drawing/2014/main" val="2298282078"/>
                    </a:ext>
                  </a:extLst>
                </a:gridCol>
                <a:gridCol w="842160">
                  <a:extLst>
                    <a:ext uri="{9D8B030D-6E8A-4147-A177-3AD203B41FA5}">
                      <a16:colId xmlns:a16="http://schemas.microsoft.com/office/drawing/2014/main" val="4239711156"/>
                    </a:ext>
                  </a:extLst>
                </a:gridCol>
                <a:gridCol w="948739">
                  <a:extLst>
                    <a:ext uri="{9D8B030D-6E8A-4147-A177-3AD203B41FA5}">
                      <a16:colId xmlns:a16="http://schemas.microsoft.com/office/drawing/2014/main" val="1746317051"/>
                    </a:ext>
                  </a:extLst>
                </a:gridCol>
                <a:gridCol w="735581">
                  <a:extLst>
                    <a:ext uri="{9D8B030D-6E8A-4147-A177-3AD203B41FA5}">
                      <a16:colId xmlns:a16="http://schemas.microsoft.com/office/drawing/2014/main" val="3435945674"/>
                    </a:ext>
                  </a:extLst>
                </a:gridCol>
                <a:gridCol w="842160">
                  <a:extLst>
                    <a:ext uri="{9D8B030D-6E8A-4147-A177-3AD203B41FA5}">
                      <a16:colId xmlns:a16="http://schemas.microsoft.com/office/drawing/2014/main" val="2831422198"/>
                    </a:ext>
                  </a:extLst>
                </a:gridCol>
                <a:gridCol w="842160">
                  <a:extLst>
                    <a:ext uri="{9D8B030D-6E8A-4147-A177-3AD203B41FA5}">
                      <a16:colId xmlns:a16="http://schemas.microsoft.com/office/drawing/2014/main" val="1117565397"/>
                    </a:ext>
                  </a:extLst>
                </a:gridCol>
                <a:gridCol w="842160">
                  <a:extLst>
                    <a:ext uri="{9D8B030D-6E8A-4147-A177-3AD203B41FA5}">
                      <a16:colId xmlns:a16="http://schemas.microsoft.com/office/drawing/2014/main" val="261504608"/>
                    </a:ext>
                  </a:extLst>
                </a:gridCol>
                <a:gridCol w="842160">
                  <a:extLst>
                    <a:ext uri="{9D8B030D-6E8A-4147-A177-3AD203B41FA5}">
                      <a16:colId xmlns:a16="http://schemas.microsoft.com/office/drawing/2014/main" val="1585814018"/>
                    </a:ext>
                  </a:extLst>
                </a:gridCol>
                <a:gridCol w="1142682">
                  <a:extLst>
                    <a:ext uri="{9D8B030D-6E8A-4147-A177-3AD203B41FA5}">
                      <a16:colId xmlns:a16="http://schemas.microsoft.com/office/drawing/2014/main" val="2423279284"/>
                    </a:ext>
                  </a:extLst>
                </a:gridCol>
                <a:gridCol w="1067551">
                  <a:extLst>
                    <a:ext uri="{9D8B030D-6E8A-4147-A177-3AD203B41FA5}">
                      <a16:colId xmlns:a16="http://schemas.microsoft.com/office/drawing/2014/main" val="2292307094"/>
                    </a:ext>
                  </a:extLst>
                </a:gridCol>
                <a:gridCol w="1158407">
                  <a:extLst>
                    <a:ext uri="{9D8B030D-6E8A-4147-A177-3AD203B41FA5}">
                      <a16:colId xmlns:a16="http://schemas.microsoft.com/office/drawing/2014/main" val="15519352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PRA Record</a:t>
                      </a:r>
                      <a:endParaRPr lang="en-AE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xxxxxx</a:t>
                      </a: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xxxxxx</a:t>
                      </a: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xxxxxx</a:t>
                      </a: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xxxxxx</a:t>
                      </a: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xxxxxx</a:t>
                      </a: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400" u="sng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762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CNIC Record</a:t>
                      </a:r>
                      <a:endParaRPr lang="en-AE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xxxxxx</a:t>
                      </a: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xxxxxx</a:t>
                      </a: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xxxxxx</a:t>
                      </a: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xxxxxx</a:t>
                      </a: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xxxxxx</a:t>
                      </a: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sz="1400" u="sng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xxxxxx</a:t>
                      </a: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xxxxxx</a:t>
                      </a: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xxxxxx</a:t>
                      </a:r>
                      <a:endParaRPr kumimoji="0" lang="en-AE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067253"/>
                  </a:ext>
                </a:extLst>
              </a:tr>
            </a:tbl>
          </a:graphicData>
        </a:graphic>
      </p:graphicFrame>
      <p:pic>
        <p:nvPicPr>
          <p:cNvPr id="4098" name="Picture 2" descr="Eye - Lineal - Wired - Lordicon">
            <a:extLst>
              <a:ext uri="{FF2B5EF4-FFF2-40B4-BE49-F238E27FC236}">
                <a16:creationId xmlns:a16="http://schemas.microsoft.com/office/drawing/2014/main" id="{4EF31601-0FB2-D58D-0145-55C777949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201" y="5230604"/>
            <a:ext cx="345988" cy="326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Eye - Lineal - Wired - Lordicon">
            <a:extLst>
              <a:ext uri="{FF2B5EF4-FFF2-40B4-BE49-F238E27FC236}">
                <a16:creationId xmlns:a16="http://schemas.microsoft.com/office/drawing/2014/main" id="{DC379E3C-EAFB-A31B-E3C8-07C304BE0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258" y="5228814"/>
            <a:ext cx="345988" cy="326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5197C4A-1586-CB1B-7154-3061D7FDD5A6}"/>
              </a:ext>
            </a:extLst>
          </p:cNvPr>
          <p:cNvSpPr txBox="1"/>
          <p:nvPr/>
        </p:nvSpPr>
        <p:spPr>
          <a:xfrm>
            <a:off x="8031891" y="6046861"/>
            <a:ext cx="4069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Clicking on the number goes to Page 10</a:t>
            </a:r>
            <a:endParaRPr lang="en-AE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1FC9D4-3568-22C0-DC80-90B81E8D8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840886"/>
              </p:ext>
            </p:extLst>
          </p:nvPr>
        </p:nvGraphicFramePr>
        <p:xfrm>
          <a:off x="11059293" y="3870636"/>
          <a:ext cx="1132708" cy="1820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708">
                  <a:extLst>
                    <a:ext uri="{9D8B030D-6E8A-4147-A177-3AD203B41FA5}">
                      <a16:colId xmlns:a16="http://schemas.microsoft.com/office/drawing/2014/main" val="2124034702"/>
                    </a:ext>
                  </a:extLst>
                </a:gridCol>
              </a:tblGrid>
              <a:tr h="590454">
                <a:tc>
                  <a:txBody>
                    <a:bodyPr/>
                    <a:lstStyle/>
                    <a:p>
                      <a:r>
                        <a:rPr lang="en-US" sz="1200" dirty="0"/>
                        <a:t>Enter, Import or Upload Dataset</a:t>
                      </a:r>
                      <a:endParaRPr lang="en-A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098892"/>
                  </a:ext>
                </a:extLst>
              </a:tr>
              <a:tr h="590454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545482"/>
                  </a:ext>
                </a:extLst>
              </a:tr>
              <a:tr h="590454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339168"/>
                  </a:ext>
                </a:extLst>
              </a:tr>
            </a:tbl>
          </a:graphicData>
        </a:graphic>
      </p:graphicFrame>
      <p:pic>
        <p:nvPicPr>
          <p:cNvPr id="6" name="Picture 2" descr="Eye - Lineal - Wired - Lordicon">
            <a:extLst>
              <a:ext uri="{FF2B5EF4-FFF2-40B4-BE49-F238E27FC236}">
                <a16:creationId xmlns:a16="http://schemas.microsoft.com/office/drawing/2014/main" id="{018D2ABE-9AF7-8DAE-4047-FC0D4AFE8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649" y="5228814"/>
            <a:ext cx="345988" cy="326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Edit - Free ui icons">
            <a:extLst>
              <a:ext uri="{FF2B5EF4-FFF2-40B4-BE49-F238E27FC236}">
                <a16:creationId xmlns:a16="http://schemas.microsoft.com/office/drawing/2014/main" id="{C01F4A17-204F-ADE0-4AA9-BB367FEAB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4246" y="5160660"/>
            <a:ext cx="481011" cy="431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3AED45-BCCE-5436-F23C-BE520A4A36B2}"/>
              </a:ext>
            </a:extLst>
          </p:cNvPr>
          <p:cNvCxnSpPr/>
          <p:nvPr/>
        </p:nvCxnSpPr>
        <p:spPr>
          <a:xfrm>
            <a:off x="11512378" y="5544291"/>
            <a:ext cx="0" cy="604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CC7B406-2D50-209C-1BBE-786DF3F25B7D}"/>
              </a:ext>
            </a:extLst>
          </p:cNvPr>
          <p:cNvSpPr txBox="1"/>
          <p:nvPr/>
        </p:nvSpPr>
        <p:spPr>
          <a:xfrm>
            <a:off x="5017586" y="6265134"/>
            <a:ext cx="1547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 to page 11</a:t>
            </a:r>
            <a:endParaRPr lang="en-AE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C72D178-F676-0D1C-E3E4-D02841D46B07}"/>
              </a:ext>
            </a:extLst>
          </p:cNvPr>
          <p:cNvCxnSpPr/>
          <p:nvPr/>
        </p:nvCxnSpPr>
        <p:spPr>
          <a:xfrm>
            <a:off x="5585253" y="5666672"/>
            <a:ext cx="0" cy="604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455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006EC-B4A7-0266-AC30-8761E2AF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564317-0892-4A46-29F3-880DB415C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051"/>
            <a:ext cx="12192000" cy="59233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5A3D07-3597-68EF-D918-F70260D1A386}"/>
              </a:ext>
            </a:extLst>
          </p:cNvPr>
          <p:cNvCxnSpPr>
            <a:cxnSpLocks/>
          </p:cNvCxnSpPr>
          <p:nvPr/>
        </p:nvCxnSpPr>
        <p:spPr>
          <a:xfrm>
            <a:off x="5298304" y="1916661"/>
            <a:ext cx="2286000" cy="0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5A07B8C-7E46-4E6C-1A84-211197D4AB2C}"/>
              </a:ext>
            </a:extLst>
          </p:cNvPr>
          <p:cNvSpPr txBox="1"/>
          <p:nvPr/>
        </p:nvSpPr>
        <p:spPr>
          <a:xfrm>
            <a:off x="5298304" y="1510258"/>
            <a:ext cx="2792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and its metadata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745BE7D-3588-375C-FDDC-262AFB531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131188"/>
              </p:ext>
            </p:extLst>
          </p:nvPr>
        </p:nvGraphicFramePr>
        <p:xfrm>
          <a:off x="8408087" y="1694924"/>
          <a:ext cx="3466757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6757">
                  <a:extLst>
                    <a:ext uri="{9D8B030D-6E8A-4147-A177-3AD203B41FA5}">
                      <a16:colId xmlns:a16="http://schemas.microsoft.com/office/drawing/2014/main" val="2714822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812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Dataset ID/Name (free form text)</a:t>
                      </a:r>
                      <a:endParaRPr lang="en-AE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27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Source (select)</a:t>
                      </a:r>
                      <a:endParaRPr lang="en-AE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6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Type (select)</a:t>
                      </a:r>
                      <a:endParaRPr lang="en-AE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16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Definition (free form text)</a:t>
                      </a:r>
                      <a:endParaRPr lang="en-AE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577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Owner Dept (select)</a:t>
                      </a:r>
                      <a:endParaRPr lang="en-AE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70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User Dept (select)</a:t>
                      </a:r>
                      <a:endParaRPr lang="en-AE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81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Lineage (clickable icon)</a:t>
                      </a:r>
                      <a:endParaRPr lang="en-AE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115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Governance Policy (attachable)</a:t>
                      </a:r>
                      <a:endParaRPr lang="en-AE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297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Confidentiality Classification Tag (select)</a:t>
                      </a:r>
                      <a:endParaRPr lang="en-AE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771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Integrity Classification Tag (select)</a:t>
                      </a:r>
                      <a:endParaRPr lang="en-AE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521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Availability Classification Tag (select)</a:t>
                      </a:r>
                      <a:endParaRPr lang="en-AE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645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27908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C30BCA3-8F9C-FFA9-BDCF-4AA008AFACBA}"/>
              </a:ext>
            </a:extLst>
          </p:cNvPr>
          <p:cNvSpPr txBox="1"/>
          <p:nvPr/>
        </p:nvSpPr>
        <p:spPr>
          <a:xfrm>
            <a:off x="3645588" y="2051906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Dataset ID/Name (free form text)</a:t>
            </a:r>
            <a:endParaRPr lang="en-AE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67C8BD-5CF4-EF4B-02E7-0E37F3EFA69E}"/>
              </a:ext>
            </a:extLst>
          </p:cNvPr>
          <p:cNvSpPr txBox="1"/>
          <p:nvPr/>
        </p:nvSpPr>
        <p:spPr>
          <a:xfrm>
            <a:off x="3962744" y="2371816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CNIC Record</a:t>
            </a:r>
            <a:endParaRPr lang="en-AE" sz="18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581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43B80-716F-F394-5798-DCA93F458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9512358-16A0-5AE8-EB37-C3122C6AE681}"/>
              </a:ext>
            </a:extLst>
          </p:cNvPr>
          <p:cNvGrpSpPr/>
          <p:nvPr/>
        </p:nvGrpSpPr>
        <p:grpSpPr>
          <a:xfrm>
            <a:off x="0" y="146051"/>
            <a:ext cx="12192000" cy="6328890"/>
            <a:chOff x="0" y="146051"/>
            <a:chExt cx="12192000" cy="632889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C2EC575-8EC0-0825-2B3D-55B0BB02D4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46051"/>
              <a:ext cx="12192000" cy="5923346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601E7C1-1BF8-1E98-E2A9-010AB6192F07}"/>
                </a:ext>
              </a:extLst>
            </p:cNvPr>
            <p:cNvSpPr/>
            <p:nvPr/>
          </p:nvSpPr>
          <p:spPr>
            <a:xfrm>
              <a:off x="1383957" y="1618735"/>
              <a:ext cx="9218140" cy="485620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54589B6-962E-86B5-D341-5E3C234BE9C2}"/>
              </a:ext>
            </a:extLst>
          </p:cNvPr>
          <p:cNvSpPr txBox="1"/>
          <p:nvPr/>
        </p:nvSpPr>
        <p:spPr>
          <a:xfrm>
            <a:off x="495062" y="1779373"/>
            <a:ext cx="77791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Enter, Import or Upload Dataset: CNIC Record</a:t>
            </a:r>
            <a:endParaRPr lang="en-A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0CE934-FB13-C591-E87F-726A1244AAAB}"/>
              </a:ext>
            </a:extLst>
          </p:cNvPr>
          <p:cNvSpPr/>
          <p:nvPr/>
        </p:nvSpPr>
        <p:spPr>
          <a:xfrm>
            <a:off x="3175695" y="2353957"/>
            <a:ext cx="2471352" cy="51898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Import Dataset from API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03FB74-3514-BDD2-0959-AD3A4493144E}"/>
              </a:ext>
            </a:extLst>
          </p:cNvPr>
          <p:cNvSpPr/>
          <p:nvPr/>
        </p:nvSpPr>
        <p:spPr>
          <a:xfrm>
            <a:off x="523117" y="2353957"/>
            <a:ext cx="2471352" cy="51898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Enter Dataset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31234F1-4CB2-9F39-68E6-01305452B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170516"/>
              </p:ext>
            </p:extLst>
          </p:nvPr>
        </p:nvGraphicFramePr>
        <p:xfrm>
          <a:off x="523115" y="3240741"/>
          <a:ext cx="1089452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475">
                  <a:extLst>
                    <a:ext uri="{9D8B030D-6E8A-4147-A177-3AD203B41FA5}">
                      <a16:colId xmlns:a16="http://schemas.microsoft.com/office/drawing/2014/main" val="210670543"/>
                    </a:ext>
                  </a:extLst>
                </a:gridCol>
                <a:gridCol w="1868709">
                  <a:extLst>
                    <a:ext uri="{9D8B030D-6E8A-4147-A177-3AD203B41FA5}">
                      <a16:colId xmlns:a16="http://schemas.microsoft.com/office/drawing/2014/main" val="2612420508"/>
                    </a:ext>
                  </a:extLst>
                </a:gridCol>
                <a:gridCol w="1831085">
                  <a:extLst>
                    <a:ext uri="{9D8B030D-6E8A-4147-A177-3AD203B41FA5}">
                      <a16:colId xmlns:a16="http://schemas.microsoft.com/office/drawing/2014/main" val="2229491908"/>
                    </a:ext>
                  </a:extLst>
                </a:gridCol>
                <a:gridCol w="1831085">
                  <a:extLst>
                    <a:ext uri="{9D8B030D-6E8A-4147-A177-3AD203B41FA5}">
                      <a16:colId xmlns:a16="http://schemas.microsoft.com/office/drawing/2014/main" val="2145957209"/>
                    </a:ext>
                  </a:extLst>
                </a:gridCol>
                <a:gridCol w="1831085">
                  <a:extLst>
                    <a:ext uri="{9D8B030D-6E8A-4147-A177-3AD203B41FA5}">
                      <a16:colId xmlns:a16="http://schemas.microsoft.com/office/drawing/2014/main" val="57587096"/>
                    </a:ext>
                  </a:extLst>
                </a:gridCol>
                <a:gridCol w="1831085">
                  <a:extLst>
                    <a:ext uri="{9D8B030D-6E8A-4147-A177-3AD203B41FA5}">
                      <a16:colId xmlns:a16="http://schemas.microsoft.com/office/drawing/2014/main" val="42437423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CNIC No.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First name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Last Name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Home Address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Date of Birth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Father’s Name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969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Xxxxx1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xxxxx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536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Xxxxx2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610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Xxxxx3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656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Xxxxx4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579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xxxxx5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xxxxx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xxxxx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xxxxx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019785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63E76D0C-11A7-C260-CCDD-E8FEBF4BE294}"/>
              </a:ext>
            </a:extLst>
          </p:cNvPr>
          <p:cNvSpPr/>
          <p:nvPr/>
        </p:nvSpPr>
        <p:spPr>
          <a:xfrm>
            <a:off x="8925697" y="5753694"/>
            <a:ext cx="2471352" cy="51898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Calculate Quality Score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4937D2-182D-9F73-1A07-FBA93390A9B2}"/>
              </a:ext>
            </a:extLst>
          </p:cNvPr>
          <p:cNvCxnSpPr>
            <a:cxnSpLocks/>
          </p:cNvCxnSpPr>
          <p:nvPr/>
        </p:nvCxnSpPr>
        <p:spPr>
          <a:xfrm>
            <a:off x="10161373" y="6315957"/>
            <a:ext cx="492210" cy="319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A847808-F64E-2169-C345-1B392EB52F93}"/>
              </a:ext>
            </a:extLst>
          </p:cNvPr>
          <p:cNvSpPr txBox="1"/>
          <p:nvPr/>
        </p:nvSpPr>
        <p:spPr>
          <a:xfrm>
            <a:off x="10627259" y="6424002"/>
            <a:ext cx="959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11</a:t>
            </a: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593606-58A5-1E5C-6ABF-FEE62BA36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14" y="5581472"/>
            <a:ext cx="2486372" cy="127652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DFA248-CAFC-E1FC-3EC5-C84144FE8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786688"/>
              </p:ext>
            </p:extLst>
          </p:nvPr>
        </p:nvGraphicFramePr>
        <p:xfrm>
          <a:off x="2002508" y="402390"/>
          <a:ext cx="9295672" cy="29434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76162">
                  <a:extLst>
                    <a:ext uri="{9D8B030D-6E8A-4147-A177-3AD203B41FA5}">
                      <a16:colId xmlns:a16="http://schemas.microsoft.com/office/drawing/2014/main" val="1858486390"/>
                    </a:ext>
                  </a:extLst>
                </a:gridCol>
                <a:gridCol w="4009755">
                  <a:extLst>
                    <a:ext uri="{9D8B030D-6E8A-4147-A177-3AD203B41FA5}">
                      <a16:colId xmlns:a16="http://schemas.microsoft.com/office/drawing/2014/main" val="1394743636"/>
                    </a:ext>
                  </a:extLst>
                </a:gridCol>
                <a:gridCol w="4009755">
                  <a:extLst>
                    <a:ext uri="{9D8B030D-6E8A-4147-A177-3AD203B41FA5}">
                      <a16:colId xmlns:a16="http://schemas.microsoft.com/office/drawing/2014/main" val="305555811"/>
                    </a:ext>
                  </a:extLst>
                </a:gridCol>
              </a:tblGrid>
              <a:tr h="342797">
                <a:tc>
                  <a:txBody>
                    <a:bodyPr/>
                    <a:lstStyle/>
                    <a:p>
                      <a:r>
                        <a:rPr lang="en-US" dirty="0"/>
                        <a:t>CNIC Record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Enter Display name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158438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r>
                        <a:rPr lang="en-US" dirty="0"/>
                        <a:t>Column 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CNIC No.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1-20 (text), 21-30 (calendar)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887039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Column 2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name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44291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Column 3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188277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803405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Column 30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160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794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D9826-98FC-725A-43A6-452500930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80D7B1B-E68C-34F6-4BB6-8288A25D1C72}"/>
              </a:ext>
            </a:extLst>
          </p:cNvPr>
          <p:cNvGrpSpPr/>
          <p:nvPr/>
        </p:nvGrpSpPr>
        <p:grpSpPr>
          <a:xfrm>
            <a:off x="0" y="146051"/>
            <a:ext cx="12192000" cy="6328890"/>
            <a:chOff x="0" y="146051"/>
            <a:chExt cx="12192000" cy="632889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ABC09B0-C958-19C1-C039-AE2274893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46051"/>
              <a:ext cx="12192000" cy="5923346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FFC433E-D93F-1A7D-7B09-3B25A3E21857}"/>
                </a:ext>
              </a:extLst>
            </p:cNvPr>
            <p:cNvSpPr/>
            <p:nvPr/>
          </p:nvSpPr>
          <p:spPr>
            <a:xfrm>
              <a:off x="1383957" y="1618735"/>
              <a:ext cx="9218140" cy="485620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B9E63CB-F05A-5697-66C3-60A82721FA34}"/>
              </a:ext>
            </a:extLst>
          </p:cNvPr>
          <p:cNvSpPr txBox="1"/>
          <p:nvPr/>
        </p:nvSpPr>
        <p:spPr>
          <a:xfrm>
            <a:off x="495062" y="1606375"/>
            <a:ext cx="8914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Data Quality Score for Dataset ID/Name: CNIC Record</a:t>
            </a:r>
            <a:endParaRPr lang="en-A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DD0A52-026F-5530-FE02-F24A812D4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724728"/>
              </p:ext>
            </p:extLst>
          </p:nvPr>
        </p:nvGraphicFramePr>
        <p:xfrm>
          <a:off x="495062" y="2408607"/>
          <a:ext cx="10510109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256">
                  <a:extLst>
                    <a:ext uri="{9D8B030D-6E8A-4147-A177-3AD203B41FA5}">
                      <a16:colId xmlns:a16="http://schemas.microsoft.com/office/drawing/2014/main" val="637869674"/>
                    </a:ext>
                  </a:extLst>
                </a:gridCol>
                <a:gridCol w="1978256">
                  <a:extLst>
                    <a:ext uri="{9D8B030D-6E8A-4147-A177-3AD203B41FA5}">
                      <a16:colId xmlns:a16="http://schemas.microsoft.com/office/drawing/2014/main" val="128483029"/>
                    </a:ext>
                  </a:extLst>
                </a:gridCol>
                <a:gridCol w="1978256">
                  <a:extLst>
                    <a:ext uri="{9D8B030D-6E8A-4147-A177-3AD203B41FA5}">
                      <a16:colId xmlns:a16="http://schemas.microsoft.com/office/drawing/2014/main" val="2138031601"/>
                    </a:ext>
                  </a:extLst>
                </a:gridCol>
                <a:gridCol w="4575341">
                  <a:extLst>
                    <a:ext uri="{9D8B030D-6E8A-4147-A177-3AD203B41FA5}">
                      <a16:colId xmlns:a16="http://schemas.microsoft.com/office/drawing/2014/main" val="1056661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Quality Attribute</a:t>
                      </a:r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Source: CNIC Record</a:t>
                      </a:r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Source: PRA Record</a:t>
                      </a:r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Consolidated Score</a:t>
                      </a:r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391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Completeness Score</a:t>
                      </a:r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83.33%</a:t>
                      </a:r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638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 Score</a:t>
                      </a:r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315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Timeliness Score</a:t>
                      </a:r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010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Uniqueness Score</a:t>
                      </a:r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8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Validity Score</a:t>
                      </a:r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99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Consistency across systems Score</a:t>
                      </a:r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571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Aggregate Score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387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072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A9CF578-BB6F-6C71-5470-A7101C75ED9D}"/>
              </a:ext>
            </a:extLst>
          </p:cNvPr>
          <p:cNvSpPr txBox="1"/>
          <p:nvPr/>
        </p:nvSpPr>
        <p:spPr>
          <a:xfrm>
            <a:off x="160638" y="909917"/>
            <a:ext cx="1173891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sz="2400" b="1" dirty="0">
                <a:solidFill>
                  <a:srgbClr val="C00000"/>
                </a:solidFill>
              </a:rPr>
              <a:t>Ignore this page</a:t>
            </a:r>
          </a:p>
          <a:p>
            <a:endParaRPr lang="en-AE" dirty="0"/>
          </a:p>
          <a:p>
            <a:r>
              <a:rPr lang="en-AE" dirty="0"/>
              <a:t>A well-structured data </a:t>
            </a:r>
            <a:r>
              <a:rPr lang="en-AE" dirty="0" err="1"/>
              <a:t>catalog</a:t>
            </a:r>
            <a:r>
              <a:rPr lang="en-AE" dirty="0"/>
              <a:t> should capture **essential metadata** that helps users **discover, understand, and trust** the data. Here are some key types of information typically included:</a:t>
            </a:r>
          </a:p>
          <a:p>
            <a:endParaRPr lang="en-AE" dirty="0"/>
          </a:p>
          <a:p>
            <a:r>
              <a:rPr lang="en-AE" dirty="0"/>
              <a:t>1. **Data Source &amp; Location** – Where the data comes from (databases, APIs, cloud storage).</a:t>
            </a:r>
          </a:p>
          <a:p>
            <a:r>
              <a:rPr lang="en-AE" dirty="0"/>
              <a:t>2. **Schema &amp; Structure** – Tables, fields, data types, and relationships.</a:t>
            </a:r>
          </a:p>
          <a:p>
            <a:r>
              <a:rPr lang="en-AE" dirty="0"/>
              <a:t>3. **Data Ownership** – Who is responsible for maintaining the dataset.</a:t>
            </a:r>
          </a:p>
          <a:p>
            <a:r>
              <a:rPr lang="en-AE" dirty="0"/>
              <a:t>4. **Business Definitions** – Clear descriptions to help non-technical users understand the data.</a:t>
            </a:r>
          </a:p>
          <a:p>
            <a:r>
              <a:rPr lang="en-AE" dirty="0"/>
              <a:t>5. **Data Lineage** – A record of how data has moved and transformed over time.</a:t>
            </a:r>
          </a:p>
          <a:p>
            <a:r>
              <a:rPr lang="en-AE" dirty="0"/>
              <a:t>6. **Data Quality &amp; Profiling** – Completeness, accuracy, and freshness of the data.</a:t>
            </a:r>
          </a:p>
          <a:p>
            <a:r>
              <a:rPr lang="en-AE" dirty="0"/>
              <a:t>7. **Access &amp; Security** – Permissions, encryption, and governance policies.</a:t>
            </a:r>
          </a:p>
          <a:p>
            <a:r>
              <a:rPr lang="en-AE" dirty="0"/>
              <a:t>8. **Tags &amp; Classification** – Labels for organizing datasets (e.g., sensitive, confidential, public).</a:t>
            </a:r>
          </a:p>
          <a:p>
            <a:r>
              <a:rPr lang="en-AE" dirty="0"/>
              <a:t>9. **Usage Statistics** – How often the data is used and by whom.</a:t>
            </a:r>
          </a:p>
          <a:p>
            <a:endParaRPr lang="en-AE" dirty="0"/>
          </a:p>
          <a:p>
            <a:r>
              <a:rPr lang="en-AE" dirty="0"/>
              <a:t>A good </a:t>
            </a:r>
            <a:r>
              <a:rPr lang="en-AE" dirty="0" err="1"/>
              <a:t>catalog</a:t>
            </a:r>
            <a:r>
              <a:rPr lang="en-AE" dirty="0"/>
              <a:t> makes it easy to **search, explore, and use** data effectively. Are you looking to implement one for your organization?</a:t>
            </a:r>
          </a:p>
        </p:txBody>
      </p:sp>
    </p:spTree>
    <p:extLst>
      <p:ext uri="{BB962C8B-B14F-4D97-AF65-F5344CB8AC3E}">
        <p14:creationId xmlns:p14="http://schemas.microsoft.com/office/powerpoint/2010/main" val="559401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616</Words>
  <Application>Microsoft Office PowerPoint</Application>
  <PresentationFormat>Widescreen</PresentationFormat>
  <Paragraphs>150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Kamran Kamran</dc:creator>
  <cp:lastModifiedBy>Kamran Kamran</cp:lastModifiedBy>
  <cp:revision>9</cp:revision>
  <dcterms:created xsi:type="dcterms:W3CDTF">2025-04-26T06:34:45Z</dcterms:created>
  <dcterms:modified xsi:type="dcterms:W3CDTF">2025-04-28T15:39:57Z</dcterms:modified>
</cp:coreProperties>
</file>